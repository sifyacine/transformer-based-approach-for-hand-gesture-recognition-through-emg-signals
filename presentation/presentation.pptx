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61" r:id="rId1"/>
  </p:sldMasterIdLst>
  <p:notesMasterIdLst>
    <p:notesMasterId r:id="rId36"/>
  </p:notesMasterIdLst>
  <p:sldIdLst>
    <p:sldId id="256" r:id="rId2"/>
    <p:sldId id="294" r:id="rId3"/>
    <p:sldId id="264" r:id="rId4"/>
    <p:sldId id="261" r:id="rId5"/>
    <p:sldId id="265" r:id="rId6"/>
    <p:sldId id="299" r:id="rId7"/>
    <p:sldId id="291" r:id="rId8"/>
    <p:sldId id="300" r:id="rId9"/>
    <p:sldId id="302" r:id="rId10"/>
    <p:sldId id="303" r:id="rId11"/>
    <p:sldId id="262" r:id="rId12"/>
    <p:sldId id="270" r:id="rId13"/>
    <p:sldId id="304" r:id="rId14"/>
    <p:sldId id="305" r:id="rId15"/>
    <p:sldId id="324" r:id="rId16"/>
    <p:sldId id="306" r:id="rId17"/>
    <p:sldId id="308" r:id="rId18"/>
    <p:sldId id="309" r:id="rId19"/>
    <p:sldId id="271" r:id="rId20"/>
    <p:sldId id="310" r:id="rId21"/>
    <p:sldId id="307" r:id="rId22"/>
    <p:sldId id="313" r:id="rId23"/>
    <p:sldId id="323" r:id="rId24"/>
    <p:sldId id="318" r:id="rId25"/>
    <p:sldId id="317" r:id="rId26"/>
    <p:sldId id="321" r:id="rId27"/>
    <p:sldId id="314" r:id="rId28"/>
    <p:sldId id="320" r:id="rId29"/>
    <p:sldId id="322" r:id="rId30"/>
    <p:sldId id="319" r:id="rId31"/>
    <p:sldId id="316" r:id="rId32"/>
    <p:sldId id="283" r:id="rId33"/>
    <p:sldId id="315" r:id="rId34"/>
    <p:sldId id="282"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jdi Khattel" initials="WK" lastIdx="2" clrIdx="0">
    <p:extLst>
      <p:ext uri="{19B8F6BF-5375-455C-9EA6-DF929625EA0E}">
        <p15:presenceInfo xmlns:p15="http://schemas.microsoft.com/office/powerpoint/2012/main" userId="805cb7018199edaa" providerId="Windows Live"/>
      </p:ext>
    </p:extLst>
  </p:cmAuthor>
  <p:cmAuthor id="2" name="Hp" initials="H" lastIdx="20" clrIdx="1">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5378"/>
    <a:srgbClr val="FF9800"/>
    <a:srgbClr val="263248"/>
    <a:srgbClr val="DA2626"/>
    <a:srgbClr val="357EB9"/>
    <a:srgbClr val="FC9702"/>
    <a:srgbClr val="C7D3E6"/>
    <a:srgbClr val="FF9900"/>
    <a:srgbClr val="53585F"/>
    <a:srgbClr val="E9EA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61514" autoAdjust="0"/>
  </p:normalViewPr>
  <p:slideViewPr>
    <p:cSldViewPr snapToGrid="0">
      <p:cViewPr varScale="1">
        <p:scale>
          <a:sx n="52" d="100"/>
          <a:sy n="52" d="100"/>
        </p:scale>
        <p:origin x="97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_rels/data1.xml.rels><?xml version="1.0" encoding="UTF-8" standalone="yes"?>
<Relationships xmlns="http://schemas.openxmlformats.org/package/2006/relationships"><Relationship Id="rId1" Type="http://schemas.openxmlformats.org/officeDocument/2006/relationships/image" Target="../media/image2.png"/></Relationships>
</file>

<file path=ppt/diagrams/_rels/data2.xml.rels><?xml version="1.0" encoding="UTF-8" standalone="yes"?>
<Relationships xmlns="http://schemas.openxmlformats.org/package/2006/relationships"><Relationship Id="rId1" Type="http://schemas.openxmlformats.org/officeDocument/2006/relationships/image" Target="../media/image3.png"/></Relationships>
</file>

<file path=ppt/diagrams/_rels/data3.xml.rels><?xml version="1.0" encoding="UTF-8" standalone="yes"?>
<Relationships xmlns="http://schemas.openxmlformats.org/package/2006/relationships"><Relationship Id="rId1" Type="http://schemas.openxmlformats.org/officeDocument/2006/relationships/image" Target="../media/image4.png"/></Relationships>
</file>

<file path=ppt/diagrams/_rels/data4.xml.rels><?xml version="1.0" encoding="UTF-8" standalone="yes"?>
<Relationships xmlns="http://schemas.openxmlformats.org/package/2006/relationships"><Relationship Id="rId1" Type="http://schemas.openxmlformats.org/officeDocument/2006/relationships/image" Target="../media/image5.png"/></Relationships>
</file>

<file path=ppt/diagrams/_rels/data5.xml.rels><?xml version="1.0" encoding="UTF-8" standalone="yes"?>
<Relationships xmlns="http://schemas.openxmlformats.org/package/2006/relationships"><Relationship Id="rId1" Type="http://schemas.openxmlformats.org/officeDocument/2006/relationships/image" Target="../media/image6.png"/></Relationships>
</file>

<file path=ppt/diagrams/_rels/data6.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image" Target="../media/image20.png"/><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5" Type="http://schemas.openxmlformats.org/officeDocument/2006/relationships/image" Target="../media/image3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diagrams/_rels/data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image" Target="../media/image46.png"/></Relationships>
</file>

<file path=ppt/diagrams/_rels/data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image" Target="../media/image48.png"/></Relationships>
</file>

<file path=ppt/diagrams/_rels/data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image" Target="../media/image50.jpeg"/></Relationships>
</file>

<file path=ppt/diagrams/_rels/data10.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image" Target="../media/image52.jpeg"/></Relationships>
</file>

<file path=ppt/diagrams/_rels/data1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image" Target="../media/image54.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2.png"/></Relationships>
</file>

<file path=ppt/diagrams/_rels/drawing2.xml.rels><?xml version="1.0" encoding="UTF-8" standalone="yes"?>
<Relationships xmlns="http://schemas.openxmlformats.org/package/2006/relationships"><Relationship Id="rId1" Type="http://schemas.openxmlformats.org/officeDocument/2006/relationships/image" Target="../media/image3.png"/></Relationships>
</file>

<file path=ppt/diagrams/_rels/drawing3.xml.rels><?xml version="1.0" encoding="UTF-8" standalone="yes"?>
<Relationships xmlns="http://schemas.openxmlformats.org/package/2006/relationships"><Relationship Id="rId1" Type="http://schemas.openxmlformats.org/officeDocument/2006/relationships/image" Target="../media/image4.png"/></Relationships>
</file>

<file path=ppt/diagrams/_rels/drawing4.xml.rels><?xml version="1.0" encoding="UTF-8" standalone="yes"?>
<Relationships xmlns="http://schemas.openxmlformats.org/package/2006/relationships"><Relationship Id="rId1" Type="http://schemas.openxmlformats.org/officeDocument/2006/relationships/image" Target="../media/image5.png"/></Relationships>
</file>

<file path=ppt/diagrams/_rels/drawing5.xml.rels><?xml version="1.0" encoding="UTF-8" standalone="yes"?>
<Relationships xmlns="http://schemas.openxmlformats.org/package/2006/relationships"><Relationship Id="rId1" Type="http://schemas.openxmlformats.org/officeDocument/2006/relationships/image" Target="../media/image6.png"/></Relationships>
</file>

<file path=ppt/diagrams/_rels/drawing6.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image" Target="../media/image20.png"/><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5" Type="http://schemas.openxmlformats.org/officeDocument/2006/relationships/image" Target="../media/image3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diagrams/_rels/drawing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image" Target="../media/image46.png"/></Relationships>
</file>

<file path=ppt/diagrams/_rels/drawing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image" Target="../media/image48.png"/></Relationships>
</file>

<file path=ppt/diagrams/_rels/drawing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image" Target="../media/image50.jpeg"/></Relationships>
</file>

<file path=ppt/diagrams/_rels/drawing10.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image" Target="../media/image52.jpeg"/></Relationships>
</file>

<file path=ppt/diagrams/_rels/drawing1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image" Target="../media/image54.jpeg"/></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579C82-5557-4821-A641-26FCAEEA8818}" type="doc">
      <dgm:prSet loTypeId="urn:microsoft.com/office/officeart/2008/layout/BendingPictureCaptionList" loCatId="picture" qsTypeId="urn:microsoft.com/office/officeart/2005/8/quickstyle/simple1" qsCatId="simple" csTypeId="urn:microsoft.com/office/officeart/2005/8/colors/accent1_4" csCatId="accent1" phldr="1"/>
      <dgm:spPr/>
      <dgm:t>
        <a:bodyPr/>
        <a:lstStyle/>
        <a:p>
          <a:endParaRPr lang="en-GB"/>
        </a:p>
      </dgm:t>
    </dgm:pt>
    <dgm:pt modelId="{E0A2C224-C406-4E86-83A4-0E79AAB6B021}">
      <dgm:prSet phldrT="[Text]" custT="1"/>
      <dgm:spPr>
        <a:solidFill>
          <a:srgbClr val="3F5378"/>
        </a:solidFill>
      </dgm:spPr>
      <dgm:t>
        <a:bodyPr/>
        <a:lstStyle/>
        <a:p>
          <a:r>
            <a:rPr lang="en-GB" sz="2000" b="0" dirty="0">
              <a:latin typeface="Roboto Condensed" panose="020B0604020202020204"/>
            </a:rPr>
            <a:t>Prosthetics control</a:t>
          </a:r>
        </a:p>
      </dgm:t>
    </dgm:pt>
    <dgm:pt modelId="{A2672EC1-01B3-479B-8F29-5965DBE7DE6D}" type="parTrans" cxnId="{4DD781C2-5EB8-4715-8468-65F66B55CE6C}">
      <dgm:prSet/>
      <dgm:spPr/>
      <dgm:t>
        <a:bodyPr/>
        <a:lstStyle/>
        <a:p>
          <a:endParaRPr lang="en-GB"/>
        </a:p>
      </dgm:t>
    </dgm:pt>
    <dgm:pt modelId="{0FDA840D-75CD-4489-AADA-22A3079CAB71}" type="sibTrans" cxnId="{4DD781C2-5EB8-4715-8468-65F66B55CE6C}">
      <dgm:prSet/>
      <dgm:spPr/>
      <dgm:t>
        <a:bodyPr/>
        <a:lstStyle/>
        <a:p>
          <a:endParaRPr lang="en-GB"/>
        </a:p>
      </dgm:t>
    </dgm:pt>
    <dgm:pt modelId="{195F21BB-BB9B-4212-80B0-28E24AB54F31}" type="pres">
      <dgm:prSet presAssocID="{8E579C82-5557-4821-A641-26FCAEEA8818}" presName="Name0" presStyleCnt="0">
        <dgm:presLayoutVars>
          <dgm:dir/>
          <dgm:resizeHandles val="exact"/>
        </dgm:presLayoutVars>
      </dgm:prSet>
      <dgm:spPr/>
      <dgm:t>
        <a:bodyPr/>
        <a:lstStyle/>
        <a:p>
          <a:endParaRPr lang="en-GB"/>
        </a:p>
      </dgm:t>
    </dgm:pt>
    <dgm:pt modelId="{E582C173-FA94-466A-83E6-FD63BBDCB48A}" type="pres">
      <dgm:prSet presAssocID="{E0A2C224-C406-4E86-83A4-0E79AAB6B021}" presName="composite" presStyleCnt="0"/>
      <dgm:spPr/>
    </dgm:pt>
    <dgm:pt modelId="{DBCADE24-D5E0-4593-9F07-18ED10869600}" type="pres">
      <dgm:prSet presAssocID="{E0A2C224-C406-4E86-83A4-0E79AAB6B021}" presName="rect1" presStyleLbl="bgImgPlace1" presStyleIdx="0" presStyleCnt="1"/>
      <dgm:spPr>
        <a:blipFill>
          <a:blip xmlns:r="http://schemas.openxmlformats.org/officeDocument/2006/relationships" r:embed="rId1">
            <a:extLst>
              <a:ext uri="{28A0092B-C50C-407E-A947-70E740481C1C}">
                <a14:useLocalDpi xmlns:a14="http://schemas.microsoft.com/office/drawing/2010/main" val="0"/>
              </a:ext>
            </a:extLst>
          </a:blip>
          <a:srcRect/>
          <a:stretch>
            <a:fillRect l="-1000" r="-1000"/>
          </a:stretch>
        </a:blipFill>
      </dgm:spPr>
    </dgm:pt>
    <dgm:pt modelId="{7CD24404-DC8F-4749-9C55-C95A3CB8F2FF}" type="pres">
      <dgm:prSet presAssocID="{E0A2C224-C406-4E86-83A4-0E79AAB6B021}" presName="wedgeRectCallout1" presStyleLbl="node1" presStyleIdx="0" presStyleCnt="1">
        <dgm:presLayoutVars>
          <dgm:bulletEnabled val="1"/>
        </dgm:presLayoutVars>
      </dgm:prSet>
      <dgm:spPr/>
      <dgm:t>
        <a:bodyPr/>
        <a:lstStyle/>
        <a:p>
          <a:endParaRPr lang="en-GB"/>
        </a:p>
      </dgm:t>
    </dgm:pt>
  </dgm:ptLst>
  <dgm:cxnLst>
    <dgm:cxn modelId="{0EB631F2-6C3B-4219-A5AA-77AE88F6DCD6}" type="presOf" srcId="{8E579C82-5557-4821-A641-26FCAEEA8818}" destId="{195F21BB-BB9B-4212-80B0-28E24AB54F31}" srcOrd="0" destOrd="0" presId="urn:microsoft.com/office/officeart/2008/layout/BendingPictureCaptionList"/>
    <dgm:cxn modelId="{4DD781C2-5EB8-4715-8468-65F66B55CE6C}" srcId="{8E579C82-5557-4821-A641-26FCAEEA8818}" destId="{E0A2C224-C406-4E86-83A4-0E79AAB6B021}" srcOrd="0" destOrd="0" parTransId="{A2672EC1-01B3-479B-8F29-5965DBE7DE6D}" sibTransId="{0FDA840D-75CD-4489-AADA-22A3079CAB71}"/>
    <dgm:cxn modelId="{0399DADA-F51B-4412-AB1F-77BB8C68137B}" type="presOf" srcId="{E0A2C224-C406-4E86-83A4-0E79AAB6B021}" destId="{7CD24404-DC8F-4749-9C55-C95A3CB8F2FF}" srcOrd="0" destOrd="0" presId="urn:microsoft.com/office/officeart/2008/layout/BendingPictureCaptionList"/>
    <dgm:cxn modelId="{8E3CD666-15B5-4686-84FF-1CF172C3534F}" type="presParOf" srcId="{195F21BB-BB9B-4212-80B0-28E24AB54F31}" destId="{E582C173-FA94-466A-83E6-FD63BBDCB48A}" srcOrd="0" destOrd="0" presId="urn:microsoft.com/office/officeart/2008/layout/BendingPictureCaptionList"/>
    <dgm:cxn modelId="{ED726197-1A05-41D5-8436-29652A05E8AC}" type="presParOf" srcId="{E582C173-FA94-466A-83E6-FD63BBDCB48A}" destId="{DBCADE24-D5E0-4593-9F07-18ED10869600}" srcOrd="0" destOrd="0" presId="urn:microsoft.com/office/officeart/2008/layout/BendingPictureCaptionList"/>
    <dgm:cxn modelId="{1B5B0E1A-9E89-4946-BAE9-795D08F45D2A}" type="presParOf" srcId="{E582C173-FA94-466A-83E6-FD63BBDCB48A}" destId="{7CD24404-DC8F-4749-9C55-C95A3CB8F2FF}" srcOrd="1" destOrd="0" presId="urn:microsoft.com/office/officeart/2008/layout/BendingPictureCa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E579C82-5557-4821-A641-26FCAEEA8818}" type="doc">
      <dgm:prSet loTypeId="urn:microsoft.com/office/officeart/2008/layout/BendingPictureCaptionList" loCatId="picture" qsTypeId="urn:microsoft.com/office/officeart/2005/8/quickstyle/simple1" qsCatId="simple" csTypeId="urn:microsoft.com/office/officeart/2005/8/colors/accent1_4" csCatId="accent1" phldr="1"/>
      <dgm:spPr/>
      <dgm:t>
        <a:bodyPr/>
        <a:lstStyle/>
        <a:p>
          <a:endParaRPr lang="en-GB"/>
        </a:p>
      </dgm:t>
    </dgm:pt>
    <dgm:pt modelId="{E0A2C224-C406-4E86-83A4-0E79AAB6B021}">
      <dgm:prSet phldrT="[Text]" custT="1"/>
      <dgm:spPr>
        <a:solidFill>
          <a:srgbClr val="3F5378"/>
        </a:solidFill>
      </dgm:spPr>
      <dgm:t>
        <a:bodyPr/>
        <a:lstStyle/>
        <a:p>
          <a:r>
            <a:rPr lang="en-GB" sz="2000" b="0" dirty="0">
              <a:latin typeface="Roboto Condensed" panose="020B0604020202020204"/>
            </a:rPr>
            <a:t>VR/AR interfaces</a:t>
          </a:r>
        </a:p>
      </dgm:t>
    </dgm:pt>
    <dgm:pt modelId="{A2672EC1-01B3-479B-8F29-5965DBE7DE6D}" type="parTrans" cxnId="{4DD781C2-5EB8-4715-8468-65F66B55CE6C}">
      <dgm:prSet/>
      <dgm:spPr/>
      <dgm:t>
        <a:bodyPr/>
        <a:lstStyle/>
        <a:p>
          <a:endParaRPr lang="en-GB"/>
        </a:p>
      </dgm:t>
    </dgm:pt>
    <dgm:pt modelId="{0FDA840D-75CD-4489-AADA-22A3079CAB71}" type="sibTrans" cxnId="{4DD781C2-5EB8-4715-8468-65F66B55CE6C}">
      <dgm:prSet/>
      <dgm:spPr/>
      <dgm:t>
        <a:bodyPr/>
        <a:lstStyle/>
        <a:p>
          <a:endParaRPr lang="en-GB"/>
        </a:p>
      </dgm:t>
    </dgm:pt>
    <dgm:pt modelId="{195F21BB-BB9B-4212-80B0-28E24AB54F31}" type="pres">
      <dgm:prSet presAssocID="{8E579C82-5557-4821-A641-26FCAEEA8818}" presName="Name0" presStyleCnt="0">
        <dgm:presLayoutVars>
          <dgm:dir/>
          <dgm:resizeHandles val="exact"/>
        </dgm:presLayoutVars>
      </dgm:prSet>
      <dgm:spPr/>
      <dgm:t>
        <a:bodyPr/>
        <a:lstStyle/>
        <a:p>
          <a:endParaRPr lang="en-GB"/>
        </a:p>
      </dgm:t>
    </dgm:pt>
    <dgm:pt modelId="{E582C173-FA94-466A-83E6-FD63BBDCB48A}" type="pres">
      <dgm:prSet presAssocID="{E0A2C224-C406-4E86-83A4-0E79AAB6B021}" presName="composite" presStyleCnt="0"/>
      <dgm:spPr/>
    </dgm:pt>
    <dgm:pt modelId="{DBCADE24-D5E0-4593-9F07-18ED10869600}" type="pres">
      <dgm:prSet presAssocID="{E0A2C224-C406-4E86-83A4-0E79AAB6B021}" presName="rect1" presStyleLbl="bgImgPlace1" presStyleIdx="0" presStyleCnt="1"/>
      <dgm:spPr>
        <a:blipFill>
          <a:blip xmlns:r="http://schemas.openxmlformats.org/officeDocument/2006/relationships" r:embed="rId1">
            <a:extLst>
              <a:ext uri="{28A0092B-C50C-407E-A947-70E740481C1C}">
                <a14:useLocalDpi xmlns:a14="http://schemas.microsoft.com/office/drawing/2010/main" val="0"/>
              </a:ext>
            </a:extLst>
          </a:blip>
          <a:srcRect/>
          <a:stretch>
            <a:fillRect l="-3000" r="-3000"/>
          </a:stretch>
        </a:blipFill>
      </dgm:spPr>
    </dgm:pt>
    <dgm:pt modelId="{7CD24404-DC8F-4749-9C55-C95A3CB8F2FF}" type="pres">
      <dgm:prSet presAssocID="{E0A2C224-C406-4E86-83A4-0E79AAB6B021}" presName="wedgeRectCallout1" presStyleLbl="node1" presStyleIdx="0" presStyleCnt="1">
        <dgm:presLayoutVars>
          <dgm:bulletEnabled val="1"/>
        </dgm:presLayoutVars>
      </dgm:prSet>
      <dgm:spPr/>
      <dgm:t>
        <a:bodyPr/>
        <a:lstStyle/>
        <a:p>
          <a:endParaRPr lang="en-GB"/>
        </a:p>
      </dgm:t>
    </dgm:pt>
  </dgm:ptLst>
  <dgm:cxnLst>
    <dgm:cxn modelId="{FBED2330-1253-4278-B16B-74C62873277D}" type="presOf" srcId="{8E579C82-5557-4821-A641-26FCAEEA8818}" destId="{195F21BB-BB9B-4212-80B0-28E24AB54F31}" srcOrd="0" destOrd="0" presId="urn:microsoft.com/office/officeart/2008/layout/BendingPictureCaptionList"/>
    <dgm:cxn modelId="{B651AB23-89A5-4227-B314-C90399A89127}" type="presOf" srcId="{E0A2C224-C406-4E86-83A4-0E79AAB6B021}" destId="{7CD24404-DC8F-4749-9C55-C95A3CB8F2FF}" srcOrd="0" destOrd="0" presId="urn:microsoft.com/office/officeart/2008/layout/BendingPictureCaptionList"/>
    <dgm:cxn modelId="{4DD781C2-5EB8-4715-8468-65F66B55CE6C}" srcId="{8E579C82-5557-4821-A641-26FCAEEA8818}" destId="{E0A2C224-C406-4E86-83A4-0E79AAB6B021}" srcOrd="0" destOrd="0" parTransId="{A2672EC1-01B3-479B-8F29-5965DBE7DE6D}" sibTransId="{0FDA840D-75CD-4489-AADA-22A3079CAB71}"/>
    <dgm:cxn modelId="{51359F77-F5CF-4485-815E-27B6CDD308B4}" type="presParOf" srcId="{195F21BB-BB9B-4212-80B0-28E24AB54F31}" destId="{E582C173-FA94-466A-83E6-FD63BBDCB48A}" srcOrd="0" destOrd="0" presId="urn:microsoft.com/office/officeart/2008/layout/BendingPictureCaptionList"/>
    <dgm:cxn modelId="{CCD38FBC-D002-42BE-A9B7-D4FE0CD213DD}" type="presParOf" srcId="{E582C173-FA94-466A-83E6-FD63BBDCB48A}" destId="{DBCADE24-D5E0-4593-9F07-18ED10869600}" srcOrd="0" destOrd="0" presId="urn:microsoft.com/office/officeart/2008/layout/BendingPictureCaptionList"/>
    <dgm:cxn modelId="{5C8CDF25-E002-4F64-AF7D-0BB0D1BA1E35}" type="presParOf" srcId="{E582C173-FA94-466A-83E6-FD63BBDCB48A}" destId="{7CD24404-DC8F-4749-9C55-C95A3CB8F2FF}" srcOrd="1" destOrd="0" presId="urn:microsoft.com/office/officeart/2008/layout/BendingPictureCaption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E579C82-5557-4821-A641-26FCAEEA8818}" type="doc">
      <dgm:prSet loTypeId="urn:microsoft.com/office/officeart/2008/layout/BendingPictureCaptionList" loCatId="picture" qsTypeId="urn:microsoft.com/office/officeart/2005/8/quickstyle/simple1" qsCatId="simple" csTypeId="urn:microsoft.com/office/officeart/2005/8/colors/accent1_4" csCatId="accent1" phldr="1"/>
      <dgm:spPr/>
      <dgm:t>
        <a:bodyPr/>
        <a:lstStyle/>
        <a:p>
          <a:endParaRPr lang="en-GB"/>
        </a:p>
      </dgm:t>
    </dgm:pt>
    <dgm:pt modelId="{E0A2C224-C406-4E86-83A4-0E79AAB6B021}">
      <dgm:prSet phldrT="[Text]" custT="1"/>
      <dgm:spPr>
        <a:solidFill>
          <a:srgbClr val="3F5378"/>
        </a:solidFill>
      </dgm:spPr>
      <dgm:t>
        <a:bodyPr/>
        <a:lstStyle/>
        <a:p>
          <a:r>
            <a:rPr lang="en-GB" sz="2000" b="0" dirty="0">
              <a:latin typeface="Roboto Condensed" panose="020B0604020202020204"/>
            </a:rPr>
            <a:t>Robotics &amp; assistive devices</a:t>
          </a:r>
        </a:p>
      </dgm:t>
    </dgm:pt>
    <dgm:pt modelId="{A2672EC1-01B3-479B-8F29-5965DBE7DE6D}" type="parTrans" cxnId="{4DD781C2-5EB8-4715-8468-65F66B55CE6C}">
      <dgm:prSet/>
      <dgm:spPr/>
      <dgm:t>
        <a:bodyPr/>
        <a:lstStyle/>
        <a:p>
          <a:endParaRPr lang="en-GB"/>
        </a:p>
      </dgm:t>
    </dgm:pt>
    <dgm:pt modelId="{0FDA840D-75CD-4489-AADA-22A3079CAB71}" type="sibTrans" cxnId="{4DD781C2-5EB8-4715-8468-65F66B55CE6C}">
      <dgm:prSet/>
      <dgm:spPr/>
      <dgm:t>
        <a:bodyPr/>
        <a:lstStyle/>
        <a:p>
          <a:endParaRPr lang="en-GB"/>
        </a:p>
      </dgm:t>
    </dgm:pt>
    <dgm:pt modelId="{195F21BB-BB9B-4212-80B0-28E24AB54F31}" type="pres">
      <dgm:prSet presAssocID="{8E579C82-5557-4821-A641-26FCAEEA8818}" presName="Name0" presStyleCnt="0">
        <dgm:presLayoutVars>
          <dgm:dir/>
          <dgm:resizeHandles val="exact"/>
        </dgm:presLayoutVars>
      </dgm:prSet>
      <dgm:spPr/>
      <dgm:t>
        <a:bodyPr/>
        <a:lstStyle/>
        <a:p>
          <a:endParaRPr lang="en-GB"/>
        </a:p>
      </dgm:t>
    </dgm:pt>
    <dgm:pt modelId="{E582C173-FA94-466A-83E6-FD63BBDCB48A}" type="pres">
      <dgm:prSet presAssocID="{E0A2C224-C406-4E86-83A4-0E79AAB6B021}" presName="composite" presStyleCnt="0"/>
      <dgm:spPr/>
    </dgm:pt>
    <dgm:pt modelId="{DBCADE24-D5E0-4593-9F07-18ED10869600}" type="pres">
      <dgm:prSet presAssocID="{E0A2C224-C406-4E86-83A4-0E79AAB6B021}" presName="rect1" presStyleLbl="bgImgPlace1" presStyleIdx="0" presStyleCnt="1"/>
      <dgm:spPr>
        <a:blipFill>
          <a:blip xmlns:r="http://schemas.openxmlformats.org/officeDocument/2006/relationships" r:embed="rId1">
            <a:extLst>
              <a:ext uri="{28A0092B-C50C-407E-A947-70E740481C1C}">
                <a14:useLocalDpi xmlns:a14="http://schemas.microsoft.com/office/drawing/2010/main" val="0"/>
              </a:ext>
            </a:extLst>
          </a:blip>
          <a:srcRect/>
          <a:stretch>
            <a:fillRect l="-21000" r="-21000"/>
          </a:stretch>
        </a:blipFill>
      </dgm:spPr>
    </dgm:pt>
    <dgm:pt modelId="{7CD24404-DC8F-4749-9C55-C95A3CB8F2FF}" type="pres">
      <dgm:prSet presAssocID="{E0A2C224-C406-4E86-83A4-0E79AAB6B021}" presName="wedgeRectCallout1" presStyleLbl="node1" presStyleIdx="0" presStyleCnt="1">
        <dgm:presLayoutVars>
          <dgm:bulletEnabled val="1"/>
        </dgm:presLayoutVars>
      </dgm:prSet>
      <dgm:spPr/>
      <dgm:t>
        <a:bodyPr/>
        <a:lstStyle/>
        <a:p>
          <a:endParaRPr lang="en-GB"/>
        </a:p>
      </dgm:t>
    </dgm:pt>
  </dgm:ptLst>
  <dgm:cxnLst>
    <dgm:cxn modelId="{54E86F0E-903A-4257-AA53-FC38C53A7884}" type="presOf" srcId="{E0A2C224-C406-4E86-83A4-0E79AAB6B021}" destId="{7CD24404-DC8F-4749-9C55-C95A3CB8F2FF}" srcOrd="0" destOrd="0" presId="urn:microsoft.com/office/officeart/2008/layout/BendingPictureCaptionList"/>
    <dgm:cxn modelId="{4DD781C2-5EB8-4715-8468-65F66B55CE6C}" srcId="{8E579C82-5557-4821-A641-26FCAEEA8818}" destId="{E0A2C224-C406-4E86-83A4-0E79AAB6B021}" srcOrd="0" destOrd="0" parTransId="{A2672EC1-01B3-479B-8F29-5965DBE7DE6D}" sibTransId="{0FDA840D-75CD-4489-AADA-22A3079CAB71}"/>
    <dgm:cxn modelId="{C382CBDF-2E9D-4776-9C8D-833EC2C11490}" type="presOf" srcId="{8E579C82-5557-4821-A641-26FCAEEA8818}" destId="{195F21BB-BB9B-4212-80B0-28E24AB54F31}" srcOrd="0" destOrd="0" presId="urn:microsoft.com/office/officeart/2008/layout/BendingPictureCaptionList"/>
    <dgm:cxn modelId="{F59E3A6B-8393-47E1-B469-ED812E8CBCB2}" type="presParOf" srcId="{195F21BB-BB9B-4212-80B0-28E24AB54F31}" destId="{E582C173-FA94-466A-83E6-FD63BBDCB48A}" srcOrd="0" destOrd="0" presId="urn:microsoft.com/office/officeart/2008/layout/BendingPictureCaptionList"/>
    <dgm:cxn modelId="{AD1655E9-52B0-42FE-AB0A-4C2BBA40658D}" type="presParOf" srcId="{E582C173-FA94-466A-83E6-FD63BBDCB48A}" destId="{DBCADE24-D5E0-4593-9F07-18ED10869600}" srcOrd="0" destOrd="0" presId="urn:microsoft.com/office/officeart/2008/layout/BendingPictureCaptionList"/>
    <dgm:cxn modelId="{C35FE207-B5B9-4D28-98D6-D5B1F7BEB493}" type="presParOf" srcId="{E582C173-FA94-466A-83E6-FD63BBDCB48A}" destId="{7CD24404-DC8F-4749-9C55-C95A3CB8F2FF}" srcOrd="1" destOrd="0" presId="urn:microsoft.com/office/officeart/2008/layout/BendingPictureCaptionList"/>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E579C82-5557-4821-A641-26FCAEEA8818}" type="doc">
      <dgm:prSet loTypeId="urn:microsoft.com/office/officeart/2008/layout/BendingPictureCaptionList" loCatId="picture" qsTypeId="urn:microsoft.com/office/officeart/2005/8/quickstyle/simple1" qsCatId="simple" csTypeId="urn:microsoft.com/office/officeart/2005/8/colors/accent1_4" csCatId="accent1" phldr="1"/>
      <dgm:spPr/>
      <dgm:t>
        <a:bodyPr/>
        <a:lstStyle/>
        <a:p>
          <a:endParaRPr lang="en-GB"/>
        </a:p>
      </dgm:t>
    </dgm:pt>
    <dgm:pt modelId="{E0A2C224-C406-4E86-83A4-0E79AAB6B021}">
      <dgm:prSet phldrT="[Text]" custT="1"/>
      <dgm:spPr>
        <a:solidFill>
          <a:srgbClr val="3F5378"/>
        </a:solidFill>
      </dgm:spPr>
      <dgm:t>
        <a:bodyPr/>
        <a:lstStyle/>
        <a:p>
          <a:r>
            <a:rPr lang="en-GB" sz="2000" b="0" dirty="0">
              <a:latin typeface="Roboto Condensed" panose="020B0604020202020204"/>
            </a:rPr>
            <a:t>Wearable EMG</a:t>
          </a:r>
        </a:p>
      </dgm:t>
    </dgm:pt>
    <dgm:pt modelId="{A2672EC1-01B3-479B-8F29-5965DBE7DE6D}" type="parTrans" cxnId="{4DD781C2-5EB8-4715-8468-65F66B55CE6C}">
      <dgm:prSet/>
      <dgm:spPr/>
      <dgm:t>
        <a:bodyPr/>
        <a:lstStyle/>
        <a:p>
          <a:endParaRPr lang="en-GB"/>
        </a:p>
      </dgm:t>
    </dgm:pt>
    <dgm:pt modelId="{0FDA840D-75CD-4489-AADA-22A3079CAB71}" type="sibTrans" cxnId="{4DD781C2-5EB8-4715-8468-65F66B55CE6C}">
      <dgm:prSet/>
      <dgm:spPr/>
      <dgm:t>
        <a:bodyPr/>
        <a:lstStyle/>
        <a:p>
          <a:endParaRPr lang="en-GB"/>
        </a:p>
      </dgm:t>
    </dgm:pt>
    <dgm:pt modelId="{195F21BB-BB9B-4212-80B0-28E24AB54F31}" type="pres">
      <dgm:prSet presAssocID="{8E579C82-5557-4821-A641-26FCAEEA8818}" presName="Name0" presStyleCnt="0">
        <dgm:presLayoutVars>
          <dgm:dir/>
          <dgm:resizeHandles val="exact"/>
        </dgm:presLayoutVars>
      </dgm:prSet>
      <dgm:spPr/>
      <dgm:t>
        <a:bodyPr/>
        <a:lstStyle/>
        <a:p>
          <a:endParaRPr lang="en-GB"/>
        </a:p>
      </dgm:t>
    </dgm:pt>
    <dgm:pt modelId="{E582C173-FA94-466A-83E6-FD63BBDCB48A}" type="pres">
      <dgm:prSet presAssocID="{E0A2C224-C406-4E86-83A4-0E79AAB6B021}" presName="composite" presStyleCnt="0"/>
      <dgm:spPr/>
    </dgm:pt>
    <dgm:pt modelId="{DBCADE24-D5E0-4593-9F07-18ED10869600}" type="pres">
      <dgm:prSet presAssocID="{E0A2C224-C406-4E86-83A4-0E79AAB6B021}" presName="rect1" presStyleLbl="bgImgPlace1" presStyleIdx="0" presStyleCnt="1" custLinFactNeighborX="-158"/>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1000" r="-5000" b="-52000"/>
          </a:stretch>
        </a:blipFill>
        <a:ln>
          <a:noFill/>
        </a:ln>
      </dgm:spPr>
    </dgm:pt>
    <dgm:pt modelId="{7CD24404-DC8F-4749-9C55-C95A3CB8F2FF}" type="pres">
      <dgm:prSet presAssocID="{E0A2C224-C406-4E86-83A4-0E79AAB6B021}" presName="wedgeRectCallout1" presStyleLbl="node1" presStyleIdx="0" presStyleCnt="1">
        <dgm:presLayoutVars>
          <dgm:bulletEnabled val="1"/>
        </dgm:presLayoutVars>
      </dgm:prSet>
      <dgm:spPr/>
      <dgm:t>
        <a:bodyPr/>
        <a:lstStyle/>
        <a:p>
          <a:endParaRPr lang="en-GB"/>
        </a:p>
      </dgm:t>
    </dgm:pt>
  </dgm:ptLst>
  <dgm:cxnLst>
    <dgm:cxn modelId="{280E677B-1651-4B35-9196-6DA0768FB4D6}" type="presOf" srcId="{8E579C82-5557-4821-A641-26FCAEEA8818}" destId="{195F21BB-BB9B-4212-80B0-28E24AB54F31}" srcOrd="0" destOrd="0" presId="urn:microsoft.com/office/officeart/2008/layout/BendingPictureCaptionList"/>
    <dgm:cxn modelId="{6BCE1E40-8781-44A7-BCA4-4416438B072F}" type="presOf" srcId="{E0A2C224-C406-4E86-83A4-0E79AAB6B021}" destId="{7CD24404-DC8F-4749-9C55-C95A3CB8F2FF}" srcOrd="0" destOrd="0" presId="urn:microsoft.com/office/officeart/2008/layout/BendingPictureCaptionList"/>
    <dgm:cxn modelId="{4DD781C2-5EB8-4715-8468-65F66B55CE6C}" srcId="{8E579C82-5557-4821-A641-26FCAEEA8818}" destId="{E0A2C224-C406-4E86-83A4-0E79AAB6B021}" srcOrd="0" destOrd="0" parTransId="{A2672EC1-01B3-479B-8F29-5965DBE7DE6D}" sibTransId="{0FDA840D-75CD-4489-AADA-22A3079CAB71}"/>
    <dgm:cxn modelId="{FD507E2B-7F7E-4DE9-AEB2-3B2C5F471213}" type="presParOf" srcId="{195F21BB-BB9B-4212-80B0-28E24AB54F31}" destId="{E582C173-FA94-466A-83E6-FD63BBDCB48A}" srcOrd="0" destOrd="0" presId="urn:microsoft.com/office/officeart/2008/layout/BendingPictureCaptionList"/>
    <dgm:cxn modelId="{64EDE0E3-C6BA-4D38-9E35-101862321F7C}" type="presParOf" srcId="{E582C173-FA94-466A-83E6-FD63BBDCB48A}" destId="{DBCADE24-D5E0-4593-9F07-18ED10869600}" srcOrd="0" destOrd="0" presId="urn:microsoft.com/office/officeart/2008/layout/BendingPictureCaptionList"/>
    <dgm:cxn modelId="{A236AFA7-09FC-41A7-9D9B-724F376F2282}" type="presParOf" srcId="{E582C173-FA94-466A-83E6-FD63BBDCB48A}" destId="{7CD24404-DC8F-4749-9C55-C95A3CB8F2FF}" srcOrd="1" destOrd="0" presId="urn:microsoft.com/office/officeart/2008/layout/BendingPictureCaptionLis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E579C82-5557-4821-A641-26FCAEEA8818}" type="doc">
      <dgm:prSet loTypeId="urn:microsoft.com/office/officeart/2008/layout/BendingPictureCaptionList" loCatId="picture" qsTypeId="urn:microsoft.com/office/officeart/2005/8/quickstyle/simple1" qsCatId="simple" csTypeId="urn:microsoft.com/office/officeart/2005/8/colors/accent1_4" csCatId="accent1" phldr="1"/>
      <dgm:spPr/>
      <dgm:t>
        <a:bodyPr/>
        <a:lstStyle/>
        <a:p>
          <a:endParaRPr lang="en-GB"/>
        </a:p>
      </dgm:t>
    </dgm:pt>
    <dgm:pt modelId="{E0A2C224-C406-4E86-83A4-0E79AAB6B021}">
      <dgm:prSet phldrT="[Text]" custT="1"/>
      <dgm:spPr>
        <a:solidFill>
          <a:srgbClr val="3F5378"/>
        </a:solidFill>
      </dgm:spPr>
      <dgm:t>
        <a:bodyPr/>
        <a:lstStyle/>
        <a:p>
          <a:r>
            <a:rPr lang="en-GB" sz="2400" b="0" dirty="0">
              <a:latin typeface="Roboto Condensed" panose="020B0604020202020204"/>
            </a:rPr>
            <a:t>Vision-Based</a:t>
          </a:r>
        </a:p>
      </dgm:t>
    </dgm:pt>
    <dgm:pt modelId="{A2672EC1-01B3-479B-8F29-5965DBE7DE6D}" type="parTrans" cxnId="{4DD781C2-5EB8-4715-8468-65F66B55CE6C}">
      <dgm:prSet/>
      <dgm:spPr/>
      <dgm:t>
        <a:bodyPr/>
        <a:lstStyle/>
        <a:p>
          <a:endParaRPr lang="en-GB"/>
        </a:p>
      </dgm:t>
    </dgm:pt>
    <dgm:pt modelId="{0FDA840D-75CD-4489-AADA-22A3079CAB71}" type="sibTrans" cxnId="{4DD781C2-5EB8-4715-8468-65F66B55CE6C}">
      <dgm:prSet/>
      <dgm:spPr/>
      <dgm:t>
        <a:bodyPr/>
        <a:lstStyle/>
        <a:p>
          <a:endParaRPr lang="en-GB"/>
        </a:p>
      </dgm:t>
    </dgm:pt>
    <dgm:pt modelId="{195F21BB-BB9B-4212-80B0-28E24AB54F31}" type="pres">
      <dgm:prSet presAssocID="{8E579C82-5557-4821-A641-26FCAEEA8818}" presName="Name0" presStyleCnt="0">
        <dgm:presLayoutVars>
          <dgm:dir/>
          <dgm:resizeHandles val="exact"/>
        </dgm:presLayoutVars>
      </dgm:prSet>
      <dgm:spPr/>
      <dgm:t>
        <a:bodyPr/>
        <a:lstStyle/>
        <a:p>
          <a:endParaRPr lang="en-GB"/>
        </a:p>
      </dgm:t>
    </dgm:pt>
    <dgm:pt modelId="{E582C173-FA94-466A-83E6-FD63BBDCB48A}" type="pres">
      <dgm:prSet presAssocID="{E0A2C224-C406-4E86-83A4-0E79AAB6B021}" presName="composite" presStyleCnt="0"/>
      <dgm:spPr/>
    </dgm:pt>
    <dgm:pt modelId="{DBCADE24-D5E0-4593-9F07-18ED10869600}" type="pres">
      <dgm:prSet presAssocID="{E0A2C224-C406-4E86-83A4-0E79AAB6B021}" presName="rect1" presStyleLbl="bgImgPlace1" presStyleIdx="0" presStyleCnt="1"/>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t="-1000" b="1000"/>
          </a:stretch>
        </a:blipFill>
        <a:ln>
          <a:noFill/>
        </a:ln>
      </dgm:spPr>
    </dgm:pt>
    <dgm:pt modelId="{7CD24404-DC8F-4749-9C55-C95A3CB8F2FF}" type="pres">
      <dgm:prSet presAssocID="{E0A2C224-C406-4E86-83A4-0E79AAB6B021}" presName="wedgeRectCallout1" presStyleLbl="node1" presStyleIdx="0" presStyleCnt="1">
        <dgm:presLayoutVars>
          <dgm:bulletEnabled val="1"/>
        </dgm:presLayoutVars>
      </dgm:prSet>
      <dgm:spPr/>
      <dgm:t>
        <a:bodyPr/>
        <a:lstStyle/>
        <a:p>
          <a:endParaRPr lang="en-GB"/>
        </a:p>
      </dgm:t>
    </dgm:pt>
  </dgm:ptLst>
  <dgm:cxnLst>
    <dgm:cxn modelId="{CE2EE71A-3040-4EC2-814F-9EEE34881B8C}" type="presOf" srcId="{E0A2C224-C406-4E86-83A4-0E79AAB6B021}" destId="{7CD24404-DC8F-4749-9C55-C95A3CB8F2FF}" srcOrd="0" destOrd="0" presId="urn:microsoft.com/office/officeart/2008/layout/BendingPictureCaptionList"/>
    <dgm:cxn modelId="{411C09A9-0959-4F47-A00B-EC21DC2215A6}" type="presOf" srcId="{8E579C82-5557-4821-A641-26FCAEEA8818}" destId="{195F21BB-BB9B-4212-80B0-28E24AB54F31}" srcOrd="0" destOrd="0" presId="urn:microsoft.com/office/officeart/2008/layout/BendingPictureCaptionList"/>
    <dgm:cxn modelId="{4DD781C2-5EB8-4715-8468-65F66B55CE6C}" srcId="{8E579C82-5557-4821-A641-26FCAEEA8818}" destId="{E0A2C224-C406-4E86-83A4-0E79AAB6B021}" srcOrd="0" destOrd="0" parTransId="{A2672EC1-01B3-479B-8F29-5965DBE7DE6D}" sibTransId="{0FDA840D-75CD-4489-AADA-22A3079CAB71}"/>
    <dgm:cxn modelId="{B8662759-5503-4A22-8C23-3BD935F535AD}" type="presParOf" srcId="{195F21BB-BB9B-4212-80B0-28E24AB54F31}" destId="{E582C173-FA94-466A-83E6-FD63BBDCB48A}" srcOrd="0" destOrd="0" presId="urn:microsoft.com/office/officeart/2008/layout/BendingPictureCaptionList"/>
    <dgm:cxn modelId="{ED6FF27E-FA3D-4C8E-84F8-6926B83F3B20}" type="presParOf" srcId="{E582C173-FA94-466A-83E6-FD63BBDCB48A}" destId="{DBCADE24-D5E0-4593-9F07-18ED10869600}" srcOrd="0" destOrd="0" presId="urn:microsoft.com/office/officeart/2008/layout/BendingPictureCaptionList"/>
    <dgm:cxn modelId="{7CE2D867-B601-4FE3-A427-ABEA0A5D9528}" type="presParOf" srcId="{E582C173-FA94-466A-83E6-FD63BBDCB48A}" destId="{7CD24404-DC8F-4749-9C55-C95A3CB8F2FF}" srcOrd="1" destOrd="0" presId="urn:microsoft.com/office/officeart/2008/layout/BendingPictureCaptionList"/>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FE7C391-189C-4A3C-9304-2D564C488234}" type="doc">
      <dgm:prSet loTypeId="urn:microsoft.com/office/officeart/2008/layout/BendingPictureCaptionList" loCatId="picture" qsTypeId="urn:microsoft.com/office/officeart/2005/8/quickstyle/simple1" qsCatId="simple" csTypeId="urn:microsoft.com/office/officeart/2005/8/colors/accent1_2" csCatId="accent1" phldr="1"/>
      <dgm:spPr/>
      <dgm:t>
        <a:bodyPr/>
        <a:lstStyle/>
        <a:p>
          <a:endParaRPr lang="en-GB"/>
        </a:p>
      </dgm:t>
    </dgm:pt>
    <dgm:pt modelId="{5E64CD08-079D-4CA8-996C-656486B73D34}">
      <dgm:prSet phldrT="[Text]" custT="1"/>
      <dgm:spPr>
        <a:solidFill>
          <a:srgbClr val="3F5378"/>
        </a:solidFill>
      </dgm:spPr>
      <dgm:t>
        <a:bodyPr/>
        <a:lstStyle/>
        <a:p>
          <a:r>
            <a:rPr lang="en-GB" sz="1500" b="0" dirty="0">
              <a:latin typeface="Roboto Condensed" panose="020B0604020202020204"/>
            </a:rPr>
            <a:t>1.Thumb up</a:t>
          </a:r>
        </a:p>
      </dgm:t>
    </dgm:pt>
    <dgm:pt modelId="{EE0F501C-0406-4833-94D5-0B738FBD762D}" type="parTrans" cxnId="{D6DAF84F-1C81-479D-8C7D-31468A3C312C}">
      <dgm:prSet/>
      <dgm:spPr/>
      <dgm:t>
        <a:bodyPr/>
        <a:lstStyle/>
        <a:p>
          <a:endParaRPr lang="en-GB"/>
        </a:p>
      </dgm:t>
    </dgm:pt>
    <dgm:pt modelId="{E7CA5F4A-1C90-4F78-A3AF-964C4367A341}" type="sibTrans" cxnId="{D6DAF84F-1C81-479D-8C7D-31468A3C312C}">
      <dgm:prSet/>
      <dgm:spPr/>
      <dgm:t>
        <a:bodyPr/>
        <a:lstStyle/>
        <a:p>
          <a:endParaRPr lang="en-GB"/>
        </a:p>
      </dgm:t>
    </dgm:pt>
    <dgm:pt modelId="{A8493B5B-5D46-43D8-B9CE-EBC43D0E4C2C}">
      <dgm:prSet phldrT="[Text]" custT="1"/>
      <dgm:spPr>
        <a:solidFill>
          <a:srgbClr val="3F5378"/>
        </a:solidFill>
      </dgm:spPr>
      <dgm:t>
        <a:bodyPr/>
        <a:lstStyle/>
        <a:p>
          <a:r>
            <a:rPr lang="en-GB" sz="1400" b="0" dirty="0">
              <a:latin typeface="Roboto Condensed" panose="020B0604020202020204"/>
            </a:rPr>
            <a:t>2.Two-finger point</a:t>
          </a:r>
        </a:p>
      </dgm:t>
    </dgm:pt>
    <dgm:pt modelId="{85DC5FD0-D386-4437-8C06-D8F2181ABA40}" type="parTrans" cxnId="{DB3C69BE-303E-4E42-835D-CFDAFE39F836}">
      <dgm:prSet/>
      <dgm:spPr/>
      <dgm:t>
        <a:bodyPr/>
        <a:lstStyle/>
        <a:p>
          <a:endParaRPr lang="en-GB"/>
        </a:p>
      </dgm:t>
    </dgm:pt>
    <dgm:pt modelId="{8C3D8AAB-A1C5-4C74-964C-17210E9933BD}" type="sibTrans" cxnId="{DB3C69BE-303E-4E42-835D-CFDAFE39F836}">
      <dgm:prSet/>
      <dgm:spPr/>
      <dgm:t>
        <a:bodyPr/>
        <a:lstStyle/>
        <a:p>
          <a:endParaRPr lang="en-GB"/>
        </a:p>
      </dgm:t>
    </dgm:pt>
    <dgm:pt modelId="{E1715996-0A44-4305-9BF3-AFED31F8E1FE}">
      <dgm:prSet phldrT="[Text]" custT="1"/>
      <dgm:spPr>
        <a:solidFill>
          <a:srgbClr val="3F5378"/>
        </a:solidFill>
      </dgm:spPr>
      <dgm:t>
        <a:bodyPr/>
        <a:lstStyle/>
        <a:p>
          <a:r>
            <a:rPr lang="en-GB" sz="1250" b="0" dirty="0">
              <a:latin typeface="Roboto Condensed" panose="020B0604020202020204"/>
            </a:rPr>
            <a:t>3.Ring/little flexed, others </a:t>
          </a:r>
          <a:r>
            <a:rPr lang="en-GB" sz="1250" b="0" dirty="0" err="1">
              <a:latin typeface="Roboto Condensed" panose="020B0604020202020204"/>
            </a:rPr>
            <a:t>extendeds</a:t>
          </a:r>
          <a:endParaRPr lang="en-GB" sz="1250" b="0" dirty="0">
            <a:latin typeface="Roboto Condensed" panose="020B0604020202020204"/>
          </a:endParaRPr>
        </a:p>
      </dgm:t>
    </dgm:pt>
    <dgm:pt modelId="{2FC7459A-CA3C-40D7-83FD-C7A79E5179EE}" type="parTrans" cxnId="{C258D0CC-30C4-4415-BEC3-D865413219E2}">
      <dgm:prSet/>
      <dgm:spPr/>
      <dgm:t>
        <a:bodyPr/>
        <a:lstStyle/>
        <a:p>
          <a:endParaRPr lang="en-GB"/>
        </a:p>
      </dgm:t>
    </dgm:pt>
    <dgm:pt modelId="{7321839D-33B7-4B69-9E8A-C83637CC113C}" type="sibTrans" cxnId="{C258D0CC-30C4-4415-BEC3-D865413219E2}">
      <dgm:prSet/>
      <dgm:spPr/>
      <dgm:t>
        <a:bodyPr/>
        <a:lstStyle/>
        <a:p>
          <a:endParaRPr lang="en-GB"/>
        </a:p>
      </dgm:t>
    </dgm:pt>
    <dgm:pt modelId="{62FCD85C-B36A-466D-9CAD-AB553F399E77}">
      <dgm:prSet phldrT="[Text]" custT="1"/>
      <dgm:spPr>
        <a:solidFill>
          <a:srgbClr val="3F5378"/>
        </a:solidFill>
      </dgm:spPr>
      <dgm:t>
        <a:bodyPr/>
        <a:lstStyle/>
        <a:p>
          <a:r>
            <a:rPr lang="en-GB" sz="1400" dirty="0">
              <a:latin typeface="Roboto Condensed" panose="020B0604020202020204"/>
            </a:rPr>
            <a:t>4.Thumb to </a:t>
          </a:r>
          <a:r>
            <a:rPr lang="en-GB" sz="1400" dirty="0" err="1">
              <a:latin typeface="Roboto Condensed" panose="020B0604020202020204"/>
            </a:rPr>
            <a:t>pinky</a:t>
          </a:r>
          <a:r>
            <a:rPr lang="en-GB" sz="1400" dirty="0">
              <a:latin typeface="Roboto Condensed" panose="020B0604020202020204"/>
            </a:rPr>
            <a:t> base</a:t>
          </a:r>
        </a:p>
      </dgm:t>
    </dgm:pt>
    <dgm:pt modelId="{A13A6FDE-B01D-45F2-9084-1A5DFF7B61BA}" type="parTrans" cxnId="{975D6036-C9F1-4134-BA30-3BF17C9F8273}">
      <dgm:prSet/>
      <dgm:spPr/>
      <dgm:t>
        <a:bodyPr/>
        <a:lstStyle/>
        <a:p>
          <a:endParaRPr lang="en-GB"/>
        </a:p>
      </dgm:t>
    </dgm:pt>
    <dgm:pt modelId="{911EC06A-C1FF-49A2-833E-D9B5C8589B3E}" type="sibTrans" cxnId="{975D6036-C9F1-4134-BA30-3BF17C9F8273}">
      <dgm:prSet/>
      <dgm:spPr/>
      <dgm:t>
        <a:bodyPr/>
        <a:lstStyle/>
        <a:p>
          <a:endParaRPr lang="en-GB"/>
        </a:p>
      </dgm:t>
    </dgm:pt>
    <dgm:pt modelId="{7431EDA9-28FC-4A8B-A6E4-54B606F5B892}">
      <dgm:prSet phldrT="[Text]" custT="1"/>
      <dgm:spPr>
        <a:solidFill>
          <a:srgbClr val="3F5378"/>
        </a:solidFill>
      </dgm:spPr>
      <dgm:t>
        <a:bodyPr/>
        <a:lstStyle/>
        <a:p>
          <a:r>
            <a:rPr lang="en-GB" sz="1300" dirty="0">
              <a:latin typeface="Roboto Condensed" panose="020B0604020202020204"/>
            </a:rPr>
            <a:t>5.Abduction of all fingers</a:t>
          </a:r>
        </a:p>
      </dgm:t>
    </dgm:pt>
    <dgm:pt modelId="{4C1D1464-848D-438E-9C05-8EF0E2E96DEB}" type="parTrans" cxnId="{012013D8-CCB5-4CFE-84B7-AED962CF98D1}">
      <dgm:prSet/>
      <dgm:spPr/>
      <dgm:t>
        <a:bodyPr/>
        <a:lstStyle/>
        <a:p>
          <a:endParaRPr lang="en-GB"/>
        </a:p>
      </dgm:t>
    </dgm:pt>
    <dgm:pt modelId="{84341AFC-7EC3-47DB-9537-34AF5D7C9E92}" type="sibTrans" cxnId="{012013D8-CCB5-4CFE-84B7-AED962CF98D1}">
      <dgm:prSet/>
      <dgm:spPr/>
      <dgm:t>
        <a:bodyPr/>
        <a:lstStyle/>
        <a:p>
          <a:endParaRPr lang="en-GB"/>
        </a:p>
      </dgm:t>
    </dgm:pt>
    <dgm:pt modelId="{EB41F924-F0B7-417D-BEE7-003E168F90AB}">
      <dgm:prSet phldrT="[Text]" custT="1"/>
      <dgm:spPr>
        <a:solidFill>
          <a:srgbClr val="3F5378"/>
        </a:solidFill>
      </dgm:spPr>
      <dgm:t>
        <a:bodyPr/>
        <a:lstStyle/>
        <a:p>
          <a:r>
            <a:rPr lang="en-GB" sz="1500" dirty="0">
              <a:latin typeface="Roboto Condensed" panose="020B0604020202020204"/>
            </a:rPr>
            <a:t>6.Closed fist</a:t>
          </a:r>
        </a:p>
      </dgm:t>
    </dgm:pt>
    <dgm:pt modelId="{5A02F00A-6EEB-45B2-A138-448DB7C0CBD5}" type="parTrans" cxnId="{55C588C2-40F2-4F3F-86AB-50EDDE6036C5}">
      <dgm:prSet/>
      <dgm:spPr/>
      <dgm:t>
        <a:bodyPr/>
        <a:lstStyle/>
        <a:p>
          <a:endParaRPr lang="en-GB"/>
        </a:p>
      </dgm:t>
    </dgm:pt>
    <dgm:pt modelId="{D394C65E-950C-4B85-8137-2580B8CB48A5}" type="sibTrans" cxnId="{55C588C2-40F2-4F3F-86AB-50EDDE6036C5}">
      <dgm:prSet/>
      <dgm:spPr/>
      <dgm:t>
        <a:bodyPr/>
        <a:lstStyle/>
        <a:p>
          <a:endParaRPr lang="en-GB"/>
        </a:p>
      </dgm:t>
    </dgm:pt>
    <dgm:pt modelId="{51FDC586-437A-4B29-8FD8-D6321D328165}">
      <dgm:prSet phldrT="[Text]" custT="1"/>
      <dgm:spPr>
        <a:solidFill>
          <a:srgbClr val="3F5378"/>
        </a:solidFill>
      </dgm:spPr>
      <dgm:t>
        <a:bodyPr/>
        <a:lstStyle/>
        <a:p>
          <a:r>
            <a:rPr lang="en-GB" sz="1400" dirty="0">
              <a:latin typeface="Roboto Condensed" panose="020B0604020202020204"/>
            </a:rPr>
            <a:t>7.Pointing index</a:t>
          </a:r>
        </a:p>
      </dgm:t>
    </dgm:pt>
    <dgm:pt modelId="{02EFE560-BD46-4D64-AF76-A273E8A020A8}" type="parTrans" cxnId="{D34A45C6-912E-45E2-BF98-C800BD500A34}">
      <dgm:prSet/>
      <dgm:spPr/>
      <dgm:t>
        <a:bodyPr/>
        <a:lstStyle/>
        <a:p>
          <a:endParaRPr lang="en-GB"/>
        </a:p>
      </dgm:t>
    </dgm:pt>
    <dgm:pt modelId="{7EEB0862-C2EA-4203-8FA1-0CA3F928147D}" type="sibTrans" cxnId="{D34A45C6-912E-45E2-BF98-C800BD500A34}">
      <dgm:prSet/>
      <dgm:spPr/>
      <dgm:t>
        <a:bodyPr/>
        <a:lstStyle/>
        <a:p>
          <a:endParaRPr lang="en-GB"/>
        </a:p>
      </dgm:t>
    </dgm:pt>
    <dgm:pt modelId="{6286A642-EE92-4519-B7F3-B5879FCC4304}">
      <dgm:prSet phldrT="[Text]"/>
      <dgm:spPr>
        <a:solidFill>
          <a:srgbClr val="3F5378"/>
        </a:solidFill>
      </dgm:spPr>
      <dgm:t>
        <a:bodyPr/>
        <a:lstStyle/>
        <a:p>
          <a:r>
            <a:rPr lang="en-GB" dirty="0"/>
            <a:t>8.Adduction of extended fingers</a:t>
          </a:r>
        </a:p>
      </dgm:t>
    </dgm:pt>
    <dgm:pt modelId="{D5216CA5-CFB7-4E4F-A63D-0422A61BA5AE}" type="parTrans" cxnId="{E0BF2FF6-FECE-4987-9368-80F36D4738B2}">
      <dgm:prSet/>
      <dgm:spPr/>
      <dgm:t>
        <a:bodyPr/>
        <a:lstStyle/>
        <a:p>
          <a:endParaRPr lang="en-GB"/>
        </a:p>
      </dgm:t>
    </dgm:pt>
    <dgm:pt modelId="{CF7270D5-99C3-40B4-9349-9025CFB69580}" type="sibTrans" cxnId="{E0BF2FF6-FECE-4987-9368-80F36D4738B2}">
      <dgm:prSet/>
      <dgm:spPr/>
      <dgm:t>
        <a:bodyPr/>
        <a:lstStyle/>
        <a:p>
          <a:endParaRPr lang="en-GB"/>
        </a:p>
      </dgm:t>
    </dgm:pt>
    <dgm:pt modelId="{F73B1BED-08F2-4E8B-92CC-10AF4BB1A8EB}">
      <dgm:prSet phldrT="[Text]" custT="1"/>
      <dgm:spPr>
        <a:solidFill>
          <a:srgbClr val="3F5378"/>
        </a:solidFill>
      </dgm:spPr>
      <dgm:t>
        <a:bodyPr/>
        <a:lstStyle/>
        <a:p>
          <a:r>
            <a:rPr lang="en-GB" sz="1400" dirty="0">
              <a:latin typeface="Roboto Condensed" panose="020B0604020202020204"/>
            </a:rPr>
            <a:t>9.Wrist supination</a:t>
          </a:r>
        </a:p>
      </dgm:t>
    </dgm:pt>
    <dgm:pt modelId="{D87C297E-0071-43DC-AFCE-268EE3ED87A5}" type="parTrans" cxnId="{004D34E8-16C1-4B03-B715-E53513970450}">
      <dgm:prSet/>
      <dgm:spPr/>
      <dgm:t>
        <a:bodyPr/>
        <a:lstStyle/>
        <a:p>
          <a:endParaRPr lang="en-GB"/>
        </a:p>
      </dgm:t>
    </dgm:pt>
    <dgm:pt modelId="{E97EBA0A-4B96-456F-9539-B5E6DC8EDC93}" type="sibTrans" cxnId="{004D34E8-16C1-4B03-B715-E53513970450}">
      <dgm:prSet/>
      <dgm:spPr/>
      <dgm:t>
        <a:bodyPr/>
        <a:lstStyle/>
        <a:p>
          <a:endParaRPr lang="en-GB"/>
        </a:p>
      </dgm:t>
    </dgm:pt>
    <dgm:pt modelId="{63F946B3-C022-4B86-AB0C-90D3FFA7DD63}">
      <dgm:prSet phldrT="[Text]" custT="1"/>
      <dgm:spPr>
        <a:solidFill>
          <a:srgbClr val="3F5378"/>
        </a:solidFill>
      </dgm:spPr>
      <dgm:t>
        <a:bodyPr/>
        <a:lstStyle/>
        <a:p>
          <a:r>
            <a:rPr lang="en-GB" sz="1400" dirty="0">
              <a:latin typeface="Roboto Condensed" panose="020B0604020202020204"/>
            </a:rPr>
            <a:t>10.Wrist pronation</a:t>
          </a:r>
        </a:p>
      </dgm:t>
    </dgm:pt>
    <dgm:pt modelId="{D68D9E37-9E1B-405E-A9A9-59EAC14B0CE0}" type="parTrans" cxnId="{4D03312A-7F3D-42FD-902F-39F3A4C33127}">
      <dgm:prSet/>
      <dgm:spPr/>
      <dgm:t>
        <a:bodyPr/>
        <a:lstStyle/>
        <a:p>
          <a:endParaRPr lang="en-GB"/>
        </a:p>
      </dgm:t>
    </dgm:pt>
    <dgm:pt modelId="{3A42431A-B5F9-447E-B2EB-64A43B9C6710}" type="sibTrans" cxnId="{4D03312A-7F3D-42FD-902F-39F3A4C33127}">
      <dgm:prSet/>
      <dgm:spPr/>
      <dgm:t>
        <a:bodyPr/>
        <a:lstStyle/>
        <a:p>
          <a:endParaRPr lang="en-GB"/>
        </a:p>
      </dgm:t>
    </dgm:pt>
    <dgm:pt modelId="{CB9465C6-B342-41F2-A436-97C27A01D476}">
      <dgm:prSet phldrT="[Text]" custT="1"/>
      <dgm:spPr>
        <a:solidFill>
          <a:srgbClr val="3F5378"/>
        </a:solidFill>
      </dgm:spPr>
      <dgm:t>
        <a:bodyPr/>
        <a:lstStyle/>
        <a:p>
          <a:r>
            <a:rPr lang="en-GB" sz="1500" dirty="0">
              <a:latin typeface="Roboto Condensed" panose="020B0604020202020204"/>
            </a:rPr>
            <a:t>11.Wrist flexion</a:t>
          </a:r>
        </a:p>
      </dgm:t>
    </dgm:pt>
    <dgm:pt modelId="{319DACA5-2A70-4FBB-AF08-D971D4B51FF6}" type="parTrans" cxnId="{7F953566-F852-4187-9580-995B3A0F7A23}">
      <dgm:prSet/>
      <dgm:spPr/>
      <dgm:t>
        <a:bodyPr/>
        <a:lstStyle/>
        <a:p>
          <a:endParaRPr lang="en-GB"/>
        </a:p>
      </dgm:t>
    </dgm:pt>
    <dgm:pt modelId="{24505562-470F-4D0E-A4E5-5A7080019DEB}" type="sibTrans" cxnId="{7F953566-F852-4187-9580-995B3A0F7A23}">
      <dgm:prSet/>
      <dgm:spPr/>
      <dgm:t>
        <a:bodyPr/>
        <a:lstStyle/>
        <a:p>
          <a:endParaRPr lang="en-GB"/>
        </a:p>
      </dgm:t>
    </dgm:pt>
    <dgm:pt modelId="{8C263CDC-ADA3-49FA-8776-BA2EE774EFC6}">
      <dgm:prSet phldrT="[Text]" custT="1"/>
      <dgm:spPr>
        <a:solidFill>
          <a:srgbClr val="3F5378"/>
        </a:solidFill>
      </dgm:spPr>
      <dgm:t>
        <a:bodyPr/>
        <a:lstStyle/>
        <a:p>
          <a:r>
            <a:rPr lang="en-GB" sz="1400" dirty="0">
              <a:latin typeface="Roboto Condensed" panose="020B0604020202020204"/>
            </a:rPr>
            <a:t>12.Wrist extension</a:t>
          </a:r>
        </a:p>
      </dgm:t>
    </dgm:pt>
    <dgm:pt modelId="{11208492-6ABF-4B51-857B-F4F672787FCC}" type="parTrans" cxnId="{6698F8F9-400E-42A4-95E8-4361ED27E62C}">
      <dgm:prSet/>
      <dgm:spPr/>
      <dgm:t>
        <a:bodyPr/>
        <a:lstStyle/>
        <a:p>
          <a:endParaRPr lang="en-GB"/>
        </a:p>
      </dgm:t>
    </dgm:pt>
    <dgm:pt modelId="{C116516C-C9D8-4625-8140-40D2C33950A1}" type="sibTrans" cxnId="{6698F8F9-400E-42A4-95E8-4361ED27E62C}">
      <dgm:prSet/>
      <dgm:spPr/>
      <dgm:t>
        <a:bodyPr/>
        <a:lstStyle/>
        <a:p>
          <a:endParaRPr lang="en-GB"/>
        </a:p>
      </dgm:t>
    </dgm:pt>
    <dgm:pt modelId="{9327AF3C-73E5-4A44-B2CC-94CD845DCB8F}">
      <dgm:prSet phldrT="[Text]" custT="1"/>
      <dgm:spPr>
        <a:solidFill>
          <a:srgbClr val="3F5378"/>
        </a:solidFill>
      </dgm:spPr>
      <dgm:t>
        <a:bodyPr/>
        <a:lstStyle/>
        <a:p>
          <a:r>
            <a:rPr lang="en-GB" sz="1400" dirty="0">
              <a:latin typeface="Roboto Condensed" panose="020B0604020202020204"/>
            </a:rPr>
            <a:t>13.Wrist radial deviation</a:t>
          </a:r>
        </a:p>
      </dgm:t>
    </dgm:pt>
    <dgm:pt modelId="{28DA841F-8AF2-485E-B9E3-9ECE09DD4DA9}" type="parTrans" cxnId="{0AD7ECB2-97C6-4B6E-9AB6-B7AB57BB1BE1}">
      <dgm:prSet/>
      <dgm:spPr/>
      <dgm:t>
        <a:bodyPr/>
        <a:lstStyle/>
        <a:p>
          <a:endParaRPr lang="en-GB"/>
        </a:p>
      </dgm:t>
    </dgm:pt>
    <dgm:pt modelId="{B5C4CD07-664E-4226-A9CD-6F7A5DBF64B7}" type="sibTrans" cxnId="{0AD7ECB2-97C6-4B6E-9AB6-B7AB57BB1BE1}">
      <dgm:prSet/>
      <dgm:spPr/>
      <dgm:t>
        <a:bodyPr/>
        <a:lstStyle/>
        <a:p>
          <a:endParaRPr lang="en-GB"/>
        </a:p>
      </dgm:t>
    </dgm:pt>
    <dgm:pt modelId="{7D31F9FC-CDC3-4E8B-8D42-C8169C76591F}">
      <dgm:prSet phldrT="[Text]" custT="1"/>
      <dgm:spPr>
        <a:solidFill>
          <a:srgbClr val="3F5378"/>
        </a:solidFill>
      </dgm:spPr>
      <dgm:t>
        <a:bodyPr/>
        <a:lstStyle/>
        <a:p>
          <a:r>
            <a:rPr lang="en-GB" sz="1350" dirty="0">
              <a:latin typeface="Roboto Condensed" panose="020B0604020202020204"/>
            </a:rPr>
            <a:t>14.Wrist ulnar deviation</a:t>
          </a:r>
        </a:p>
      </dgm:t>
    </dgm:pt>
    <dgm:pt modelId="{EEEC7111-9352-4065-8010-A10EEC2F9647}" type="parTrans" cxnId="{A687E871-21ED-4934-AC9D-233BACC90FF7}">
      <dgm:prSet/>
      <dgm:spPr/>
      <dgm:t>
        <a:bodyPr/>
        <a:lstStyle/>
        <a:p>
          <a:endParaRPr lang="en-GB"/>
        </a:p>
      </dgm:t>
    </dgm:pt>
    <dgm:pt modelId="{59EC6D8C-0736-4B5B-AAFD-38BE9823FECD}" type="sibTrans" cxnId="{A687E871-21ED-4934-AC9D-233BACC90FF7}">
      <dgm:prSet/>
      <dgm:spPr/>
      <dgm:t>
        <a:bodyPr/>
        <a:lstStyle/>
        <a:p>
          <a:endParaRPr lang="en-GB"/>
        </a:p>
      </dgm:t>
    </dgm:pt>
    <dgm:pt modelId="{0DD789C7-46AF-47E8-9690-D70FA897D1B7}">
      <dgm:prSet phldrT="[Text]" custT="1"/>
      <dgm:spPr>
        <a:solidFill>
          <a:srgbClr val="3F5378"/>
        </a:solidFill>
      </dgm:spPr>
      <dgm:t>
        <a:bodyPr/>
        <a:lstStyle/>
        <a:p>
          <a:r>
            <a:rPr lang="en-GB" sz="1200" dirty="0">
              <a:latin typeface="Roboto Condensed" panose="020B0604020202020204"/>
            </a:rPr>
            <a:t>15.Wrist extension with closed hand</a:t>
          </a:r>
        </a:p>
      </dgm:t>
    </dgm:pt>
    <dgm:pt modelId="{92A1CF68-C8EE-4E8A-B0A8-E0E7ACF61056}" type="parTrans" cxnId="{2A43760B-2EC3-4BBE-90FD-EA56320168F2}">
      <dgm:prSet/>
      <dgm:spPr/>
      <dgm:t>
        <a:bodyPr/>
        <a:lstStyle/>
        <a:p>
          <a:endParaRPr lang="en-GB"/>
        </a:p>
      </dgm:t>
    </dgm:pt>
    <dgm:pt modelId="{8FB86EE4-722E-4B68-BE0C-BF423A271C96}" type="sibTrans" cxnId="{2A43760B-2EC3-4BBE-90FD-EA56320168F2}">
      <dgm:prSet/>
      <dgm:spPr/>
      <dgm:t>
        <a:bodyPr/>
        <a:lstStyle/>
        <a:p>
          <a:endParaRPr lang="en-GB"/>
        </a:p>
      </dgm:t>
    </dgm:pt>
    <dgm:pt modelId="{D09B43C9-487B-4932-B572-FAF5FB13D72E}" type="pres">
      <dgm:prSet presAssocID="{CFE7C391-189C-4A3C-9304-2D564C488234}" presName="Name0" presStyleCnt="0">
        <dgm:presLayoutVars>
          <dgm:dir/>
          <dgm:resizeHandles val="exact"/>
        </dgm:presLayoutVars>
      </dgm:prSet>
      <dgm:spPr/>
      <dgm:t>
        <a:bodyPr/>
        <a:lstStyle/>
        <a:p>
          <a:endParaRPr lang="en-GB"/>
        </a:p>
      </dgm:t>
    </dgm:pt>
    <dgm:pt modelId="{D3B83EF3-A4F5-49D3-B58D-6A9BD8ADA46F}" type="pres">
      <dgm:prSet presAssocID="{5E64CD08-079D-4CA8-996C-656486B73D34}" presName="composite" presStyleCnt="0"/>
      <dgm:spPr/>
    </dgm:pt>
    <dgm:pt modelId="{03FDE25D-56FA-4A03-8D08-C8EF9DDEFE97}" type="pres">
      <dgm:prSet presAssocID="{5E64CD08-079D-4CA8-996C-656486B73D34}" presName="rect1" presStyleLbl="bgImgPlace1" presStyleIdx="0" presStyleCnt="15"/>
      <dgm:spPr>
        <a:blipFill rotWithShape="1">
          <a:blip xmlns:r="http://schemas.openxmlformats.org/officeDocument/2006/relationships" r:embed="rId1"/>
          <a:stretch>
            <a:fillRect/>
          </a:stretch>
        </a:blipFill>
      </dgm:spPr>
    </dgm:pt>
    <dgm:pt modelId="{B4327A9C-FE27-410F-BE4C-8F74864A9FA4}" type="pres">
      <dgm:prSet presAssocID="{5E64CD08-079D-4CA8-996C-656486B73D34}" presName="wedgeRectCallout1" presStyleLbl="node1" presStyleIdx="0" presStyleCnt="15">
        <dgm:presLayoutVars>
          <dgm:bulletEnabled val="1"/>
        </dgm:presLayoutVars>
      </dgm:prSet>
      <dgm:spPr/>
      <dgm:t>
        <a:bodyPr/>
        <a:lstStyle/>
        <a:p>
          <a:endParaRPr lang="en-GB"/>
        </a:p>
      </dgm:t>
    </dgm:pt>
    <dgm:pt modelId="{5258A8B2-BABC-4581-9B4F-B60C4AA2AB8B}" type="pres">
      <dgm:prSet presAssocID="{E7CA5F4A-1C90-4F78-A3AF-964C4367A341}" presName="sibTrans" presStyleCnt="0"/>
      <dgm:spPr/>
    </dgm:pt>
    <dgm:pt modelId="{67807534-3608-44AF-8C2F-82E0F505FCFC}" type="pres">
      <dgm:prSet presAssocID="{A8493B5B-5D46-43D8-B9CE-EBC43D0E4C2C}" presName="composite" presStyleCnt="0"/>
      <dgm:spPr/>
    </dgm:pt>
    <dgm:pt modelId="{DE7B521B-A310-4D40-B200-B2DB7EE611C6}" type="pres">
      <dgm:prSet presAssocID="{A8493B5B-5D46-43D8-B9CE-EBC43D0E4C2C}" presName="rect1" presStyleLbl="bgImgPlace1" presStyleIdx="1" presStyleCnt="15"/>
      <dgm:spPr>
        <a:blipFill rotWithShape="1">
          <a:blip xmlns:r="http://schemas.openxmlformats.org/officeDocument/2006/relationships" r:embed="rId2"/>
          <a:stretch>
            <a:fillRect/>
          </a:stretch>
        </a:blipFill>
      </dgm:spPr>
    </dgm:pt>
    <dgm:pt modelId="{FC9E1964-7C6B-414B-A2ED-175613CF5201}" type="pres">
      <dgm:prSet presAssocID="{A8493B5B-5D46-43D8-B9CE-EBC43D0E4C2C}" presName="wedgeRectCallout1" presStyleLbl="node1" presStyleIdx="1" presStyleCnt="15">
        <dgm:presLayoutVars>
          <dgm:bulletEnabled val="1"/>
        </dgm:presLayoutVars>
      </dgm:prSet>
      <dgm:spPr/>
      <dgm:t>
        <a:bodyPr/>
        <a:lstStyle/>
        <a:p>
          <a:endParaRPr lang="en-GB"/>
        </a:p>
      </dgm:t>
    </dgm:pt>
    <dgm:pt modelId="{74741AC3-1B04-4D83-BA39-A73D71FA87F8}" type="pres">
      <dgm:prSet presAssocID="{8C3D8AAB-A1C5-4C74-964C-17210E9933BD}" presName="sibTrans" presStyleCnt="0"/>
      <dgm:spPr/>
    </dgm:pt>
    <dgm:pt modelId="{CB7918E1-5C39-467A-9462-EBA0CB9E0966}" type="pres">
      <dgm:prSet presAssocID="{E1715996-0A44-4305-9BF3-AFED31F8E1FE}" presName="composite" presStyleCnt="0"/>
      <dgm:spPr/>
    </dgm:pt>
    <dgm:pt modelId="{0F9576EC-6841-410E-B088-385984F84075}" type="pres">
      <dgm:prSet presAssocID="{E1715996-0A44-4305-9BF3-AFED31F8E1FE}" presName="rect1" presStyleLbl="bgImgPlace1" presStyleIdx="2" presStyleCnt="15"/>
      <dgm:spPr>
        <a:blipFill rotWithShape="1">
          <a:blip xmlns:r="http://schemas.openxmlformats.org/officeDocument/2006/relationships" r:embed="rId3"/>
          <a:stretch>
            <a:fillRect/>
          </a:stretch>
        </a:blipFill>
      </dgm:spPr>
    </dgm:pt>
    <dgm:pt modelId="{EC5E83B3-A2E9-4BCD-B2CA-E5FA625778F5}" type="pres">
      <dgm:prSet presAssocID="{E1715996-0A44-4305-9BF3-AFED31F8E1FE}" presName="wedgeRectCallout1" presStyleLbl="node1" presStyleIdx="2" presStyleCnt="15">
        <dgm:presLayoutVars>
          <dgm:bulletEnabled val="1"/>
        </dgm:presLayoutVars>
      </dgm:prSet>
      <dgm:spPr/>
      <dgm:t>
        <a:bodyPr/>
        <a:lstStyle/>
        <a:p>
          <a:endParaRPr lang="en-GB"/>
        </a:p>
      </dgm:t>
    </dgm:pt>
    <dgm:pt modelId="{550C0902-CD43-4A9F-AB24-DF62EAE12B86}" type="pres">
      <dgm:prSet presAssocID="{7321839D-33B7-4B69-9E8A-C83637CC113C}" presName="sibTrans" presStyleCnt="0"/>
      <dgm:spPr/>
    </dgm:pt>
    <dgm:pt modelId="{475A20A4-85A0-4190-AC6C-2EFBDA387A4C}" type="pres">
      <dgm:prSet presAssocID="{62FCD85C-B36A-466D-9CAD-AB553F399E77}" presName="composite" presStyleCnt="0"/>
      <dgm:spPr/>
    </dgm:pt>
    <dgm:pt modelId="{E16BE17B-0656-4B6F-81AF-20CBCAAF3ABF}" type="pres">
      <dgm:prSet presAssocID="{62FCD85C-B36A-466D-9CAD-AB553F399E77}" presName="rect1" presStyleLbl="bgImgPlace1" presStyleIdx="3" presStyleCnt="15"/>
      <dgm:spPr>
        <a:blipFill rotWithShape="1">
          <a:blip xmlns:r="http://schemas.openxmlformats.org/officeDocument/2006/relationships" r:embed="rId4"/>
          <a:stretch>
            <a:fillRect/>
          </a:stretch>
        </a:blipFill>
      </dgm:spPr>
    </dgm:pt>
    <dgm:pt modelId="{8F6372DC-8C30-4480-B5F6-E15FECCC6F24}" type="pres">
      <dgm:prSet presAssocID="{62FCD85C-B36A-466D-9CAD-AB553F399E77}" presName="wedgeRectCallout1" presStyleLbl="node1" presStyleIdx="3" presStyleCnt="15">
        <dgm:presLayoutVars>
          <dgm:bulletEnabled val="1"/>
        </dgm:presLayoutVars>
      </dgm:prSet>
      <dgm:spPr/>
      <dgm:t>
        <a:bodyPr/>
        <a:lstStyle/>
        <a:p>
          <a:endParaRPr lang="en-GB"/>
        </a:p>
      </dgm:t>
    </dgm:pt>
    <dgm:pt modelId="{C76CE56B-B3FF-459D-8886-B92A5888B90F}" type="pres">
      <dgm:prSet presAssocID="{911EC06A-C1FF-49A2-833E-D9B5C8589B3E}" presName="sibTrans" presStyleCnt="0"/>
      <dgm:spPr/>
    </dgm:pt>
    <dgm:pt modelId="{E85227C7-1F99-473D-BCAA-CA6388196352}" type="pres">
      <dgm:prSet presAssocID="{7431EDA9-28FC-4A8B-A6E4-54B606F5B892}" presName="composite" presStyleCnt="0"/>
      <dgm:spPr/>
    </dgm:pt>
    <dgm:pt modelId="{E0F25ADA-EC93-4D53-A644-58B522FDEDD2}" type="pres">
      <dgm:prSet presAssocID="{7431EDA9-28FC-4A8B-A6E4-54B606F5B892}" presName="rect1" presStyleLbl="bgImgPlace1" presStyleIdx="4" presStyleCnt="15"/>
      <dgm:spPr>
        <a:blipFill rotWithShape="1">
          <a:blip xmlns:r="http://schemas.openxmlformats.org/officeDocument/2006/relationships" r:embed="rId5"/>
          <a:stretch>
            <a:fillRect/>
          </a:stretch>
        </a:blipFill>
      </dgm:spPr>
    </dgm:pt>
    <dgm:pt modelId="{E0F9D861-CDD6-4D3D-8DC9-F61DECBD1015}" type="pres">
      <dgm:prSet presAssocID="{7431EDA9-28FC-4A8B-A6E4-54B606F5B892}" presName="wedgeRectCallout1" presStyleLbl="node1" presStyleIdx="4" presStyleCnt="15">
        <dgm:presLayoutVars>
          <dgm:bulletEnabled val="1"/>
        </dgm:presLayoutVars>
      </dgm:prSet>
      <dgm:spPr/>
      <dgm:t>
        <a:bodyPr/>
        <a:lstStyle/>
        <a:p>
          <a:endParaRPr lang="en-GB"/>
        </a:p>
      </dgm:t>
    </dgm:pt>
    <dgm:pt modelId="{DACB5BCC-8D16-4B56-87A3-B365E142B82E}" type="pres">
      <dgm:prSet presAssocID="{84341AFC-7EC3-47DB-9537-34AF5D7C9E92}" presName="sibTrans" presStyleCnt="0"/>
      <dgm:spPr/>
    </dgm:pt>
    <dgm:pt modelId="{B7FA91A2-3C41-4418-B92C-FDB1FD95791A}" type="pres">
      <dgm:prSet presAssocID="{EB41F924-F0B7-417D-BEE7-003E168F90AB}" presName="composite" presStyleCnt="0"/>
      <dgm:spPr/>
    </dgm:pt>
    <dgm:pt modelId="{922B0646-DB2D-4637-9705-0E545858D97C}" type="pres">
      <dgm:prSet presAssocID="{EB41F924-F0B7-417D-BEE7-003E168F90AB}" presName="rect1" presStyleLbl="bgImgPlace1" presStyleIdx="5" presStyleCnt="15"/>
      <dgm:spPr>
        <a:blipFill rotWithShape="1">
          <a:blip xmlns:r="http://schemas.openxmlformats.org/officeDocument/2006/relationships" r:embed="rId6"/>
          <a:stretch>
            <a:fillRect/>
          </a:stretch>
        </a:blipFill>
      </dgm:spPr>
    </dgm:pt>
    <dgm:pt modelId="{6C6E913E-5815-4598-8A80-72C57EB70FFF}" type="pres">
      <dgm:prSet presAssocID="{EB41F924-F0B7-417D-BEE7-003E168F90AB}" presName="wedgeRectCallout1" presStyleLbl="node1" presStyleIdx="5" presStyleCnt="15">
        <dgm:presLayoutVars>
          <dgm:bulletEnabled val="1"/>
        </dgm:presLayoutVars>
      </dgm:prSet>
      <dgm:spPr/>
      <dgm:t>
        <a:bodyPr/>
        <a:lstStyle/>
        <a:p>
          <a:endParaRPr lang="en-GB"/>
        </a:p>
      </dgm:t>
    </dgm:pt>
    <dgm:pt modelId="{92670EEF-0BEA-4837-ABF5-2C85E6AE5ED9}" type="pres">
      <dgm:prSet presAssocID="{D394C65E-950C-4B85-8137-2580B8CB48A5}" presName="sibTrans" presStyleCnt="0"/>
      <dgm:spPr/>
    </dgm:pt>
    <dgm:pt modelId="{C98AFC3E-238D-4B3D-9939-D173AE78FF56}" type="pres">
      <dgm:prSet presAssocID="{51FDC586-437A-4B29-8FD8-D6321D328165}" presName="composite" presStyleCnt="0"/>
      <dgm:spPr/>
    </dgm:pt>
    <dgm:pt modelId="{AEAF9DB5-661A-4C0A-B99F-FC3644D2ABEB}" type="pres">
      <dgm:prSet presAssocID="{51FDC586-437A-4B29-8FD8-D6321D328165}" presName="rect1" presStyleLbl="bgImgPlace1" presStyleIdx="6" presStyleCnt="15"/>
      <dgm:spPr>
        <a:blipFill rotWithShape="1">
          <a:blip xmlns:r="http://schemas.openxmlformats.org/officeDocument/2006/relationships" r:embed="rId7"/>
          <a:stretch>
            <a:fillRect/>
          </a:stretch>
        </a:blipFill>
      </dgm:spPr>
    </dgm:pt>
    <dgm:pt modelId="{4E080649-D688-417F-91F0-5C1944E81C25}" type="pres">
      <dgm:prSet presAssocID="{51FDC586-437A-4B29-8FD8-D6321D328165}" presName="wedgeRectCallout1" presStyleLbl="node1" presStyleIdx="6" presStyleCnt="15">
        <dgm:presLayoutVars>
          <dgm:bulletEnabled val="1"/>
        </dgm:presLayoutVars>
      </dgm:prSet>
      <dgm:spPr/>
      <dgm:t>
        <a:bodyPr/>
        <a:lstStyle/>
        <a:p>
          <a:endParaRPr lang="en-GB"/>
        </a:p>
      </dgm:t>
    </dgm:pt>
    <dgm:pt modelId="{EDEC566D-ECB4-45CB-ABF1-86205B7D1359}" type="pres">
      <dgm:prSet presAssocID="{7EEB0862-C2EA-4203-8FA1-0CA3F928147D}" presName="sibTrans" presStyleCnt="0"/>
      <dgm:spPr/>
    </dgm:pt>
    <dgm:pt modelId="{13E0D7D2-5455-4F50-9D18-904C810AAD01}" type="pres">
      <dgm:prSet presAssocID="{6286A642-EE92-4519-B7F3-B5879FCC4304}" presName="composite" presStyleCnt="0"/>
      <dgm:spPr/>
    </dgm:pt>
    <dgm:pt modelId="{B528A77F-A8F3-41F8-A4DE-83DE4EEB4EC7}" type="pres">
      <dgm:prSet presAssocID="{6286A642-EE92-4519-B7F3-B5879FCC4304}" presName="rect1" presStyleLbl="bgImgPlace1" presStyleIdx="7" presStyleCnt="15"/>
      <dgm:spPr>
        <a:blipFill rotWithShape="1">
          <a:blip xmlns:r="http://schemas.openxmlformats.org/officeDocument/2006/relationships" r:embed="rId8"/>
          <a:stretch>
            <a:fillRect/>
          </a:stretch>
        </a:blipFill>
      </dgm:spPr>
    </dgm:pt>
    <dgm:pt modelId="{C21065F3-8B81-4FA1-AB1D-15B6979CF2F9}" type="pres">
      <dgm:prSet presAssocID="{6286A642-EE92-4519-B7F3-B5879FCC4304}" presName="wedgeRectCallout1" presStyleLbl="node1" presStyleIdx="7" presStyleCnt="15">
        <dgm:presLayoutVars>
          <dgm:bulletEnabled val="1"/>
        </dgm:presLayoutVars>
      </dgm:prSet>
      <dgm:spPr/>
      <dgm:t>
        <a:bodyPr/>
        <a:lstStyle/>
        <a:p>
          <a:endParaRPr lang="en-GB"/>
        </a:p>
      </dgm:t>
    </dgm:pt>
    <dgm:pt modelId="{0E53A507-2FA8-4E65-97A7-BDD7E0361FBB}" type="pres">
      <dgm:prSet presAssocID="{CF7270D5-99C3-40B4-9349-9025CFB69580}" presName="sibTrans" presStyleCnt="0"/>
      <dgm:spPr/>
    </dgm:pt>
    <dgm:pt modelId="{B417525A-8AA1-45FD-98F0-6A47BAC9F106}" type="pres">
      <dgm:prSet presAssocID="{F73B1BED-08F2-4E8B-92CC-10AF4BB1A8EB}" presName="composite" presStyleCnt="0"/>
      <dgm:spPr/>
    </dgm:pt>
    <dgm:pt modelId="{99C57855-4057-4AB6-9F06-03A6CED69A38}" type="pres">
      <dgm:prSet presAssocID="{F73B1BED-08F2-4E8B-92CC-10AF4BB1A8EB}" presName="rect1" presStyleLbl="bgImgPlace1" presStyleIdx="8" presStyleCnt="15"/>
      <dgm:spPr>
        <a:blipFill rotWithShape="1">
          <a:blip xmlns:r="http://schemas.openxmlformats.org/officeDocument/2006/relationships" r:embed="rId9"/>
          <a:stretch>
            <a:fillRect/>
          </a:stretch>
        </a:blipFill>
      </dgm:spPr>
    </dgm:pt>
    <dgm:pt modelId="{9956BE58-2C1B-4A36-A6E6-35E2B09123B2}" type="pres">
      <dgm:prSet presAssocID="{F73B1BED-08F2-4E8B-92CC-10AF4BB1A8EB}" presName="wedgeRectCallout1" presStyleLbl="node1" presStyleIdx="8" presStyleCnt="15">
        <dgm:presLayoutVars>
          <dgm:bulletEnabled val="1"/>
        </dgm:presLayoutVars>
      </dgm:prSet>
      <dgm:spPr/>
      <dgm:t>
        <a:bodyPr/>
        <a:lstStyle/>
        <a:p>
          <a:endParaRPr lang="en-GB"/>
        </a:p>
      </dgm:t>
    </dgm:pt>
    <dgm:pt modelId="{8EE3B57E-FDF3-4265-9EC4-293B4DCF6BD3}" type="pres">
      <dgm:prSet presAssocID="{E97EBA0A-4B96-456F-9539-B5E6DC8EDC93}" presName="sibTrans" presStyleCnt="0"/>
      <dgm:spPr/>
    </dgm:pt>
    <dgm:pt modelId="{5EDC9EB5-E209-4089-9381-9D77FFCAC117}" type="pres">
      <dgm:prSet presAssocID="{63F946B3-C022-4B86-AB0C-90D3FFA7DD63}" presName="composite" presStyleCnt="0"/>
      <dgm:spPr/>
    </dgm:pt>
    <dgm:pt modelId="{4DF73C35-A3F3-44DF-A20E-CA8F57CAAE2F}" type="pres">
      <dgm:prSet presAssocID="{63F946B3-C022-4B86-AB0C-90D3FFA7DD63}" presName="rect1" presStyleLbl="bgImgPlace1" presStyleIdx="9" presStyleCnt="15"/>
      <dgm:spPr>
        <a:blipFill rotWithShape="1">
          <a:blip xmlns:r="http://schemas.openxmlformats.org/officeDocument/2006/relationships" r:embed="rId10"/>
          <a:stretch>
            <a:fillRect/>
          </a:stretch>
        </a:blipFill>
      </dgm:spPr>
    </dgm:pt>
    <dgm:pt modelId="{AEEEB71B-23B6-4EEC-AEF5-DC14789D83C8}" type="pres">
      <dgm:prSet presAssocID="{63F946B3-C022-4B86-AB0C-90D3FFA7DD63}" presName="wedgeRectCallout1" presStyleLbl="node1" presStyleIdx="9" presStyleCnt="15">
        <dgm:presLayoutVars>
          <dgm:bulletEnabled val="1"/>
        </dgm:presLayoutVars>
      </dgm:prSet>
      <dgm:spPr/>
      <dgm:t>
        <a:bodyPr/>
        <a:lstStyle/>
        <a:p>
          <a:endParaRPr lang="en-GB"/>
        </a:p>
      </dgm:t>
    </dgm:pt>
    <dgm:pt modelId="{710B7C93-9EC2-4950-800E-09A3E6CF4522}" type="pres">
      <dgm:prSet presAssocID="{3A42431A-B5F9-447E-B2EB-64A43B9C6710}" presName="sibTrans" presStyleCnt="0"/>
      <dgm:spPr/>
    </dgm:pt>
    <dgm:pt modelId="{C0A98F3E-8DC3-438D-8DBA-69B703BFE72A}" type="pres">
      <dgm:prSet presAssocID="{CB9465C6-B342-41F2-A436-97C27A01D476}" presName="composite" presStyleCnt="0"/>
      <dgm:spPr/>
    </dgm:pt>
    <dgm:pt modelId="{9566B79B-AE06-436E-B8B9-F989FD2E8B17}" type="pres">
      <dgm:prSet presAssocID="{CB9465C6-B342-41F2-A436-97C27A01D476}" presName="rect1" presStyleLbl="bgImgPlace1" presStyleIdx="10" presStyleCnt="15"/>
      <dgm:spPr>
        <a:blipFill rotWithShape="1">
          <a:blip xmlns:r="http://schemas.openxmlformats.org/officeDocument/2006/relationships" r:embed="rId11"/>
          <a:stretch>
            <a:fillRect/>
          </a:stretch>
        </a:blipFill>
      </dgm:spPr>
    </dgm:pt>
    <dgm:pt modelId="{7A15CCC5-00D2-438B-B2BD-103DAF73BB0C}" type="pres">
      <dgm:prSet presAssocID="{CB9465C6-B342-41F2-A436-97C27A01D476}" presName="wedgeRectCallout1" presStyleLbl="node1" presStyleIdx="10" presStyleCnt="15">
        <dgm:presLayoutVars>
          <dgm:bulletEnabled val="1"/>
        </dgm:presLayoutVars>
      </dgm:prSet>
      <dgm:spPr/>
      <dgm:t>
        <a:bodyPr/>
        <a:lstStyle/>
        <a:p>
          <a:endParaRPr lang="en-GB"/>
        </a:p>
      </dgm:t>
    </dgm:pt>
    <dgm:pt modelId="{6C590DE2-054E-49EF-91F5-F504D4C4664E}" type="pres">
      <dgm:prSet presAssocID="{24505562-470F-4D0E-A4E5-5A7080019DEB}" presName="sibTrans" presStyleCnt="0"/>
      <dgm:spPr/>
    </dgm:pt>
    <dgm:pt modelId="{059E793F-24D5-40E9-8914-CDB2EFBD484F}" type="pres">
      <dgm:prSet presAssocID="{8C263CDC-ADA3-49FA-8776-BA2EE774EFC6}" presName="composite" presStyleCnt="0"/>
      <dgm:spPr/>
    </dgm:pt>
    <dgm:pt modelId="{4BFA49E8-A1CA-4266-8319-1E4C81000F29}" type="pres">
      <dgm:prSet presAssocID="{8C263CDC-ADA3-49FA-8776-BA2EE774EFC6}" presName="rect1" presStyleLbl="bgImgPlace1" presStyleIdx="11" presStyleCnt="15"/>
      <dgm:spPr>
        <a:blipFill rotWithShape="1">
          <a:blip xmlns:r="http://schemas.openxmlformats.org/officeDocument/2006/relationships" r:embed="rId12"/>
          <a:stretch>
            <a:fillRect/>
          </a:stretch>
        </a:blipFill>
      </dgm:spPr>
    </dgm:pt>
    <dgm:pt modelId="{5075B210-E83C-41F6-861B-75F78822B0E3}" type="pres">
      <dgm:prSet presAssocID="{8C263CDC-ADA3-49FA-8776-BA2EE774EFC6}" presName="wedgeRectCallout1" presStyleLbl="node1" presStyleIdx="11" presStyleCnt="15">
        <dgm:presLayoutVars>
          <dgm:bulletEnabled val="1"/>
        </dgm:presLayoutVars>
      </dgm:prSet>
      <dgm:spPr/>
      <dgm:t>
        <a:bodyPr/>
        <a:lstStyle/>
        <a:p>
          <a:endParaRPr lang="en-GB"/>
        </a:p>
      </dgm:t>
    </dgm:pt>
    <dgm:pt modelId="{7CFBC363-1422-4701-B4E6-C702E7338D7E}" type="pres">
      <dgm:prSet presAssocID="{C116516C-C9D8-4625-8140-40D2C33950A1}" presName="sibTrans" presStyleCnt="0"/>
      <dgm:spPr/>
    </dgm:pt>
    <dgm:pt modelId="{0280E954-753D-46CD-AA61-81C0DA7AC6D1}" type="pres">
      <dgm:prSet presAssocID="{9327AF3C-73E5-4A44-B2CC-94CD845DCB8F}" presName="composite" presStyleCnt="0"/>
      <dgm:spPr/>
    </dgm:pt>
    <dgm:pt modelId="{3873913B-0372-4D39-B4ED-E9184F1E2A5C}" type="pres">
      <dgm:prSet presAssocID="{9327AF3C-73E5-4A44-B2CC-94CD845DCB8F}" presName="rect1" presStyleLbl="bgImgPlace1" presStyleIdx="12" presStyleCnt="15"/>
      <dgm:spPr>
        <a:blipFill rotWithShape="1">
          <a:blip xmlns:r="http://schemas.openxmlformats.org/officeDocument/2006/relationships" r:embed="rId13"/>
          <a:stretch>
            <a:fillRect/>
          </a:stretch>
        </a:blipFill>
      </dgm:spPr>
    </dgm:pt>
    <dgm:pt modelId="{7306A245-9671-4896-9B32-4B95DA5B6525}" type="pres">
      <dgm:prSet presAssocID="{9327AF3C-73E5-4A44-B2CC-94CD845DCB8F}" presName="wedgeRectCallout1" presStyleLbl="node1" presStyleIdx="12" presStyleCnt="15">
        <dgm:presLayoutVars>
          <dgm:bulletEnabled val="1"/>
        </dgm:presLayoutVars>
      </dgm:prSet>
      <dgm:spPr/>
      <dgm:t>
        <a:bodyPr/>
        <a:lstStyle/>
        <a:p>
          <a:endParaRPr lang="en-GB"/>
        </a:p>
      </dgm:t>
    </dgm:pt>
    <dgm:pt modelId="{E9349E60-3E9F-4711-A503-D43290C5B004}" type="pres">
      <dgm:prSet presAssocID="{B5C4CD07-664E-4226-A9CD-6F7A5DBF64B7}" presName="sibTrans" presStyleCnt="0"/>
      <dgm:spPr/>
    </dgm:pt>
    <dgm:pt modelId="{9C129013-6A3B-4A40-BC5F-EFBC0216A680}" type="pres">
      <dgm:prSet presAssocID="{7D31F9FC-CDC3-4E8B-8D42-C8169C76591F}" presName="composite" presStyleCnt="0"/>
      <dgm:spPr/>
    </dgm:pt>
    <dgm:pt modelId="{8F757C34-5601-45BF-92A3-842C68E86979}" type="pres">
      <dgm:prSet presAssocID="{7D31F9FC-CDC3-4E8B-8D42-C8169C76591F}" presName="rect1" presStyleLbl="bgImgPlace1" presStyleIdx="13" presStyleCnt="15"/>
      <dgm:spPr>
        <a:blipFill rotWithShape="1">
          <a:blip xmlns:r="http://schemas.openxmlformats.org/officeDocument/2006/relationships" r:embed="rId14"/>
          <a:stretch>
            <a:fillRect/>
          </a:stretch>
        </a:blipFill>
      </dgm:spPr>
    </dgm:pt>
    <dgm:pt modelId="{21EE5EC9-DEB6-4F5F-B164-D3B87E13ED2C}" type="pres">
      <dgm:prSet presAssocID="{7D31F9FC-CDC3-4E8B-8D42-C8169C76591F}" presName="wedgeRectCallout1" presStyleLbl="node1" presStyleIdx="13" presStyleCnt="15">
        <dgm:presLayoutVars>
          <dgm:bulletEnabled val="1"/>
        </dgm:presLayoutVars>
      </dgm:prSet>
      <dgm:spPr/>
      <dgm:t>
        <a:bodyPr/>
        <a:lstStyle/>
        <a:p>
          <a:endParaRPr lang="en-GB"/>
        </a:p>
      </dgm:t>
    </dgm:pt>
    <dgm:pt modelId="{E38C9E40-7026-4518-8A9D-BCCA597E6715}" type="pres">
      <dgm:prSet presAssocID="{59EC6D8C-0736-4B5B-AAFD-38BE9823FECD}" presName="sibTrans" presStyleCnt="0"/>
      <dgm:spPr/>
    </dgm:pt>
    <dgm:pt modelId="{473B3B5A-D7D5-4955-B2AF-2BE6BDF4D530}" type="pres">
      <dgm:prSet presAssocID="{0DD789C7-46AF-47E8-9690-D70FA897D1B7}" presName="composite" presStyleCnt="0"/>
      <dgm:spPr/>
    </dgm:pt>
    <dgm:pt modelId="{1572D4BD-2175-401D-BA04-14AAEE0ECFFF}" type="pres">
      <dgm:prSet presAssocID="{0DD789C7-46AF-47E8-9690-D70FA897D1B7}" presName="rect1" presStyleLbl="bgImgPlace1" presStyleIdx="14" presStyleCnt="15"/>
      <dgm:spPr>
        <a:blipFill rotWithShape="1">
          <a:blip xmlns:r="http://schemas.openxmlformats.org/officeDocument/2006/relationships" r:embed="rId15"/>
          <a:stretch>
            <a:fillRect/>
          </a:stretch>
        </a:blipFill>
      </dgm:spPr>
    </dgm:pt>
    <dgm:pt modelId="{B34C4797-6F58-4971-A99E-32498BC209D7}" type="pres">
      <dgm:prSet presAssocID="{0DD789C7-46AF-47E8-9690-D70FA897D1B7}" presName="wedgeRectCallout1" presStyleLbl="node1" presStyleIdx="14" presStyleCnt="15">
        <dgm:presLayoutVars>
          <dgm:bulletEnabled val="1"/>
        </dgm:presLayoutVars>
      </dgm:prSet>
      <dgm:spPr/>
      <dgm:t>
        <a:bodyPr/>
        <a:lstStyle/>
        <a:p>
          <a:endParaRPr lang="en-GB"/>
        </a:p>
      </dgm:t>
    </dgm:pt>
  </dgm:ptLst>
  <dgm:cxnLst>
    <dgm:cxn modelId="{004D34E8-16C1-4B03-B715-E53513970450}" srcId="{CFE7C391-189C-4A3C-9304-2D564C488234}" destId="{F73B1BED-08F2-4E8B-92CC-10AF4BB1A8EB}" srcOrd="8" destOrd="0" parTransId="{D87C297E-0071-43DC-AFCE-268EE3ED87A5}" sibTransId="{E97EBA0A-4B96-456F-9539-B5E6DC8EDC93}"/>
    <dgm:cxn modelId="{D6DAF84F-1C81-479D-8C7D-31468A3C312C}" srcId="{CFE7C391-189C-4A3C-9304-2D564C488234}" destId="{5E64CD08-079D-4CA8-996C-656486B73D34}" srcOrd="0" destOrd="0" parTransId="{EE0F501C-0406-4833-94D5-0B738FBD762D}" sibTransId="{E7CA5F4A-1C90-4F78-A3AF-964C4367A341}"/>
    <dgm:cxn modelId="{77CB172E-F993-424F-9405-5B735C5B36AB}" type="presOf" srcId="{CB9465C6-B342-41F2-A436-97C27A01D476}" destId="{7A15CCC5-00D2-438B-B2BD-103DAF73BB0C}" srcOrd="0" destOrd="0" presId="urn:microsoft.com/office/officeart/2008/layout/BendingPictureCaptionList"/>
    <dgm:cxn modelId="{217D85A6-4D29-4BA2-B6EF-195FADC73F5D}" type="presOf" srcId="{7D31F9FC-CDC3-4E8B-8D42-C8169C76591F}" destId="{21EE5EC9-DEB6-4F5F-B164-D3B87E13ED2C}" srcOrd="0" destOrd="0" presId="urn:microsoft.com/office/officeart/2008/layout/BendingPictureCaptionList"/>
    <dgm:cxn modelId="{C258D0CC-30C4-4415-BEC3-D865413219E2}" srcId="{CFE7C391-189C-4A3C-9304-2D564C488234}" destId="{E1715996-0A44-4305-9BF3-AFED31F8E1FE}" srcOrd="2" destOrd="0" parTransId="{2FC7459A-CA3C-40D7-83FD-C7A79E5179EE}" sibTransId="{7321839D-33B7-4B69-9E8A-C83637CC113C}"/>
    <dgm:cxn modelId="{93AD70B1-F8D5-4536-A427-E8BBAEB69486}" type="presOf" srcId="{CFE7C391-189C-4A3C-9304-2D564C488234}" destId="{D09B43C9-487B-4932-B572-FAF5FB13D72E}" srcOrd="0" destOrd="0" presId="urn:microsoft.com/office/officeart/2008/layout/BendingPictureCaptionList"/>
    <dgm:cxn modelId="{4EF541A4-DE17-4D61-9A49-EF1E80C33BD5}" type="presOf" srcId="{7431EDA9-28FC-4A8B-A6E4-54B606F5B892}" destId="{E0F9D861-CDD6-4D3D-8DC9-F61DECBD1015}" srcOrd="0" destOrd="0" presId="urn:microsoft.com/office/officeart/2008/layout/BendingPictureCaptionList"/>
    <dgm:cxn modelId="{00F6986A-B53D-4989-8A2E-437B171B707A}" type="presOf" srcId="{51FDC586-437A-4B29-8FD8-D6321D328165}" destId="{4E080649-D688-417F-91F0-5C1944E81C25}" srcOrd="0" destOrd="0" presId="urn:microsoft.com/office/officeart/2008/layout/BendingPictureCaptionList"/>
    <dgm:cxn modelId="{DB3C69BE-303E-4E42-835D-CFDAFE39F836}" srcId="{CFE7C391-189C-4A3C-9304-2D564C488234}" destId="{A8493B5B-5D46-43D8-B9CE-EBC43D0E4C2C}" srcOrd="1" destOrd="0" parTransId="{85DC5FD0-D386-4437-8C06-D8F2181ABA40}" sibTransId="{8C3D8AAB-A1C5-4C74-964C-17210E9933BD}"/>
    <dgm:cxn modelId="{2A43760B-2EC3-4BBE-90FD-EA56320168F2}" srcId="{CFE7C391-189C-4A3C-9304-2D564C488234}" destId="{0DD789C7-46AF-47E8-9690-D70FA897D1B7}" srcOrd="14" destOrd="0" parTransId="{92A1CF68-C8EE-4E8A-B0A8-E0E7ACF61056}" sibTransId="{8FB86EE4-722E-4B68-BE0C-BF423A271C96}"/>
    <dgm:cxn modelId="{DD361352-E439-4EFB-A8CF-CD86CE674438}" type="presOf" srcId="{6286A642-EE92-4519-B7F3-B5879FCC4304}" destId="{C21065F3-8B81-4FA1-AB1D-15B6979CF2F9}" srcOrd="0" destOrd="0" presId="urn:microsoft.com/office/officeart/2008/layout/BendingPictureCaptionList"/>
    <dgm:cxn modelId="{7F953566-F852-4187-9580-995B3A0F7A23}" srcId="{CFE7C391-189C-4A3C-9304-2D564C488234}" destId="{CB9465C6-B342-41F2-A436-97C27A01D476}" srcOrd="10" destOrd="0" parTransId="{319DACA5-2A70-4FBB-AF08-D971D4B51FF6}" sibTransId="{24505562-470F-4D0E-A4E5-5A7080019DEB}"/>
    <dgm:cxn modelId="{A07F077D-1F10-43C5-AFA7-2CAA2A771DA0}" type="presOf" srcId="{62FCD85C-B36A-466D-9CAD-AB553F399E77}" destId="{8F6372DC-8C30-4480-B5F6-E15FECCC6F24}" srcOrd="0" destOrd="0" presId="urn:microsoft.com/office/officeart/2008/layout/BendingPictureCaptionList"/>
    <dgm:cxn modelId="{B184717B-EE4D-42F8-94D2-4F43157874A0}" type="presOf" srcId="{E1715996-0A44-4305-9BF3-AFED31F8E1FE}" destId="{EC5E83B3-A2E9-4BCD-B2CA-E5FA625778F5}" srcOrd="0" destOrd="0" presId="urn:microsoft.com/office/officeart/2008/layout/BendingPictureCaptionList"/>
    <dgm:cxn modelId="{012013D8-CCB5-4CFE-84B7-AED962CF98D1}" srcId="{CFE7C391-189C-4A3C-9304-2D564C488234}" destId="{7431EDA9-28FC-4A8B-A6E4-54B606F5B892}" srcOrd="4" destOrd="0" parTransId="{4C1D1464-848D-438E-9C05-8EF0E2E96DEB}" sibTransId="{84341AFC-7EC3-47DB-9537-34AF5D7C9E92}"/>
    <dgm:cxn modelId="{975D6036-C9F1-4134-BA30-3BF17C9F8273}" srcId="{CFE7C391-189C-4A3C-9304-2D564C488234}" destId="{62FCD85C-B36A-466D-9CAD-AB553F399E77}" srcOrd="3" destOrd="0" parTransId="{A13A6FDE-B01D-45F2-9084-1A5DFF7B61BA}" sibTransId="{911EC06A-C1FF-49A2-833E-D9B5C8589B3E}"/>
    <dgm:cxn modelId="{6698F8F9-400E-42A4-95E8-4361ED27E62C}" srcId="{CFE7C391-189C-4A3C-9304-2D564C488234}" destId="{8C263CDC-ADA3-49FA-8776-BA2EE774EFC6}" srcOrd="11" destOrd="0" parTransId="{11208492-6ABF-4B51-857B-F4F672787FCC}" sibTransId="{C116516C-C9D8-4625-8140-40D2C33950A1}"/>
    <dgm:cxn modelId="{F8A3BF27-5FE4-44B7-942E-28E75863AB1D}" type="presOf" srcId="{EB41F924-F0B7-417D-BEE7-003E168F90AB}" destId="{6C6E913E-5815-4598-8A80-72C57EB70FFF}" srcOrd="0" destOrd="0" presId="urn:microsoft.com/office/officeart/2008/layout/BendingPictureCaptionList"/>
    <dgm:cxn modelId="{156E2A67-7768-4C4A-BB17-4A278E7D2443}" type="presOf" srcId="{0DD789C7-46AF-47E8-9690-D70FA897D1B7}" destId="{B34C4797-6F58-4971-A99E-32498BC209D7}" srcOrd="0" destOrd="0" presId="urn:microsoft.com/office/officeart/2008/layout/BendingPictureCaptionList"/>
    <dgm:cxn modelId="{7E9BD480-7C23-4DA0-9049-4B082D7A84E6}" type="presOf" srcId="{5E64CD08-079D-4CA8-996C-656486B73D34}" destId="{B4327A9C-FE27-410F-BE4C-8F74864A9FA4}" srcOrd="0" destOrd="0" presId="urn:microsoft.com/office/officeart/2008/layout/BendingPictureCaptionList"/>
    <dgm:cxn modelId="{D34A45C6-912E-45E2-BF98-C800BD500A34}" srcId="{CFE7C391-189C-4A3C-9304-2D564C488234}" destId="{51FDC586-437A-4B29-8FD8-D6321D328165}" srcOrd="6" destOrd="0" parTransId="{02EFE560-BD46-4D64-AF76-A273E8A020A8}" sibTransId="{7EEB0862-C2EA-4203-8FA1-0CA3F928147D}"/>
    <dgm:cxn modelId="{E73C1C38-D8FE-46BF-8657-926C1F56B66B}" type="presOf" srcId="{9327AF3C-73E5-4A44-B2CC-94CD845DCB8F}" destId="{7306A245-9671-4896-9B32-4B95DA5B6525}" srcOrd="0" destOrd="0" presId="urn:microsoft.com/office/officeart/2008/layout/BendingPictureCaptionList"/>
    <dgm:cxn modelId="{E0BF2FF6-FECE-4987-9368-80F36D4738B2}" srcId="{CFE7C391-189C-4A3C-9304-2D564C488234}" destId="{6286A642-EE92-4519-B7F3-B5879FCC4304}" srcOrd="7" destOrd="0" parTransId="{D5216CA5-CFB7-4E4F-A63D-0422A61BA5AE}" sibTransId="{CF7270D5-99C3-40B4-9349-9025CFB69580}"/>
    <dgm:cxn modelId="{4D03312A-7F3D-42FD-902F-39F3A4C33127}" srcId="{CFE7C391-189C-4A3C-9304-2D564C488234}" destId="{63F946B3-C022-4B86-AB0C-90D3FFA7DD63}" srcOrd="9" destOrd="0" parTransId="{D68D9E37-9E1B-405E-A9A9-59EAC14B0CE0}" sibTransId="{3A42431A-B5F9-447E-B2EB-64A43B9C6710}"/>
    <dgm:cxn modelId="{0E733663-4B41-4727-8FC6-E97427973684}" type="presOf" srcId="{A8493B5B-5D46-43D8-B9CE-EBC43D0E4C2C}" destId="{FC9E1964-7C6B-414B-A2ED-175613CF5201}" srcOrd="0" destOrd="0" presId="urn:microsoft.com/office/officeart/2008/layout/BendingPictureCaptionList"/>
    <dgm:cxn modelId="{55C588C2-40F2-4F3F-86AB-50EDDE6036C5}" srcId="{CFE7C391-189C-4A3C-9304-2D564C488234}" destId="{EB41F924-F0B7-417D-BEE7-003E168F90AB}" srcOrd="5" destOrd="0" parTransId="{5A02F00A-6EEB-45B2-A138-448DB7C0CBD5}" sibTransId="{D394C65E-950C-4B85-8137-2580B8CB48A5}"/>
    <dgm:cxn modelId="{0AD7ECB2-97C6-4B6E-9AB6-B7AB57BB1BE1}" srcId="{CFE7C391-189C-4A3C-9304-2D564C488234}" destId="{9327AF3C-73E5-4A44-B2CC-94CD845DCB8F}" srcOrd="12" destOrd="0" parTransId="{28DA841F-8AF2-485E-B9E3-9ECE09DD4DA9}" sibTransId="{B5C4CD07-664E-4226-A9CD-6F7A5DBF64B7}"/>
    <dgm:cxn modelId="{15A865D7-D2DD-4ABA-8725-FECBCAE9B88B}" type="presOf" srcId="{8C263CDC-ADA3-49FA-8776-BA2EE774EFC6}" destId="{5075B210-E83C-41F6-861B-75F78822B0E3}" srcOrd="0" destOrd="0" presId="urn:microsoft.com/office/officeart/2008/layout/BendingPictureCaptionList"/>
    <dgm:cxn modelId="{7655C556-7BF1-4654-9650-DC61BBCAC348}" type="presOf" srcId="{63F946B3-C022-4B86-AB0C-90D3FFA7DD63}" destId="{AEEEB71B-23B6-4EEC-AEF5-DC14789D83C8}" srcOrd="0" destOrd="0" presId="urn:microsoft.com/office/officeart/2008/layout/BendingPictureCaptionList"/>
    <dgm:cxn modelId="{E6E20D9D-E5C9-4198-8069-E46564261366}" type="presOf" srcId="{F73B1BED-08F2-4E8B-92CC-10AF4BB1A8EB}" destId="{9956BE58-2C1B-4A36-A6E6-35E2B09123B2}" srcOrd="0" destOrd="0" presId="urn:microsoft.com/office/officeart/2008/layout/BendingPictureCaptionList"/>
    <dgm:cxn modelId="{A687E871-21ED-4934-AC9D-233BACC90FF7}" srcId="{CFE7C391-189C-4A3C-9304-2D564C488234}" destId="{7D31F9FC-CDC3-4E8B-8D42-C8169C76591F}" srcOrd="13" destOrd="0" parTransId="{EEEC7111-9352-4065-8010-A10EEC2F9647}" sibTransId="{59EC6D8C-0736-4B5B-AAFD-38BE9823FECD}"/>
    <dgm:cxn modelId="{E696E012-5440-4F4E-ABAB-C93F852F57C8}" type="presParOf" srcId="{D09B43C9-487B-4932-B572-FAF5FB13D72E}" destId="{D3B83EF3-A4F5-49D3-B58D-6A9BD8ADA46F}" srcOrd="0" destOrd="0" presId="urn:microsoft.com/office/officeart/2008/layout/BendingPictureCaptionList"/>
    <dgm:cxn modelId="{4A15ADE9-ED33-4576-8E63-76DE8C5FE160}" type="presParOf" srcId="{D3B83EF3-A4F5-49D3-B58D-6A9BD8ADA46F}" destId="{03FDE25D-56FA-4A03-8D08-C8EF9DDEFE97}" srcOrd="0" destOrd="0" presId="urn:microsoft.com/office/officeart/2008/layout/BendingPictureCaptionList"/>
    <dgm:cxn modelId="{9E641990-2A9F-4FF2-9037-B88714C5AF1E}" type="presParOf" srcId="{D3B83EF3-A4F5-49D3-B58D-6A9BD8ADA46F}" destId="{B4327A9C-FE27-410F-BE4C-8F74864A9FA4}" srcOrd="1" destOrd="0" presId="urn:microsoft.com/office/officeart/2008/layout/BendingPictureCaptionList"/>
    <dgm:cxn modelId="{7EF5B82B-76F5-46B6-AACC-BD9192E8F56F}" type="presParOf" srcId="{D09B43C9-487B-4932-B572-FAF5FB13D72E}" destId="{5258A8B2-BABC-4581-9B4F-B60C4AA2AB8B}" srcOrd="1" destOrd="0" presId="urn:microsoft.com/office/officeart/2008/layout/BendingPictureCaptionList"/>
    <dgm:cxn modelId="{B0BAFB63-4E44-4FC4-A4E8-DF43FB2EB795}" type="presParOf" srcId="{D09B43C9-487B-4932-B572-FAF5FB13D72E}" destId="{67807534-3608-44AF-8C2F-82E0F505FCFC}" srcOrd="2" destOrd="0" presId="urn:microsoft.com/office/officeart/2008/layout/BendingPictureCaptionList"/>
    <dgm:cxn modelId="{7FA072CC-255B-4E86-B2F4-8E76A7CD4D11}" type="presParOf" srcId="{67807534-3608-44AF-8C2F-82E0F505FCFC}" destId="{DE7B521B-A310-4D40-B200-B2DB7EE611C6}" srcOrd="0" destOrd="0" presId="urn:microsoft.com/office/officeart/2008/layout/BendingPictureCaptionList"/>
    <dgm:cxn modelId="{C7A8C106-79E4-43EC-8D94-7F332043C49C}" type="presParOf" srcId="{67807534-3608-44AF-8C2F-82E0F505FCFC}" destId="{FC9E1964-7C6B-414B-A2ED-175613CF5201}" srcOrd="1" destOrd="0" presId="urn:microsoft.com/office/officeart/2008/layout/BendingPictureCaptionList"/>
    <dgm:cxn modelId="{38B5E0F7-55D6-46A9-9DB9-C29FBF6C15D3}" type="presParOf" srcId="{D09B43C9-487B-4932-B572-FAF5FB13D72E}" destId="{74741AC3-1B04-4D83-BA39-A73D71FA87F8}" srcOrd="3" destOrd="0" presId="urn:microsoft.com/office/officeart/2008/layout/BendingPictureCaptionList"/>
    <dgm:cxn modelId="{FB32A9FB-F8C5-4E20-B120-2A68BB568E9E}" type="presParOf" srcId="{D09B43C9-487B-4932-B572-FAF5FB13D72E}" destId="{CB7918E1-5C39-467A-9462-EBA0CB9E0966}" srcOrd="4" destOrd="0" presId="urn:microsoft.com/office/officeart/2008/layout/BendingPictureCaptionList"/>
    <dgm:cxn modelId="{9F411D81-FDA5-4CB5-AD48-84D5E55B6E0E}" type="presParOf" srcId="{CB7918E1-5C39-467A-9462-EBA0CB9E0966}" destId="{0F9576EC-6841-410E-B088-385984F84075}" srcOrd="0" destOrd="0" presId="urn:microsoft.com/office/officeart/2008/layout/BendingPictureCaptionList"/>
    <dgm:cxn modelId="{973A62A9-D2A5-4888-BF91-E363A2016F38}" type="presParOf" srcId="{CB7918E1-5C39-467A-9462-EBA0CB9E0966}" destId="{EC5E83B3-A2E9-4BCD-B2CA-E5FA625778F5}" srcOrd="1" destOrd="0" presId="urn:microsoft.com/office/officeart/2008/layout/BendingPictureCaptionList"/>
    <dgm:cxn modelId="{BF869CDE-1748-4FE2-A4DD-885E4A5F581B}" type="presParOf" srcId="{D09B43C9-487B-4932-B572-FAF5FB13D72E}" destId="{550C0902-CD43-4A9F-AB24-DF62EAE12B86}" srcOrd="5" destOrd="0" presId="urn:microsoft.com/office/officeart/2008/layout/BendingPictureCaptionList"/>
    <dgm:cxn modelId="{9D951322-B81C-4FF6-AFB1-46753C379999}" type="presParOf" srcId="{D09B43C9-487B-4932-B572-FAF5FB13D72E}" destId="{475A20A4-85A0-4190-AC6C-2EFBDA387A4C}" srcOrd="6" destOrd="0" presId="urn:microsoft.com/office/officeart/2008/layout/BendingPictureCaptionList"/>
    <dgm:cxn modelId="{D2604810-93D0-4D74-B884-0CB0B41D8D68}" type="presParOf" srcId="{475A20A4-85A0-4190-AC6C-2EFBDA387A4C}" destId="{E16BE17B-0656-4B6F-81AF-20CBCAAF3ABF}" srcOrd="0" destOrd="0" presId="urn:microsoft.com/office/officeart/2008/layout/BendingPictureCaptionList"/>
    <dgm:cxn modelId="{717C6E32-6CD4-439D-B4D7-8C4796DA90BF}" type="presParOf" srcId="{475A20A4-85A0-4190-AC6C-2EFBDA387A4C}" destId="{8F6372DC-8C30-4480-B5F6-E15FECCC6F24}" srcOrd="1" destOrd="0" presId="urn:microsoft.com/office/officeart/2008/layout/BendingPictureCaptionList"/>
    <dgm:cxn modelId="{3EF77462-D8AD-440F-A1BA-14B28A6FD6DD}" type="presParOf" srcId="{D09B43C9-487B-4932-B572-FAF5FB13D72E}" destId="{C76CE56B-B3FF-459D-8886-B92A5888B90F}" srcOrd="7" destOrd="0" presId="urn:microsoft.com/office/officeart/2008/layout/BendingPictureCaptionList"/>
    <dgm:cxn modelId="{1C74A990-8BDB-4010-8586-5CDB9F6804A4}" type="presParOf" srcId="{D09B43C9-487B-4932-B572-FAF5FB13D72E}" destId="{E85227C7-1F99-473D-BCAA-CA6388196352}" srcOrd="8" destOrd="0" presId="urn:microsoft.com/office/officeart/2008/layout/BendingPictureCaptionList"/>
    <dgm:cxn modelId="{32CE4671-CD36-4959-A4B2-40A1C780A587}" type="presParOf" srcId="{E85227C7-1F99-473D-BCAA-CA6388196352}" destId="{E0F25ADA-EC93-4D53-A644-58B522FDEDD2}" srcOrd="0" destOrd="0" presId="urn:microsoft.com/office/officeart/2008/layout/BendingPictureCaptionList"/>
    <dgm:cxn modelId="{D7061832-A39A-4AC9-931C-A106BD1641DF}" type="presParOf" srcId="{E85227C7-1F99-473D-BCAA-CA6388196352}" destId="{E0F9D861-CDD6-4D3D-8DC9-F61DECBD1015}" srcOrd="1" destOrd="0" presId="urn:microsoft.com/office/officeart/2008/layout/BendingPictureCaptionList"/>
    <dgm:cxn modelId="{F21BDF56-906A-467F-809F-49962AEF79F9}" type="presParOf" srcId="{D09B43C9-487B-4932-B572-FAF5FB13D72E}" destId="{DACB5BCC-8D16-4B56-87A3-B365E142B82E}" srcOrd="9" destOrd="0" presId="urn:microsoft.com/office/officeart/2008/layout/BendingPictureCaptionList"/>
    <dgm:cxn modelId="{A8B1928A-8611-41AE-945A-D25811DA6352}" type="presParOf" srcId="{D09B43C9-487B-4932-B572-FAF5FB13D72E}" destId="{B7FA91A2-3C41-4418-B92C-FDB1FD95791A}" srcOrd="10" destOrd="0" presId="urn:microsoft.com/office/officeart/2008/layout/BendingPictureCaptionList"/>
    <dgm:cxn modelId="{8E64B3B3-7E90-4919-A902-CA74FF7D0EC9}" type="presParOf" srcId="{B7FA91A2-3C41-4418-B92C-FDB1FD95791A}" destId="{922B0646-DB2D-4637-9705-0E545858D97C}" srcOrd="0" destOrd="0" presId="urn:microsoft.com/office/officeart/2008/layout/BendingPictureCaptionList"/>
    <dgm:cxn modelId="{FE2C02D3-ADD0-4717-94E2-5877231D4000}" type="presParOf" srcId="{B7FA91A2-3C41-4418-B92C-FDB1FD95791A}" destId="{6C6E913E-5815-4598-8A80-72C57EB70FFF}" srcOrd="1" destOrd="0" presId="urn:microsoft.com/office/officeart/2008/layout/BendingPictureCaptionList"/>
    <dgm:cxn modelId="{0F3D549C-080C-4281-8DD2-9B5652E8E1DC}" type="presParOf" srcId="{D09B43C9-487B-4932-B572-FAF5FB13D72E}" destId="{92670EEF-0BEA-4837-ABF5-2C85E6AE5ED9}" srcOrd="11" destOrd="0" presId="urn:microsoft.com/office/officeart/2008/layout/BendingPictureCaptionList"/>
    <dgm:cxn modelId="{744C4C1A-6EBF-45F4-8DDC-7C6348638611}" type="presParOf" srcId="{D09B43C9-487B-4932-B572-FAF5FB13D72E}" destId="{C98AFC3E-238D-4B3D-9939-D173AE78FF56}" srcOrd="12" destOrd="0" presId="urn:microsoft.com/office/officeart/2008/layout/BendingPictureCaptionList"/>
    <dgm:cxn modelId="{A372E3EB-78C4-436F-8680-CA9305EAA7AE}" type="presParOf" srcId="{C98AFC3E-238D-4B3D-9939-D173AE78FF56}" destId="{AEAF9DB5-661A-4C0A-B99F-FC3644D2ABEB}" srcOrd="0" destOrd="0" presId="urn:microsoft.com/office/officeart/2008/layout/BendingPictureCaptionList"/>
    <dgm:cxn modelId="{C3C6534D-8C1C-4896-9DE3-12DADBD60AC5}" type="presParOf" srcId="{C98AFC3E-238D-4B3D-9939-D173AE78FF56}" destId="{4E080649-D688-417F-91F0-5C1944E81C25}" srcOrd="1" destOrd="0" presId="urn:microsoft.com/office/officeart/2008/layout/BendingPictureCaptionList"/>
    <dgm:cxn modelId="{6CF54F59-E881-4778-AAD5-8B5BBB10E7F2}" type="presParOf" srcId="{D09B43C9-487B-4932-B572-FAF5FB13D72E}" destId="{EDEC566D-ECB4-45CB-ABF1-86205B7D1359}" srcOrd="13" destOrd="0" presId="urn:microsoft.com/office/officeart/2008/layout/BendingPictureCaptionList"/>
    <dgm:cxn modelId="{FDAFDBAA-8A61-4DEE-9707-ED279F131A46}" type="presParOf" srcId="{D09B43C9-487B-4932-B572-FAF5FB13D72E}" destId="{13E0D7D2-5455-4F50-9D18-904C810AAD01}" srcOrd="14" destOrd="0" presId="urn:microsoft.com/office/officeart/2008/layout/BendingPictureCaptionList"/>
    <dgm:cxn modelId="{FFCF1033-A26E-440C-9814-2706810D46F0}" type="presParOf" srcId="{13E0D7D2-5455-4F50-9D18-904C810AAD01}" destId="{B528A77F-A8F3-41F8-A4DE-83DE4EEB4EC7}" srcOrd="0" destOrd="0" presId="urn:microsoft.com/office/officeart/2008/layout/BendingPictureCaptionList"/>
    <dgm:cxn modelId="{5A661BE7-33FA-4F0E-9C5C-06A8C74EECD4}" type="presParOf" srcId="{13E0D7D2-5455-4F50-9D18-904C810AAD01}" destId="{C21065F3-8B81-4FA1-AB1D-15B6979CF2F9}" srcOrd="1" destOrd="0" presId="urn:microsoft.com/office/officeart/2008/layout/BendingPictureCaptionList"/>
    <dgm:cxn modelId="{272B7D1B-A987-4FDE-BD08-DE78BEC1170D}" type="presParOf" srcId="{D09B43C9-487B-4932-B572-FAF5FB13D72E}" destId="{0E53A507-2FA8-4E65-97A7-BDD7E0361FBB}" srcOrd="15" destOrd="0" presId="urn:microsoft.com/office/officeart/2008/layout/BendingPictureCaptionList"/>
    <dgm:cxn modelId="{D6D8AE91-E56F-4217-AFF6-1990F0086F41}" type="presParOf" srcId="{D09B43C9-487B-4932-B572-FAF5FB13D72E}" destId="{B417525A-8AA1-45FD-98F0-6A47BAC9F106}" srcOrd="16" destOrd="0" presId="urn:microsoft.com/office/officeart/2008/layout/BendingPictureCaptionList"/>
    <dgm:cxn modelId="{F1625879-9B18-477C-B504-31D2561033BB}" type="presParOf" srcId="{B417525A-8AA1-45FD-98F0-6A47BAC9F106}" destId="{99C57855-4057-4AB6-9F06-03A6CED69A38}" srcOrd="0" destOrd="0" presId="urn:microsoft.com/office/officeart/2008/layout/BendingPictureCaptionList"/>
    <dgm:cxn modelId="{F3A0ED5A-C5FE-4F48-AD5B-8AA66236C4F7}" type="presParOf" srcId="{B417525A-8AA1-45FD-98F0-6A47BAC9F106}" destId="{9956BE58-2C1B-4A36-A6E6-35E2B09123B2}" srcOrd="1" destOrd="0" presId="urn:microsoft.com/office/officeart/2008/layout/BendingPictureCaptionList"/>
    <dgm:cxn modelId="{54E06B5A-5BAF-4AF1-A4F9-5838F8BD802A}" type="presParOf" srcId="{D09B43C9-487B-4932-B572-FAF5FB13D72E}" destId="{8EE3B57E-FDF3-4265-9EC4-293B4DCF6BD3}" srcOrd="17" destOrd="0" presId="urn:microsoft.com/office/officeart/2008/layout/BendingPictureCaptionList"/>
    <dgm:cxn modelId="{ACF13F9D-6FC3-453C-A7BA-5C48249E6E82}" type="presParOf" srcId="{D09B43C9-487B-4932-B572-FAF5FB13D72E}" destId="{5EDC9EB5-E209-4089-9381-9D77FFCAC117}" srcOrd="18" destOrd="0" presId="urn:microsoft.com/office/officeart/2008/layout/BendingPictureCaptionList"/>
    <dgm:cxn modelId="{AF8F33F5-4AA8-40EC-A30F-74D7CBE31D7D}" type="presParOf" srcId="{5EDC9EB5-E209-4089-9381-9D77FFCAC117}" destId="{4DF73C35-A3F3-44DF-A20E-CA8F57CAAE2F}" srcOrd="0" destOrd="0" presId="urn:microsoft.com/office/officeart/2008/layout/BendingPictureCaptionList"/>
    <dgm:cxn modelId="{CC2D63E7-2C96-40B5-8D80-F8E4E03F1D31}" type="presParOf" srcId="{5EDC9EB5-E209-4089-9381-9D77FFCAC117}" destId="{AEEEB71B-23B6-4EEC-AEF5-DC14789D83C8}" srcOrd="1" destOrd="0" presId="urn:microsoft.com/office/officeart/2008/layout/BendingPictureCaptionList"/>
    <dgm:cxn modelId="{FDC51413-D0F2-4A64-A6AE-5F4CC3F388A3}" type="presParOf" srcId="{D09B43C9-487B-4932-B572-FAF5FB13D72E}" destId="{710B7C93-9EC2-4950-800E-09A3E6CF4522}" srcOrd="19" destOrd="0" presId="urn:microsoft.com/office/officeart/2008/layout/BendingPictureCaptionList"/>
    <dgm:cxn modelId="{8021B628-88E3-407D-A1D4-F9537593CA34}" type="presParOf" srcId="{D09B43C9-487B-4932-B572-FAF5FB13D72E}" destId="{C0A98F3E-8DC3-438D-8DBA-69B703BFE72A}" srcOrd="20" destOrd="0" presId="urn:microsoft.com/office/officeart/2008/layout/BendingPictureCaptionList"/>
    <dgm:cxn modelId="{D013D147-49FF-4AE1-A03B-7068C9F19348}" type="presParOf" srcId="{C0A98F3E-8DC3-438D-8DBA-69B703BFE72A}" destId="{9566B79B-AE06-436E-B8B9-F989FD2E8B17}" srcOrd="0" destOrd="0" presId="urn:microsoft.com/office/officeart/2008/layout/BendingPictureCaptionList"/>
    <dgm:cxn modelId="{FA95C6AB-4222-43ED-966C-8269195535A7}" type="presParOf" srcId="{C0A98F3E-8DC3-438D-8DBA-69B703BFE72A}" destId="{7A15CCC5-00D2-438B-B2BD-103DAF73BB0C}" srcOrd="1" destOrd="0" presId="urn:microsoft.com/office/officeart/2008/layout/BendingPictureCaptionList"/>
    <dgm:cxn modelId="{D17B8BCC-43D4-4D60-90E2-0DC006631103}" type="presParOf" srcId="{D09B43C9-487B-4932-B572-FAF5FB13D72E}" destId="{6C590DE2-054E-49EF-91F5-F504D4C4664E}" srcOrd="21" destOrd="0" presId="urn:microsoft.com/office/officeart/2008/layout/BendingPictureCaptionList"/>
    <dgm:cxn modelId="{7E479DA4-5454-4D2B-9247-6BB2EC3F58C1}" type="presParOf" srcId="{D09B43C9-487B-4932-B572-FAF5FB13D72E}" destId="{059E793F-24D5-40E9-8914-CDB2EFBD484F}" srcOrd="22" destOrd="0" presId="urn:microsoft.com/office/officeart/2008/layout/BendingPictureCaptionList"/>
    <dgm:cxn modelId="{416797A8-C70D-415C-9418-2908D3368F29}" type="presParOf" srcId="{059E793F-24D5-40E9-8914-CDB2EFBD484F}" destId="{4BFA49E8-A1CA-4266-8319-1E4C81000F29}" srcOrd="0" destOrd="0" presId="urn:microsoft.com/office/officeart/2008/layout/BendingPictureCaptionList"/>
    <dgm:cxn modelId="{69A2DED5-B58E-456F-872B-19E8A0E8F079}" type="presParOf" srcId="{059E793F-24D5-40E9-8914-CDB2EFBD484F}" destId="{5075B210-E83C-41F6-861B-75F78822B0E3}" srcOrd="1" destOrd="0" presId="urn:microsoft.com/office/officeart/2008/layout/BendingPictureCaptionList"/>
    <dgm:cxn modelId="{B4FC63DA-82E3-4294-9413-A129E147C323}" type="presParOf" srcId="{D09B43C9-487B-4932-B572-FAF5FB13D72E}" destId="{7CFBC363-1422-4701-B4E6-C702E7338D7E}" srcOrd="23" destOrd="0" presId="urn:microsoft.com/office/officeart/2008/layout/BendingPictureCaptionList"/>
    <dgm:cxn modelId="{88EAD205-C0C7-4BBD-90C9-52602C6658E1}" type="presParOf" srcId="{D09B43C9-487B-4932-B572-FAF5FB13D72E}" destId="{0280E954-753D-46CD-AA61-81C0DA7AC6D1}" srcOrd="24" destOrd="0" presId="urn:microsoft.com/office/officeart/2008/layout/BendingPictureCaptionList"/>
    <dgm:cxn modelId="{B63A329E-3DC9-4DFE-829D-12E067328578}" type="presParOf" srcId="{0280E954-753D-46CD-AA61-81C0DA7AC6D1}" destId="{3873913B-0372-4D39-B4ED-E9184F1E2A5C}" srcOrd="0" destOrd="0" presId="urn:microsoft.com/office/officeart/2008/layout/BendingPictureCaptionList"/>
    <dgm:cxn modelId="{10637787-16AA-440E-8429-5232975BD045}" type="presParOf" srcId="{0280E954-753D-46CD-AA61-81C0DA7AC6D1}" destId="{7306A245-9671-4896-9B32-4B95DA5B6525}" srcOrd="1" destOrd="0" presId="urn:microsoft.com/office/officeart/2008/layout/BendingPictureCaptionList"/>
    <dgm:cxn modelId="{26468D95-3489-4DFD-A48B-8E1218F42412}" type="presParOf" srcId="{D09B43C9-487B-4932-B572-FAF5FB13D72E}" destId="{E9349E60-3E9F-4711-A503-D43290C5B004}" srcOrd="25" destOrd="0" presId="urn:microsoft.com/office/officeart/2008/layout/BendingPictureCaptionList"/>
    <dgm:cxn modelId="{6BA8CA14-25E7-499F-9109-84B675AB2393}" type="presParOf" srcId="{D09B43C9-487B-4932-B572-FAF5FB13D72E}" destId="{9C129013-6A3B-4A40-BC5F-EFBC0216A680}" srcOrd="26" destOrd="0" presId="urn:microsoft.com/office/officeart/2008/layout/BendingPictureCaptionList"/>
    <dgm:cxn modelId="{74A6469D-377B-4801-917F-E1D3F3D994BD}" type="presParOf" srcId="{9C129013-6A3B-4A40-BC5F-EFBC0216A680}" destId="{8F757C34-5601-45BF-92A3-842C68E86979}" srcOrd="0" destOrd="0" presId="urn:microsoft.com/office/officeart/2008/layout/BendingPictureCaptionList"/>
    <dgm:cxn modelId="{79853A72-4E8F-4FB3-A2AF-74D40B602439}" type="presParOf" srcId="{9C129013-6A3B-4A40-BC5F-EFBC0216A680}" destId="{21EE5EC9-DEB6-4F5F-B164-D3B87E13ED2C}" srcOrd="1" destOrd="0" presId="urn:microsoft.com/office/officeart/2008/layout/BendingPictureCaptionList"/>
    <dgm:cxn modelId="{7FB0B2C6-7350-4F20-BC98-8C4A8430264E}" type="presParOf" srcId="{D09B43C9-487B-4932-B572-FAF5FB13D72E}" destId="{E38C9E40-7026-4518-8A9D-BCCA597E6715}" srcOrd="27" destOrd="0" presId="urn:microsoft.com/office/officeart/2008/layout/BendingPictureCaptionList"/>
    <dgm:cxn modelId="{FC219C73-C9A3-4D94-8F2D-DE1A44E9F41A}" type="presParOf" srcId="{D09B43C9-487B-4932-B572-FAF5FB13D72E}" destId="{473B3B5A-D7D5-4955-B2AF-2BE6BDF4D530}" srcOrd="28" destOrd="0" presId="urn:microsoft.com/office/officeart/2008/layout/BendingPictureCaptionList"/>
    <dgm:cxn modelId="{BBBADF8E-AAB9-409A-BD84-D27B51977883}" type="presParOf" srcId="{473B3B5A-D7D5-4955-B2AF-2BE6BDF4D530}" destId="{1572D4BD-2175-401D-BA04-14AAEE0ECFFF}" srcOrd="0" destOrd="0" presId="urn:microsoft.com/office/officeart/2008/layout/BendingPictureCaptionList"/>
    <dgm:cxn modelId="{B2F46525-2090-459A-9CC5-9DEF427DA39A}" type="presParOf" srcId="{473B3B5A-D7D5-4955-B2AF-2BE6BDF4D530}" destId="{B34C4797-6F58-4971-A99E-32498BC209D7}" srcOrd="1" destOrd="0" presId="urn:microsoft.com/office/officeart/2008/layout/BendingPictureCa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820F74C-F55C-44E6-A8E4-BCA85C11916C}" type="doc">
      <dgm:prSet loTypeId="urn:microsoft.com/office/officeart/2008/layout/BendingPictureBlocks" loCatId="picture" qsTypeId="urn:microsoft.com/office/officeart/2005/8/quickstyle/simple1" qsCatId="simple" csTypeId="urn:microsoft.com/office/officeart/2005/8/colors/accent1_2" csCatId="accent1" phldr="1"/>
      <dgm:spPr/>
      <dgm:t>
        <a:bodyPr/>
        <a:lstStyle/>
        <a:p>
          <a:endParaRPr lang="en-GB"/>
        </a:p>
      </dgm:t>
    </dgm:pt>
    <dgm:pt modelId="{865E158D-E61F-4325-B37C-E0F9FD45B816}">
      <dgm:prSet phldrT="[Text]"/>
      <dgm:spPr>
        <a:solidFill>
          <a:srgbClr val="3F5378"/>
        </a:solidFill>
      </dgm:spPr>
      <dgm:t>
        <a:bodyPr/>
        <a:lstStyle/>
        <a:p>
          <a:r>
            <a:rPr lang="en-GB" dirty="0"/>
            <a:t>8</a:t>
          </a:r>
        </a:p>
      </dgm:t>
    </dgm:pt>
    <dgm:pt modelId="{EAA26088-7092-4A4B-9B7B-32119737098A}" type="parTrans" cxnId="{97E328AD-44B8-4B67-AE92-B8F2A480739B}">
      <dgm:prSet/>
      <dgm:spPr/>
      <dgm:t>
        <a:bodyPr/>
        <a:lstStyle/>
        <a:p>
          <a:endParaRPr lang="en-GB"/>
        </a:p>
      </dgm:t>
    </dgm:pt>
    <dgm:pt modelId="{05466EE8-AC97-49E0-ABD3-76B683BFE0C0}" type="sibTrans" cxnId="{97E328AD-44B8-4B67-AE92-B8F2A480739B}">
      <dgm:prSet/>
      <dgm:spPr/>
      <dgm:t>
        <a:bodyPr/>
        <a:lstStyle/>
        <a:p>
          <a:endParaRPr lang="en-GB"/>
        </a:p>
      </dgm:t>
    </dgm:pt>
    <dgm:pt modelId="{25E5FA9C-4952-4181-8082-41D05323DC0C}">
      <dgm:prSet phldrT="[Text]"/>
      <dgm:spPr>
        <a:solidFill>
          <a:srgbClr val="3F5378"/>
        </a:solidFill>
      </dgm:spPr>
      <dgm:t>
        <a:bodyPr/>
        <a:lstStyle/>
        <a:p>
          <a:r>
            <a:rPr lang="en-GB" dirty="0"/>
            <a:t>12</a:t>
          </a:r>
        </a:p>
      </dgm:t>
    </dgm:pt>
    <dgm:pt modelId="{79C49545-E473-4FE4-B74D-E725E4BE9398}" type="parTrans" cxnId="{900D2278-34E7-44EB-A14E-0D052EF575A4}">
      <dgm:prSet/>
      <dgm:spPr/>
      <dgm:t>
        <a:bodyPr/>
        <a:lstStyle/>
        <a:p>
          <a:endParaRPr lang="en-GB"/>
        </a:p>
      </dgm:t>
    </dgm:pt>
    <dgm:pt modelId="{F0234F5F-0BAF-46E3-A585-06EC1EE4E708}" type="sibTrans" cxnId="{900D2278-34E7-44EB-A14E-0D052EF575A4}">
      <dgm:prSet/>
      <dgm:spPr/>
      <dgm:t>
        <a:bodyPr/>
        <a:lstStyle/>
        <a:p>
          <a:endParaRPr lang="en-GB"/>
        </a:p>
      </dgm:t>
    </dgm:pt>
    <dgm:pt modelId="{7BA8AFDD-9D27-41A8-86B5-EB7517DA3ACC}" type="pres">
      <dgm:prSet presAssocID="{0820F74C-F55C-44E6-A8E4-BCA85C11916C}" presName="Name0" presStyleCnt="0">
        <dgm:presLayoutVars>
          <dgm:dir/>
          <dgm:resizeHandles/>
        </dgm:presLayoutVars>
      </dgm:prSet>
      <dgm:spPr/>
      <dgm:t>
        <a:bodyPr/>
        <a:lstStyle/>
        <a:p>
          <a:endParaRPr lang="en-GB"/>
        </a:p>
      </dgm:t>
    </dgm:pt>
    <dgm:pt modelId="{80F72F6B-AFE0-4F4C-8305-37D1CBB599CC}" type="pres">
      <dgm:prSet presAssocID="{865E158D-E61F-4325-B37C-E0F9FD45B816}" presName="composite" presStyleCnt="0"/>
      <dgm:spPr/>
    </dgm:pt>
    <dgm:pt modelId="{FFF3AAFC-337C-4395-8429-24D731948644}" type="pres">
      <dgm:prSet presAssocID="{865E158D-E61F-4325-B37C-E0F9FD45B816}" presName="rect1" presStyleLbl="bgImgPlace1" presStyleIdx="0" presStyleCnt="2"/>
      <dgm:spPr>
        <a:blipFill rotWithShape="1">
          <a:blip xmlns:r="http://schemas.openxmlformats.org/officeDocument/2006/relationships" r:embed="rId1"/>
          <a:stretch>
            <a:fillRect/>
          </a:stretch>
        </a:blipFill>
      </dgm:spPr>
    </dgm:pt>
    <dgm:pt modelId="{EC38F7AE-63F1-4EA0-93DF-A95D751A04B2}" type="pres">
      <dgm:prSet presAssocID="{865E158D-E61F-4325-B37C-E0F9FD45B816}" presName="rect2" presStyleLbl="node1" presStyleIdx="0" presStyleCnt="2" custScaleX="87710" custScaleY="75652">
        <dgm:presLayoutVars>
          <dgm:bulletEnabled val="1"/>
        </dgm:presLayoutVars>
      </dgm:prSet>
      <dgm:spPr/>
      <dgm:t>
        <a:bodyPr/>
        <a:lstStyle/>
        <a:p>
          <a:endParaRPr lang="en-GB"/>
        </a:p>
      </dgm:t>
    </dgm:pt>
    <dgm:pt modelId="{3086D902-2A25-4D93-B385-DEFB057C2004}" type="pres">
      <dgm:prSet presAssocID="{05466EE8-AC97-49E0-ABD3-76B683BFE0C0}" presName="sibTrans" presStyleCnt="0"/>
      <dgm:spPr/>
    </dgm:pt>
    <dgm:pt modelId="{B28C6CCE-3928-4924-9E26-42F1DE8951FB}" type="pres">
      <dgm:prSet presAssocID="{25E5FA9C-4952-4181-8082-41D05323DC0C}" presName="composite" presStyleCnt="0"/>
      <dgm:spPr/>
    </dgm:pt>
    <dgm:pt modelId="{0974039E-3017-4E69-B7D6-D9529E90F468}" type="pres">
      <dgm:prSet presAssocID="{25E5FA9C-4952-4181-8082-41D05323DC0C}" presName="rect1" presStyleLbl="bgImgPlace1" presStyleIdx="1" presStyleCnt="2"/>
      <dgm:spPr>
        <a:blipFill rotWithShape="1">
          <a:blip xmlns:r="http://schemas.openxmlformats.org/officeDocument/2006/relationships" r:embed="rId2"/>
          <a:stretch>
            <a:fillRect/>
          </a:stretch>
        </a:blipFill>
      </dgm:spPr>
    </dgm:pt>
    <dgm:pt modelId="{1B36A1AB-CD50-488A-9370-63A2568B141B}" type="pres">
      <dgm:prSet presAssocID="{25E5FA9C-4952-4181-8082-41D05323DC0C}" presName="rect2" presStyleLbl="node1" presStyleIdx="1" presStyleCnt="2" custScaleX="85667" custScaleY="78137">
        <dgm:presLayoutVars>
          <dgm:bulletEnabled val="1"/>
        </dgm:presLayoutVars>
      </dgm:prSet>
      <dgm:spPr/>
      <dgm:t>
        <a:bodyPr/>
        <a:lstStyle/>
        <a:p>
          <a:endParaRPr lang="en-GB"/>
        </a:p>
      </dgm:t>
    </dgm:pt>
  </dgm:ptLst>
  <dgm:cxnLst>
    <dgm:cxn modelId="{3AF221D5-B638-4DF3-AAA4-E001ABA9CB6C}" type="presOf" srcId="{0820F74C-F55C-44E6-A8E4-BCA85C11916C}" destId="{7BA8AFDD-9D27-41A8-86B5-EB7517DA3ACC}" srcOrd="0" destOrd="0" presId="urn:microsoft.com/office/officeart/2008/layout/BendingPictureBlocks"/>
    <dgm:cxn modelId="{E16BF918-FF92-4CD4-826D-0FAD78A3A030}" type="presOf" srcId="{25E5FA9C-4952-4181-8082-41D05323DC0C}" destId="{1B36A1AB-CD50-488A-9370-63A2568B141B}" srcOrd="0" destOrd="0" presId="urn:microsoft.com/office/officeart/2008/layout/BendingPictureBlocks"/>
    <dgm:cxn modelId="{9EDC9794-96AA-48EA-BB30-6B2E3D751BCA}" type="presOf" srcId="{865E158D-E61F-4325-B37C-E0F9FD45B816}" destId="{EC38F7AE-63F1-4EA0-93DF-A95D751A04B2}" srcOrd="0" destOrd="0" presId="urn:microsoft.com/office/officeart/2008/layout/BendingPictureBlocks"/>
    <dgm:cxn modelId="{900D2278-34E7-44EB-A14E-0D052EF575A4}" srcId="{0820F74C-F55C-44E6-A8E4-BCA85C11916C}" destId="{25E5FA9C-4952-4181-8082-41D05323DC0C}" srcOrd="1" destOrd="0" parTransId="{79C49545-E473-4FE4-B74D-E725E4BE9398}" sibTransId="{F0234F5F-0BAF-46E3-A585-06EC1EE4E708}"/>
    <dgm:cxn modelId="{97E328AD-44B8-4B67-AE92-B8F2A480739B}" srcId="{0820F74C-F55C-44E6-A8E4-BCA85C11916C}" destId="{865E158D-E61F-4325-B37C-E0F9FD45B816}" srcOrd="0" destOrd="0" parTransId="{EAA26088-7092-4A4B-9B7B-32119737098A}" sibTransId="{05466EE8-AC97-49E0-ABD3-76B683BFE0C0}"/>
    <dgm:cxn modelId="{271DC19F-810C-4708-AE8B-BB84F8D65AE2}" type="presParOf" srcId="{7BA8AFDD-9D27-41A8-86B5-EB7517DA3ACC}" destId="{80F72F6B-AFE0-4F4C-8305-37D1CBB599CC}" srcOrd="0" destOrd="0" presId="urn:microsoft.com/office/officeart/2008/layout/BendingPictureBlocks"/>
    <dgm:cxn modelId="{019533B7-BB58-4E52-B86B-7F2277554583}" type="presParOf" srcId="{80F72F6B-AFE0-4F4C-8305-37D1CBB599CC}" destId="{FFF3AAFC-337C-4395-8429-24D731948644}" srcOrd="0" destOrd="0" presId="urn:microsoft.com/office/officeart/2008/layout/BendingPictureBlocks"/>
    <dgm:cxn modelId="{36862046-D2E1-4128-AFD4-AE7CC93C6569}" type="presParOf" srcId="{80F72F6B-AFE0-4F4C-8305-37D1CBB599CC}" destId="{EC38F7AE-63F1-4EA0-93DF-A95D751A04B2}" srcOrd="1" destOrd="0" presId="urn:microsoft.com/office/officeart/2008/layout/BendingPictureBlocks"/>
    <dgm:cxn modelId="{4D6073DB-45A6-47CE-A3D3-B698775A9115}" type="presParOf" srcId="{7BA8AFDD-9D27-41A8-86B5-EB7517DA3ACC}" destId="{3086D902-2A25-4D93-B385-DEFB057C2004}" srcOrd="1" destOrd="0" presId="urn:microsoft.com/office/officeart/2008/layout/BendingPictureBlocks"/>
    <dgm:cxn modelId="{BE995C33-00E5-4FDA-AF3D-D566785A1CD1}" type="presParOf" srcId="{7BA8AFDD-9D27-41A8-86B5-EB7517DA3ACC}" destId="{B28C6CCE-3928-4924-9E26-42F1DE8951FB}" srcOrd="2" destOrd="0" presId="urn:microsoft.com/office/officeart/2008/layout/BendingPictureBlocks"/>
    <dgm:cxn modelId="{79F24538-C653-4844-824E-BD0E2AF41584}" type="presParOf" srcId="{B28C6CCE-3928-4924-9E26-42F1DE8951FB}" destId="{0974039E-3017-4E69-B7D6-D9529E90F468}" srcOrd="0" destOrd="0" presId="urn:microsoft.com/office/officeart/2008/layout/BendingPictureBlocks"/>
    <dgm:cxn modelId="{890E6CD7-A2BF-4C8F-B9E7-8D63C57B465B}" type="presParOf" srcId="{B28C6CCE-3928-4924-9E26-42F1DE8951FB}" destId="{1B36A1AB-CD50-488A-9370-63A2568B141B}" srcOrd="1" destOrd="0" presId="urn:microsoft.com/office/officeart/2008/layout/BendingPictureBlock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820F74C-F55C-44E6-A8E4-BCA85C11916C}" type="doc">
      <dgm:prSet loTypeId="urn:microsoft.com/office/officeart/2008/layout/BendingPictureBlocks" loCatId="picture" qsTypeId="urn:microsoft.com/office/officeart/2005/8/quickstyle/simple1" qsCatId="simple" csTypeId="urn:microsoft.com/office/officeart/2005/8/colors/accent1_2" csCatId="accent1" phldr="1"/>
      <dgm:spPr/>
      <dgm:t>
        <a:bodyPr/>
        <a:lstStyle/>
        <a:p>
          <a:endParaRPr lang="en-GB"/>
        </a:p>
      </dgm:t>
    </dgm:pt>
    <dgm:pt modelId="{865E158D-E61F-4325-B37C-E0F9FD45B816}">
      <dgm:prSet phldrT="[Text]"/>
      <dgm:spPr>
        <a:solidFill>
          <a:srgbClr val="3F5378"/>
        </a:solidFill>
      </dgm:spPr>
      <dgm:t>
        <a:bodyPr/>
        <a:lstStyle/>
        <a:p>
          <a:r>
            <a:rPr lang="en-GB" dirty="0"/>
            <a:t>9</a:t>
          </a:r>
        </a:p>
      </dgm:t>
    </dgm:pt>
    <dgm:pt modelId="{EAA26088-7092-4A4B-9B7B-32119737098A}" type="parTrans" cxnId="{97E328AD-44B8-4B67-AE92-B8F2A480739B}">
      <dgm:prSet/>
      <dgm:spPr/>
      <dgm:t>
        <a:bodyPr/>
        <a:lstStyle/>
        <a:p>
          <a:endParaRPr lang="en-GB"/>
        </a:p>
      </dgm:t>
    </dgm:pt>
    <dgm:pt modelId="{05466EE8-AC97-49E0-ABD3-76B683BFE0C0}" type="sibTrans" cxnId="{97E328AD-44B8-4B67-AE92-B8F2A480739B}">
      <dgm:prSet/>
      <dgm:spPr/>
      <dgm:t>
        <a:bodyPr/>
        <a:lstStyle/>
        <a:p>
          <a:endParaRPr lang="en-GB"/>
        </a:p>
      </dgm:t>
    </dgm:pt>
    <dgm:pt modelId="{25E5FA9C-4952-4181-8082-41D05323DC0C}">
      <dgm:prSet phldrT="[Text]"/>
      <dgm:spPr>
        <a:solidFill>
          <a:srgbClr val="3F5378"/>
        </a:solidFill>
      </dgm:spPr>
      <dgm:t>
        <a:bodyPr/>
        <a:lstStyle/>
        <a:p>
          <a:r>
            <a:rPr lang="en-GB" dirty="0"/>
            <a:t>13</a:t>
          </a:r>
        </a:p>
      </dgm:t>
    </dgm:pt>
    <dgm:pt modelId="{79C49545-E473-4FE4-B74D-E725E4BE9398}" type="parTrans" cxnId="{900D2278-34E7-44EB-A14E-0D052EF575A4}">
      <dgm:prSet/>
      <dgm:spPr/>
      <dgm:t>
        <a:bodyPr/>
        <a:lstStyle/>
        <a:p>
          <a:endParaRPr lang="en-GB"/>
        </a:p>
      </dgm:t>
    </dgm:pt>
    <dgm:pt modelId="{F0234F5F-0BAF-46E3-A585-06EC1EE4E708}" type="sibTrans" cxnId="{900D2278-34E7-44EB-A14E-0D052EF575A4}">
      <dgm:prSet/>
      <dgm:spPr/>
      <dgm:t>
        <a:bodyPr/>
        <a:lstStyle/>
        <a:p>
          <a:endParaRPr lang="en-GB"/>
        </a:p>
      </dgm:t>
    </dgm:pt>
    <dgm:pt modelId="{7BA8AFDD-9D27-41A8-86B5-EB7517DA3ACC}" type="pres">
      <dgm:prSet presAssocID="{0820F74C-F55C-44E6-A8E4-BCA85C11916C}" presName="Name0" presStyleCnt="0">
        <dgm:presLayoutVars>
          <dgm:dir/>
          <dgm:resizeHandles/>
        </dgm:presLayoutVars>
      </dgm:prSet>
      <dgm:spPr/>
      <dgm:t>
        <a:bodyPr/>
        <a:lstStyle/>
        <a:p>
          <a:endParaRPr lang="en-GB"/>
        </a:p>
      </dgm:t>
    </dgm:pt>
    <dgm:pt modelId="{80F72F6B-AFE0-4F4C-8305-37D1CBB599CC}" type="pres">
      <dgm:prSet presAssocID="{865E158D-E61F-4325-B37C-E0F9FD45B816}" presName="composite" presStyleCnt="0"/>
      <dgm:spPr/>
    </dgm:pt>
    <dgm:pt modelId="{FFF3AAFC-337C-4395-8429-24D731948644}" type="pres">
      <dgm:prSet presAssocID="{865E158D-E61F-4325-B37C-E0F9FD45B816}" presName="rect1" presStyleLbl="bgImgPlace1" presStyleIdx="0" presStyleCnt="2"/>
      <dgm:spPr>
        <a:blipFill rotWithShape="1">
          <a:blip xmlns:r="http://schemas.openxmlformats.org/officeDocument/2006/relationships" r:embed="rId1"/>
          <a:stretch>
            <a:fillRect/>
          </a:stretch>
        </a:blipFill>
      </dgm:spPr>
    </dgm:pt>
    <dgm:pt modelId="{EC38F7AE-63F1-4EA0-93DF-A95D751A04B2}" type="pres">
      <dgm:prSet presAssocID="{865E158D-E61F-4325-B37C-E0F9FD45B816}" presName="rect2" presStyleLbl="node1" presStyleIdx="0" presStyleCnt="2" custScaleX="81597" custScaleY="83351">
        <dgm:presLayoutVars>
          <dgm:bulletEnabled val="1"/>
        </dgm:presLayoutVars>
      </dgm:prSet>
      <dgm:spPr/>
      <dgm:t>
        <a:bodyPr/>
        <a:lstStyle/>
        <a:p>
          <a:endParaRPr lang="en-GB"/>
        </a:p>
      </dgm:t>
    </dgm:pt>
    <dgm:pt modelId="{3086D902-2A25-4D93-B385-DEFB057C2004}" type="pres">
      <dgm:prSet presAssocID="{05466EE8-AC97-49E0-ABD3-76B683BFE0C0}" presName="sibTrans" presStyleCnt="0"/>
      <dgm:spPr/>
    </dgm:pt>
    <dgm:pt modelId="{B28C6CCE-3928-4924-9E26-42F1DE8951FB}" type="pres">
      <dgm:prSet presAssocID="{25E5FA9C-4952-4181-8082-41D05323DC0C}" presName="composite" presStyleCnt="0"/>
      <dgm:spPr/>
    </dgm:pt>
    <dgm:pt modelId="{0974039E-3017-4E69-B7D6-D9529E90F468}" type="pres">
      <dgm:prSet presAssocID="{25E5FA9C-4952-4181-8082-41D05323DC0C}" presName="rect1" presStyleLbl="bgImgPlace1" presStyleIdx="1" presStyleCnt="2"/>
      <dgm:spPr>
        <a:blipFill rotWithShape="1">
          <a:blip xmlns:r="http://schemas.openxmlformats.org/officeDocument/2006/relationships" r:embed="rId2"/>
          <a:stretch>
            <a:fillRect/>
          </a:stretch>
        </a:blipFill>
      </dgm:spPr>
    </dgm:pt>
    <dgm:pt modelId="{1B36A1AB-CD50-488A-9370-63A2568B141B}" type="pres">
      <dgm:prSet presAssocID="{25E5FA9C-4952-4181-8082-41D05323DC0C}" presName="rect2" presStyleLbl="node1" presStyleIdx="1" presStyleCnt="2" custScaleX="82719" custScaleY="79482">
        <dgm:presLayoutVars>
          <dgm:bulletEnabled val="1"/>
        </dgm:presLayoutVars>
      </dgm:prSet>
      <dgm:spPr/>
      <dgm:t>
        <a:bodyPr/>
        <a:lstStyle/>
        <a:p>
          <a:endParaRPr lang="en-GB"/>
        </a:p>
      </dgm:t>
    </dgm:pt>
  </dgm:ptLst>
  <dgm:cxnLst>
    <dgm:cxn modelId="{89FA0EA1-464E-41BD-8784-0D007EB75486}" type="presOf" srcId="{865E158D-E61F-4325-B37C-E0F9FD45B816}" destId="{EC38F7AE-63F1-4EA0-93DF-A95D751A04B2}" srcOrd="0" destOrd="0" presId="urn:microsoft.com/office/officeart/2008/layout/BendingPictureBlocks"/>
    <dgm:cxn modelId="{89D72D03-0F8B-45ED-B9A1-A3F4F61550B7}" type="presOf" srcId="{0820F74C-F55C-44E6-A8E4-BCA85C11916C}" destId="{7BA8AFDD-9D27-41A8-86B5-EB7517DA3ACC}" srcOrd="0" destOrd="0" presId="urn:microsoft.com/office/officeart/2008/layout/BendingPictureBlocks"/>
    <dgm:cxn modelId="{3177CF92-7B49-434C-A761-6304AFA9DCC7}" type="presOf" srcId="{25E5FA9C-4952-4181-8082-41D05323DC0C}" destId="{1B36A1AB-CD50-488A-9370-63A2568B141B}" srcOrd="0" destOrd="0" presId="urn:microsoft.com/office/officeart/2008/layout/BendingPictureBlocks"/>
    <dgm:cxn modelId="{900D2278-34E7-44EB-A14E-0D052EF575A4}" srcId="{0820F74C-F55C-44E6-A8E4-BCA85C11916C}" destId="{25E5FA9C-4952-4181-8082-41D05323DC0C}" srcOrd="1" destOrd="0" parTransId="{79C49545-E473-4FE4-B74D-E725E4BE9398}" sibTransId="{F0234F5F-0BAF-46E3-A585-06EC1EE4E708}"/>
    <dgm:cxn modelId="{97E328AD-44B8-4B67-AE92-B8F2A480739B}" srcId="{0820F74C-F55C-44E6-A8E4-BCA85C11916C}" destId="{865E158D-E61F-4325-B37C-E0F9FD45B816}" srcOrd="0" destOrd="0" parTransId="{EAA26088-7092-4A4B-9B7B-32119737098A}" sibTransId="{05466EE8-AC97-49E0-ABD3-76B683BFE0C0}"/>
    <dgm:cxn modelId="{038986A9-0CCB-41AB-A157-D44BF7F4CA0F}" type="presParOf" srcId="{7BA8AFDD-9D27-41A8-86B5-EB7517DA3ACC}" destId="{80F72F6B-AFE0-4F4C-8305-37D1CBB599CC}" srcOrd="0" destOrd="0" presId="urn:microsoft.com/office/officeart/2008/layout/BendingPictureBlocks"/>
    <dgm:cxn modelId="{FD13E15E-18D3-459C-ABCE-D3731478E7BB}" type="presParOf" srcId="{80F72F6B-AFE0-4F4C-8305-37D1CBB599CC}" destId="{FFF3AAFC-337C-4395-8429-24D731948644}" srcOrd="0" destOrd="0" presId="urn:microsoft.com/office/officeart/2008/layout/BendingPictureBlocks"/>
    <dgm:cxn modelId="{B94AB331-6090-4591-9380-921ED7AD10E5}" type="presParOf" srcId="{80F72F6B-AFE0-4F4C-8305-37D1CBB599CC}" destId="{EC38F7AE-63F1-4EA0-93DF-A95D751A04B2}" srcOrd="1" destOrd="0" presId="urn:microsoft.com/office/officeart/2008/layout/BendingPictureBlocks"/>
    <dgm:cxn modelId="{7D5DBD5C-8CFE-4246-84A2-34DCDE2DB88F}" type="presParOf" srcId="{7BA8AFDD-9D27-41A8-86B5-EB7517DA3ACC}" destId="{3086D902-2A25-4D93-B385-DEFB057C2004}" srcOrd="1" destOrd="0" presId="urn:microsoft.com/office/officeart/2008/layout/BendingPictureBlocks"/>
    <dgm:cxn modelId="{0BEB5AE6-6C1F-4853-868B-C68A9A534DE8}" type="presParOf" srcId="{7BA8AFDD-9D27-41A8-86B5-EB7517DA3ACC}" destId="{B28C6CCE-3928-4924-9E26-42F1DE8951FB}" srcOrd="2" destOrd="0" presId="urn:microsoft.com/office/officeart/2008/layout/BendingPictureBlocks"/>
    <dgm:cxn modelId="{3FCBA373-612B-4BCC-9EA3-B2148304D845}" type="presParOf" srcId="{B28C6CCE-3928-4924-9E26-42F1DE8951FB}" destId="{0974039E-3017-4E69-B7D6-D9529E90F468}" srcOrd="0" destOrd="0" presId="urn:microsoft.com/office/officeart/2008/layout/BendingPictureBlocks"/>
    <dgm:cxn modelId="{17768A66-2146-408F-8C21-33AD83BED152}" type="presParOf" srcId="{B28C6CCE-3928-4924-9E26-42F1DE8951FB}" destId="{1B36A1AB-CD50-488A-9370-63A2568B141B}" srcOrd="1" destOrd="0" presId="urn:microsoft.com/office/officeart/2008/layout/BendingPictureBlocks"/>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820F74C-F55C-44E6-A8E4-BCA85C11916C}" type="doc">
      <dgm:prSet loTypeId="urn:microsoft.com/office/officeart/2008/layout/BendingPictureBlocks" loCatId="picture" qsTypeId="urn:microsoft.com/office/officeart/2005/8/quickstyle/simple1" qsCatId="simple" csTypeId="urn:microsoft.com/office/officeart/2005/8/colors/accent1_2" csCatId="accent1" phldr="1"/>
      <dgm:spPr/>
      <dgm:t>
        <a:bodyPr/>
        <a:lstStyle/>
        <a:p>
          <a:endParaRPr lang="en-GB"/>
        </a:p>
      </dgm:t>
    </dgm:pt>
    <dgm:pt modelId="{865E158D-E61F-4325-B37C-E0F9FD45B816}">
      <dgm:prSet phldrT="[Text]"/>
      <dgm:spPr>
        <a:solidFill>
          <a:srgbClr val="3F5378"/>
        </a:solidFill>
      </dgm:spPr>
      <dgm:t>
        <a:bodyPr/>
        <a:lstStyle/>
        <a:p>
          <a:r>
            <a:rPr lang="en-GB" dirty="0"/>
            <a:t>2</a:t>
          </a:r>
        </a:p>
      </dgm:t>
    </dgm:pt>
    <dgm:pt modelId="{EAA26088-7092-4A4B-9B7B-32119737098A}" type="parTrans" cxnId="{97E328AD-44B8-4B67-AE92-B8F2A480739B}">
      <dgm:prSet/>
      <dgm:spPr/>
      <dgm:t>
        <a:bodyPr/>
        <a:lstStyle/>
        <a:p>
          <a:endParaRPr lang="en-GB"/>
        </a:p>
      </dgm:t>
    </dgm:pt>
    <dgm:pt modelId="{05466EE8-AC97-49E0-ABD3-76B683BFE0C0}" type="sibTrans" cxnId="{97E328AD-44B8-4B67-AE92-B8F2A480739B}">
      <dgm:prSet/>
      <dgm:spPr/>
      <dgm:t>
        <a:bodyPr/>
        <a:lstStyle/>
        <a:p>
          <a:endParaRPr lang="en-GB"/>
        </a:p>
      </dgm:t>
    </dgm:pt>
    <dgm:pt modelId="{25E5FA9C-4952-4181-8082-41D05323DC0C}">
      <dgm:prSet phldrT="[Text]"/>
      <dgm:spPr>
        <a:solidFill>
          <a:srgbClr val="3F5378"/>
        </a:solidFill>
      </dgm:spPr>
      <dgm:t>
        <a:bodyPr/>
        <a:lstStyle/>
        <a:p>
          <a:r>
            <a:rPr lang="en-GB" dirty="0"/>
            <a:t>1</a:t>
          </a:r>
        </a:p>
      </dgm:t>
    </dgm:pt>
    <dgm:pt modelId="{79C49545-E473-4FE4-B74D-E725E4BE9398}" type="parTrans" cxnId="{900D2278-34E7-44EB-A14E-0D052EF575A4}">
      <dgm:prSet/>
      <dgm:spPr/>
      <dgm:t>
        <a:bodyPr/>
        <a:lstStyle/>
        <a:p>
          <a:endParaRPr lang="en-GB"/>
        </a:p>
      </dgm:t>
    </dgm:pt>
    <dgm:pt modelId="{F0234F5F-0BAF-46E3-A585-06EC1EE4E708}" type="sibTrans" cxnId="{900D2278-34E7-44EB-A14E-0D052EF575A4}">
      <dgm:prSet/>
      <dgm:spPr/>
      <dgm:t>
        <a:bodyPr/>
        <a:lstStyle/>
        <a:p>
          <a:endParaRPr lang="en-GB"/>
        </a:p>
      </dgm:t>
    </dgm:pt>
    <dgm:pt modelId="{7BA8AFDD-9D27-41A8-86B5-EB7517DA3ACC}" type="pres">
      <dgm:prSet presAssocID="{0820F74C-F55C-44E6-A8E4-BCA85C11916C}" presName="Name0" presStyleCnt="0">
        <dgm:presLayoutVars>
          <dgm:dir/>
          <dgm:resizeHandles/>
        </dgm:presLayoutVars>
      </dgm:prSet>
      <dgm:spPr/>
      <dgm:t>
        <a:bodyPr/>
        <a:lstStyle/>
        <a:p>
          <a:endParaRPr lang="en-GB"/>
        </a:p>
      </dgm:t>
    </dgm:pt>
    <dgm:pt modelId="{80F72F6B-AFE0-4F4C-8305-37D1CBB599CC}" type="pres">
      <dgm:prSet presAssocID="{865E158D-E61F-4325-B37C-E0F9FD45B816}" presName="composite" presStyleCnt="0"/>
      <dgm:spPr/>
    </dgm:pt>
    <dgm:pt modelId="{FFF3AAFC-337C-4395-8429-24D731948644}" type="pres">
      <dgm:prSet presAssocID="{865E158D-E61F-4325-B37C-E0F9FD45B816}" presName="rect1" presStyleLbl="bgImgPlace1" presStyleIdx="0" presStyleCnt="2"/>
      <dgm:spPr>
        <a:blipFill rotWithShape="1">
          <a:blip xmlns:r="http://schemas.openxmlformats.org/officeDocument/2006/relationships" r:embed="rId1"/>
          <a:stretch>
            <a:fillRect/>
          </a:stretch>
        </a:blipFill>
      </dgm:spPr>
    </dgm:pt>
    <dgm:pt modelId="{EC38F7AE-63F1-4EA0-93DF-A95D751A04B2}" type="pres">
      <dgm:prSet presAssocID="{865E158D-E61F-4325-B37C-E0F9FD45B816}" presName="rect2" presStyleLbl="node1" presStyleIdx="0" presStyleCnt="2" custScaleX="81597" custScaleY="83351">
        <dgm:presLayoutVars>
          <dgm:bulletEnabled val="1"/>
        </dgm:presLayoutVars>
      </dgm:prSet>
      <dgm:spPr/>
      <dgm:t>
        <a:bodyPr/>
        <a:lstStyle/>
        <a:p>
          <a:endParaRPr lang="en-GB"/>
        </a:p>
      </dgm:t>
    </dgm:pt>
    <dgm:pt modelId="{3086D902-2A25-4D93-B385-DEFB057C2004}" type="pres">
      <dgm:prSet presAssocID="{05466EE8-AC97-49E0-ABD3-76B683BFE0C0}" presName="sibTrans" presStyleCnt="0"/>
      <dgm:spPr/>
    </dgm:pt>
    <dgm:pt modelId="{B28C6CCE-3928-4924-9E26-42F1DE8951FB}" type="pres">
      <dgm:prSet presAssocID="{25E5FA9C-4952-4181-8082-41D05323DC0C}" presName="composite" presStyleCnt="0"/>
      <dgm:spPr/>
    </dgm:pt>
    <dgm:pt modelId="{0974039E-3017-4E69-B7D6-D9529E90F468}" type="pres">
      <dgm:prSet presAssocID="{25E5FA9C-4952-4181-8082-41D05323DC0C}" presName="rect1" presStyleLbl="bgImgPlace1" presStyleIdx="1" presStyleCnt="2"/>
      <dgm:spPr>
        <a:blipFill rotWithShape="1">
          <a:blip xmlns:r="http://schemas.openxmlformats.org/officeDocument/2006/relationships" r:embed="rId2"/>
          <a:stretch>
            <a:fillRect/>
          </a:stretch>
        </a:blipFill>
      </dgm:spPr>
    </dgm:pt>
    <dgm:pt modelId="{1B36A1AB-CD50-488A-9370-63A2568B141B}" type="pres">
      <dgm:prSet presAssocID="{25E5FA9C-4952-4181-8082-41D05323DC0C}" presName="rect2" presStyleLbl="node1" presStyleIdx="1" presStyleCnt="2" custScaleX="82719" custScaleY="79482">
        <dgm:presLayoutVars>
          <dgm:bulletEnabled val="1"/>
        </dgm:presLayoutVars>
      </dgm:prSet>
      <dgm:spPr/>
      <dgm:t>
        <a:bodyPr/>
        <a:lstStyle/>
        <a:p>
          <a:endParaRPr lang="en-GB"/>
        </a:p>
      </dgm:t>
    </dgm:pt>
  </dgm:ptLst>
  <dgm:cxnLst>
    <dgm:cxn modelId="{8D662BCF-7755-43F9-860E-828B0D4219BF}" type="presOf" srcId="{0820F74C-F55C-44E6-A8E4-BCA85C11916C}" destId="{7BA8AFDD-9D27-41A8-86B5-EB7517DA3ACC}" srcOrd="0" destOrd="0" presId="urn:microsoft.com/office/officeart/2008/layout/BendingPictureBlocks"/>
    <dgm:cxn modelId="{97E328AD-44B8-4B67-AE92-B8F2A480739B}" srcId="{0820F74C-F55C-44E6-A8E4-BCA85C11916C}" destId="{865E158D-E61F-4325-B37C-E0F9FD45B816}" srcOrd="0" destOrd="0" parTransId="{EAA26088-7092-4A4B-9B7B-32119737098A}" sibTransId="{05466EE8-AC97-49E0-ABD3-76B683BFE0C0}"/>
    <dgm:cxn modelId="{466DE04B-E0AF-4262-9D0D-319B01004CFD}" type="presOf" srcId="{25E5FA9C-4952-4181-8082-41D05323DC0C}" destId="{1B36A1AB-CD50-488A-9370-63A2568B141B}" srcOrd="0" destOrd="0" presId="urn:microsoft.com/office/officeart/2008/layout/BendingPictureBlocks"/>
    <dgm:cxn modelId="{AE9AA5BB-41AA-4D53-B1AD-6D3D56BEF08C}" type="presOf" srcId="{865E158D-E61F-4325-B37C-E0F9FD45B816}" destId="{EC38F7AE-63F1-4EA0-93DF-A95D751A04B2}" srcOrd="0" destOrd="0" presId="urn:microsoft.com/office/officeart/2008/layout/BendingPictureBlocks"/>
    <dgm:cxn modelId="{900D2278-34E7-44EB-A14E-0D052EF575A4}" srcId="{0820F74C-F55C-44E6-A8E4-BCA85C11916C}" destId="{25E5FA9C-4952-4181-8082-41D05323DC0C}" srcOrd="1" destOrd="0" parTransId="{79C49545-E473-4FE4-B74D-E725E4BE9398}" sibTransId="{F0234F5F-0BAF-46E3-A585-06EC1EE4E708}"/>
    <dgm:cxn modelId="{ED840987-DE31-487F-ACAF-30CD037C2856}" type="presParOf" srcId="{7BA8AFDD-9D27-41A8-86B5-EB7517DA3ACC}" destId="{80F72F6B-AFE0-4F4C-8305-37D1CBB599CC}" srcOrd="0" destOrd="0" presId="urn:microsoft.com/office/officeart/2008/layout/BendingPictureBlocks"/>
    <dgm:cxn modelId="{E75A7E5F-3BC0-46D8-85B1-9957B27ACA08}" type="presParOf" srcId="{80F72F6B-AFE0-4F4C-8305-37D1CBB599CC}" destId="{FFF3AAFC-337C-4395-8429-24D731948644}" srcOrd="0" destOrd="0" presId="urn:microsoft.com/office/officeart/2008/layout/BendingPictureBlocks"/>
    <dgm:cxn modelId="{E2693B10-D06D-4000-9ECB-A2B8049FBCCC}" type="presParOf" srcId="{80F72F6B-AFE0-4F4C-8305-37D1CBB599CC}" destId="{EC38F7AE-63F1-4EA0-93DF-A95D751A04B2}" srcOrd="1" destOrd="0" presId="urn:microsoft.com/office/officeart/2008/layout/BendingPictureBlocks"/>
    <dgm:cxn modelId="{176CCE19-D0BE-44DB-85D6-00C7BD70C02E}" type="presParOf" srcId="{7BA8AFDD-9D27-41A8-86B5-EB7517DA3ACC}" destId="{3086D902-2A25-4D93-B385-DEFB057C2004}" srcOrd="1" destOrd="0" presId="urn:microsoft.com/office/officeart/2008/layout/BendingPictureBlocks"/>
    <dgm:cxn modelId="{272252B7-8DB1-4D90-B129-B97971C437D5}" type="presParOf" srcId="{7BA8AFDD-9D27-41A8-86B5-EB7517DA3ACC}" destId="{B28C6CCE-3928-4924-9E26-42F1DE8951FB}" srcOrd="2" destOrd="0" presId="urn:microsoft.com/office/officeart/2008/layout/BendingPictureBlocks"/>
    <dgm:cxn modelId="{26C45E0A-21FE-4081-BC34-5E871B486E5C}" type="presParOf" srcId="{B28C6CCE-3928-4924-9E26-42F1DE8951FB}" destId="{0974039E-3017-4E69-B7D6-D9529E90F468}" srcOrd="0" destOrd="0" presId="urn:microsoft.com/office/officeart/2008/layout/BendingPictureBlocks"/>
    <dgm:cxn modelId="{46AE9D03-1333-4E63-A92D-6BB84AEE3806}" type="presParOf" srcId="{B28C6CCE-3928-4924-9E26-42F1DE8951FB}" destId="{1B36A1AB-CD50-488A-9370-63A2568B141B}" srcOrd="1" destOrd="0" presId="urn:microsoft.com/office/officeart/2008/layout/BendingPictureBlocks"/>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820F74C-F55C-44E6-A8E4-BCA85C11916C}" type="doc">
      <dgm:prSet loTypeId="urn:microsoft.com/office/officeart/2008/layout/BendingPictureBlocks" loCatId="picture" qsTypeId="urn:microsoft.com/office/officeart/2005/8/quickstyle/simple1" qsCatId="simple" csTypeId="urn:microsoft.com/office/officeart/2005/8/colors/accent1_2" csCatId="accent1" phldr="1"/>
      <dgm:spPr/>
      <dgm:t>
        <a:bodyPr/>
        <a:lstStyle/>
        <a:p>
          <a:endParaRPr lang="en-GB"/>
        </a:p>
      </dgm:t>
    </dgm:pt>
    <dgm:pt modelId="{865E158D-E61F-4325-B37C-E0F9FD45B816}">
      <dgm:prSet phldrT="[Text]"/>
      <dgm:spPr>
        <a:solidFill>
          <a:srgbClr val="3F5378"/>
        </a:solidFill>
      </dgm:spPr>
      <dgm:t>
        <a:bodyPr/>
        <a:lstStyle/>
        <a:p>
          <a:r>
            <a:rPr lang="en-GB" dirty="0"/>
            <a:t>3</a:t>
          </a:r>
        </a:p>
      </dgm:t>
    </dgm:pt>
    <dgm:pt modelId="{EAA26088-7092-4A4B-9B7B-32119737098A}" type="parTrans" cxnId="{97E328AD-44B8-4B67-AE92-B8F2A480739B}">
      <dgm:prSet/>
      <dgm:spPr/>
      <dgm:t>
        <a:bodyPr/>
        <a:lstStyle/>
        <a:p>
          <a:endParaRPr lang="en-GB"/>
        </a:p>
      </dgm:t>
    </dgm:pt>
    <dgm:pt modelId="{05466EE8-AC97-49E0-ABD3-76B683BFE0C0}" type="sibTrans" cxnId="{97E328AD-44B8-4B67-AE92-B8F2A480739B}">
      <dgm:prSet/>
      <dgm:spPr/>
      <dgm:t>
        <a:bodyPr/>
        <a:lstStyle/>
        <a:p>
          <a:endParaRPr lang="en-GB"/>
        </a:p>
      </dgm:t>
    </dgm:pt>
    <dgm:pt modelId="{25E5FA9C-4952-4181-8082-41D05323DC0C}">
      <dgm:prSet phldrT="[Text]"/>
      <dgm:spPr>
        <a:solidFill>
          <a:srgbClr val="3F5378"/>
        </a:solidFill>
      </dgm:spPr>
      <dgm:t>
        <a:bodyPr/>
        <a:lstStyle/>
        <a:p>
          <a:r>
            <a:rPr lang="en-GB" dirty="0"/>
            <a:t>4</a:t>
          </a:r>
        </a:p>
      </dgm:t>
    </dgm:pt>
    <dgm:pt modelId="{79C49545-E473-4FE4-B74D-E725E4BE9398}" type="parTrans" cxnId="{900D2278-34E7-44EB-A14E-0D052EF575A4}">
      <dgm:prSet/>
      <dgm:spPr/>
      <dgm:t>
        <a:bodyPr/>
        <a:lstStyle/>
        <a:p>
          <a:endParaRPr lang="en-GB"/>
        </a:p>
      </dgm:t>
    </dgm:pt>
    <dgm:pt modelId="{F0234F5F-0BAF-46E3-A585-06EC1EE4E708}" type="sibTrans" cxnId="{900D2278-34E7-44EB-A14E-0D052EF575A4}">
      <dgm:prSet/>
      <dgm:spPr/>
      <dgm:t>
        <a:bodyPr/>
        <a:lstStyle/>
        <a:p>
          <a:endParaRPr lang="en-GB"/>
        </a:p>
      </dgm:t>
    </dgm:pt>
    <dgm:pt modelId="{7BA8AFDD-9D27-41A8-86B5-EB7517DA3ACC}" type="pres">
      <dgm:prSet presAssocID="{0820F74C-F55C-44E6-A8E4-BCA85C11916C}" presName="Name0" presStyleCnt="0">
        <dgm:presLayoutVars>
          <dgm:dir/>
          <dgm:resizeHandles/>
        </dgm:presLayoutVars>
      </dgm:prSet>
      <dgm:spPr/>
      <dgm:t>
        <a:bodyPr/>
        <a:lstStyle/>
        <a:p>
          <a:endParaRPr lang="en-GB"/>
        </a:p>
      </dgm:t>
    </dgm:pt>
    <dgm:pt modelId="{80F72F6B-AFE0-4F4C-8305-37D1CBB599CC}" type="pres">
      <dgm:prSet presAssocID="{865E158D-E61F-4325-B37C-E0F9FD45B816}" presName="composite" presStyleCnt="0"/>
      <dgm:spPr/>
    </dgm:pt>
    <dgm:pt modelId="{FFF3AAFC-337C-4395-8429-24D731948644}" type="pres">
      <dgm:prSet presAssocID="{865E158D-E61F-4325-B37C-E0F9FD45B816}" presName="rect1" presStyleLbl="bgImgPlace1" presStyleIdx="0" presStyleCnt="2"/>
      <dgm:spPr>
        <a:blipFill rotWithShape="1">
          <a:blip xmlns:r="http://schemas.openxmlformats.org/officeDocument/2006/relationships" r:embed="rId1"/>
          <a:stretch>
            <a:fillRect/>
          </a:stretch>
        </a:blipFill>
      </dgm:spPr>
    </dgm:pt>
    <dgm:pt modelId="{EC38F7AE-63F1-4EA0-93DF-A95D751A04B2}" type="pres">
      <dgm:prSet presAssocID="{865E158D-E61F-4325-B37C-E0F9FD45B816}" presName="rect2" presStyleLbl="node1" presStyleIdx="0" presStyleCnt="2" custScaleX="81597" custScaleY="83351">
        <dgm:presLayoutVars>
          <dgm:bulletEnabled val="1"/>
        </dgm:presLayoutVars>
      </dgm:prSet>
      <dgm:spPr/>
      <dgm:t>
        <a:bodyPr/>
        <a:lstStyle/>
        <a:p>
          <a:endParaRPr lang="en-GB"/>
        </a:p>
      </dgm:t>
    </dgm:pt>
    <dgm:pt modelId="{3086D902-2A25-4D93-B385-DEFB057C2004}" type="pres">
      <dgm:prSet presAssocID="{05466EE8-AC97-49E0-ABD3-76B683BFE0C0}" presName="sibTrans" presStyleCnt="0"/>
      <dgm:spPr/>
    </dgm:pt>
    <dgm:pt modelId="{B28C6CCE-3928-4924-9E26-42F1DE8951FB}" type="pres">
      <dgm:prSet presAssocID="{25E5FA9C-4952-4181-8082-41D05323DC0C}" presName="composite" presStyleCnt="0"/>
      <dgm:spPr/>
    </dgm:pt>
    <dgm:pt modelId="{0974039E-3017-4E69-B7D6-D9529E90F468}" type="pres">
      <dgm:prSet presAssocID="{25E5FA9C-4952-4181-8082-41D05323DC0C}" presName="rect1" presStyleLbl="bgImgPlace1" presStyleIdx="1" presStyleCnt="2"/>
      <dgm:spPr>
        <a:blipFill rotWithShape="1">
          <a:blip xmlns:r="http://schemas.openxmlformats.org/officeDocument/2006/relationships" r:embed="rId2"/>
          <a:stretch>
            <a:fillRect/>
          </a:stretch>
        </a:blipFill>
      </dgm:spPr>
    </dgm:pt>
    <dgm:pt modelId="{1B36A1AB-CD50-488A-9370-63A2568B141B}" type="pres">
      <dgm:prSet presAssocID="{25E5FA9C-4952-4181-8082-41D05323DC0C}" presName="rect2" presStyleLbl="node1" presStyleIdx="1" presStyleCnt="2" custScaleX="82719" custScaleY="79482">
        <dgm:presLayoutVars>
          <dgm:bulletEnabled val="1"/>
        </dgm:presLayoutVars>
      </dgm:prSet>
      <dgm:spPr/>
      <dgm:t>
        <a:bodyPr/>
        <a:lstStyle/>
        <a:p>
          <a:endParaRPr lang="en-GB"/>
        </a:p>
      </dgm:t>
    </dgm:pt>
  </dgm:ptLst>
  <dgm:cxnLst>
    <dgm:cxn modelId="{580DD98F-38D1-4B30-A6E5-E9DACBA0F31E}" type="presOf" srcId="{25E5FA9C-4952-4181-8082-41D05323DC0C}" destId="{1B36A1AB-CD50-488A-9370-63A2568B141B}" srcOrd="0" destOrd="0" presId="urn:microsoft.com/office/officeart/2008/layout/BendingPictureBlocks"/>
    <dgm:cxn modelId="{A0BA7E35-09C8-4EF5-B35E-2B4020F469F0}" type="presOf" srcId="{865E158D-E61F-4325-B37C-E0F9FD45B816}" destId="{EC38F7AE-63F1-4EA0-93DF-A95D751A04B2}" srcOrd="0" destOrd="0" presId="urn:microsoft.com/office/officeart/2008/layout/BendingPictureBlocks"/>
    <dgm:cxn modelId="{900D2278-34E7-44EB-A14E-0D052EF575A4}" srcId="{0820F74C-F55C-44E6-A8E4-BCA85C11916C}" destId="{25E5FA9C-4952-4181-8082-41D05323DC0C}" srcOrd="1" destOrd="0" parTransId="{79C49545-E473-4FE4-B74D-E725E4BE9398}" sibTransId="{F0234F5F-0BAF-46E3-A585-06EC1EE4E708}"/>
    <dgm:cxn modelId="{97E328AD-44B8-4B67-AE92-B8F2A480739B}" srcId="{0820F74C-F55C-44E6-A8E4-BCA85C11916C}" destId="{865E158D-E61F-4325-B37C-E0F9FD45B816}" srcOrd="0" destOrd="0" parTransId="{EAA26088-7092-4A4B-9B7B-32119737098A}" sibTransId="{05466EE8-AC97-49E0-ABD3-76B683BFE0C0}"/>
    <dgm:cxn modelId="{17B37C20-A98A-4A37-B7F3-5E7814008508}" type="presOf" srcId="{0820F74C-F55C-44E6-A8E4-BCA85C11916C}" destId="{7BA8AFDD-9D27-41A8-86B5-EB7517DA3ACC}" srcOrd="0" destOrd="0" presId="urn:microsoft.com/office/officeart/2008/layout/BendingPictureBlocks"/>
    <dgm:cxn modelId="{606E9090-98FB-43DF-B6BA-5D493CEA718A}" type="presParOf" srcId="{7BA8AFDD-9D27-41A8-86B5-EB7517DA3ACC}" destId="{80F72F6B-AFE0-4F4C-8305-37D1CBB599CC}" srcOrd="0" destOrd="0" presId="urn:microsoft.com/office/officeart/2008/layout/BendingPictureBlocks"/>
    <dgm:cxn modelId="{620B985D-9BE0-4C97-9CD5-56E2686359CF}" type="presParOf" srcId="{80F72F6B-AFE0-4F4C-8305-37D1CBB599CC}" destId="{FFF3AAFC-337C-4395-8429-24D731948644}" srcOrd="0" destOrd="0" presId="urn:microsoft.com/office/officeart/2008/layout/BendingPictureBlocks"/>
    <dgm:cxn modelId="{1CF36D5D-18E4-43D6-A596-096A81B3614E}" type="presParOf" srcId="{80F72F6B-AFE0-4F4C-8305-37D1CBB599CC}" destId="{EC38F7AE-63F1-4EA0-93DF-A95D751A04B2}" srcOrd="1" destOrd="0" presId="urn:microsoft.com/office/officeart/2008/layout/BendingPictureBlocks"/>
    <dgm:cxn modelId="{A5085188-C889-4F7F-A970-1ABC95B7ACEA}" type="presParOf" srcId="{7BA8AFDD-9D27-41A8-86B5-EB7517DA3ACC}" destId="{3086D902-2A25-4D93-B385-DEFB057C2004}" srcOrd="1" destOrd="0" presId="urn:microsoft.com/office/officeart/2008/layout/BendingPictureBlocks"/>
    <dgm:cxn modelId="{2829EFEC-9684-4B56-9DDE-B104B668B3E5}" type="presParOf" srcId="{7BA8AFDD-9D27-41A8-86B5-EB7517DA3ACC}" destId="{B28C6CCE-3928-4924-9E26-42F1DE8951FB}" srcOrd="2" destOrd="0" presId="urn:microsoft.com/office/officeart/2008/layout/BendingPictureBlocks"/>
    <dgm:cxn modelId="{B123FFA6-0AB1-4F90-A438-19E095F9FC3C}" type="presParOf" srcId="{B28C6CCE-3928-4924-9E26-42F1DE8951FB}" destId="{0974039E-3017-4E69-B7D6-D9529E90F468}" srcOrd="0" destOrd="0" presId="urn:microsoft.com/office/officeart/2008/layout/BendingPictureBlocks"/>
    <dgm:cxn modelId="{E9C5D5B3-DA1C-465E-A048-C8389548697C}" type="presParOf" srcId="{B28C6CCE-3928-4924-9E26-42F1DE8951FB}" destId="{1B36A1AB-CD50-488A-9370-63A2568B141B}" srcOrd="1" destOrd="0" presId="urn:microsoft.com/office/officeart/2008/layout/BendingPictureBlocks"/>
  </dgm:cxnLst>
  <dgm:bg/>
  <dgm:whole/>
  <dgm:extLst>
    <a:ext uri="http://schemas.microsoft.com/office/drawing/2008/diagram">
      <dsp:dataModelExt xmlns:dsp="http://schemas.microsoft.com/office/drawing/2008/diagram" relId="rId23"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820F74C-F55C-44E6-A8E4-BCA85C11916C}" type="doc">
      <dgm:prSet loTypeId="urn:microsoft.com/office/officeart/2008/layout/BendingPictureBlocks" loCatId="picture" qsTypeId="urn:microsoft.com/office/officeart/2005/8/quickstyle/simple1" qsCatId="simple" csTypeId="urn:microsoft.com/office/officeart/2005/8/colors/accent1_2" csCatId="accent1" phldr="1"/>
      <dgm:spPr/>
      <dgm:t>
        <a:bodyPr/>
        <a:lstStyle/>
        <a:p>
          <a:endParaRPr lang="en-GB"/>
        </a:p>
      </dgm:t>
    </dgm:pt>
    <dgm:pt modelId="{865E158D-E61F-4325-B37C-E0F9FD45B816}">
      <dgm:prSet phldrT="[Text]"/>
      <dgm:spPr>
        <a:solidFill>
          <a:srgbClr val="3F5378"/>
        </a:solidFill>
      </dgm:spPr>
      <dgm:t>
        <a:bodyPr/>
        <a:lstStyle/>
        <a:p>
          <a:r>
            <a:rPr lang="en-GB" dirty="0"/>
            <a:t>14</a:t>
          </a:r>
        </a:p>
      </dgm:t>
    </dgm:pt>
    <dgm:pt modelId="{EAA26088-7092-4A4B-9B7B-32119737098A}" type="parTrans" cxnId="{97E328AD-44B8-4B67-AE92-B8F2A480739B}">
      <dgm:prSet/>
      <dgm:spPr/>
      <dgm:t>
        <a:bodyPr/>
        <a:lstStyle/>
        <a:p>
          <a:endParaRPr lang="en-GB"/>
        </a:p>
      </dgm:t>
    </dgm:pt>
    <dgm:pt modelId="{05466EE8-AC97-49E0-ABD3-76B683BFE0C0}" type="sibTrans" cxnId="{97E328AD-44B8-4B67-AE92-B8F2A480739B}">
      <dgm:prSet/>
      <dgm:spPr/>
      <dgm:t>
        <a:bodyPr/>
        <a:lstStyle/>
        <a:p>
          <a:endParaRPr lang="en-GB"/>
        </a:p>
      </dgm:t>
    </dgm:pt>
    <dgm:pt modelId="{25E5FA9C-4952-4181-8082-41D05323DC0C}">
      <dgm:prSet phldrT="[Text]"/>
      <dgm:spPr>
        <a:solidFill>
          <a:srgbClr val="3F5378"/>
        </a:solidFill>
      </dgm:spPr>
      <dgm:t>
        <a:bodyPr/>
        <a:lstStyle/>
        <a:p>
          <a:r>
            <a:rPr lang="en-GB" dirty="0"/>
            <a:t>13</a:t>
          </a:r>
        </a:p>
      </dgm:t>
    </dgm:pt>
    <dgm:pt modelId="{79C49545-E473-4FE4-B74D-E725E4BE9398}" type="parTrans" cxnId="{900D2278-34E7-44EB-A14E-0D052EF575A4}">
      <dgm:prSet/>
      <dgm:spPr/>
      <dgm:t>
        <a:bodyPr/>
        <a:lstStyle/>
        <a:p>
          <a:endParaRPr lang="en-GB"/>
        </a:p>
      </dgm:t>
    </dgm:pt>
    <dgm:pt modelId="{F0234F5F-0BAF-46E3-A585-06EC1EE4E708}" type="sibTrans" cxnId="{900D2278-34E7-44EB-A14E-0D052EF575A4}">
      <dgm:prSet/>
      <dgm:spPr/>
      <dgm:t>
        <a:bodyPr/>
        <a:lstStyle/>
        <a:p>
          <a:endParaRPr lang="en-GB"/>
        </a:p>
      </dgm:t>
    </dgm:pt>
    <dgm:pt modelId="{7BA8AFDD-9D27-41A8-86B5-EB7517DA3ACC}" type="pres">
      <dgm:prSet presAssocID="{0820F74C-F55C-44E6-A8E4-BCA85C11916C}" presName="Name0" presStyleCnt="0">
        <dgm:presLayoutVars>
          <dgm:dir/>
          <dgm:resizeHandles/>
        </dgm:presLayoutVars>
      </dgm:prSet>
      <dgm:spPr/>
      <dgm:t>
        <a:bodyPr/>
        <a:lstStyle/>
        <a:p>
          <a:endParaRPr lang="en-GB"/>
        </a:p>
      </dgm:t>
    </dgm:pt>
    <dgm:pt modelId="{80F72F6B-AFE0-4F4C-8305-37D1CBB599CC}" type="pres">
      <dgm:prSet presAssocID="{865E158D-E61F-4325-B37C-E0F9FD45B816}" presName="composite" presStyleCnt="0"/>
      <dgm:spPr/>
    </dgm:pt>
    <dgm:pt modelId="{FFF3AAFC-337C-4395-8429-24D731948644}" type="pres">
      <dgm:prSet presAssocID="{865E158D-E61F-4325-B37C-E0F9FD45B816}" presName="rect1" presStyleLbl="bgImgPlace1" presStyleIdx="0" presStyleCnt="2"/>
      <dgm:spPr>
        <a:blipFill rotWithShape="1">
          <a:blip xmlns:r="http://schemas.openxmlformats.org/officeDocument/2006/relationships" r:embed="rId1"/>
          <a:stretch>
            <a:fillRect/>
          </a:stretch>
        </a:blipFill>
      </dgm:spPr>
    </dgm:pt>
    <dgm:pt modelId="{EC38F7AE-63F1-4EA0-93DF-A95D751A04B2}" type="pres">
      <dgm:prSet presAssocID="{865E158D-E61F-4325-B37C-E0F9FD45B816}" presName="rect2" presStyleLbl="node1" presStyleIdx="0" presStyleCnt="2" custScaleX="81597" custScaleY="83351">
        <dgm:presLayoutVars>
          <dgm:bulletEnabled val="1"/>
        </dgm:presLayoutVars>
      </dgm:prSet>
      <dgm:spPr/>
      <dgm:t>
        <a:bodyPr/>
        <a:lstStyle/>
        <a:p>
          <a:endParaRPr lang="en-GB"/>
        </a:p>
      </dgm:t>
    </dgm:pt>
    <dgm:pt modelId="{3086D902-2A25-4D93-B385-DEFB057C2004}" type="pres">
      <dgm:prSet presAssocID="{05466EE8-AC97-49E0-ABD3-76B683BFE0C0}" presName="sibTrans" presStyleCnt="0"/>
      <dgm:spPr/>
    </dgm:pt>
    <dgm:pt modelId="{B28C6CCE-3928-4924-9E26-42F1DE8951FB}" type="pres">
      <dgm:prSet presAssocID="{25E5FA9C-4952-4181-8082-41D05323DC0C}" presName="composite" presStyleCnt="0"/>
      <dgm:spPr/>
    </dgm:pt>
    <dgm:pt modelId="{0974039E-3017-4E69-B7D6-D9529E90F468}" type="pres">
      <dgm:prSet presAssocID="{25E5FA9C-4952-4181-8082-41D05323DC0C}" presName="rect1" presStyleLbl="bgImgPlace1" presStyleIdx="1" presStyleCnt="2"/>
      <dgm:spPr>
        <a:blipFill rotWithShape="1">
          <a:blip xmlns:r="http://schemas.openxmlformats.org/officeDocument/2006/relationships" r:embed="rId2"/>
          <a:stretch>
            <a:fillRect/>
          </a:stretch>
        </a:blipFill>
      </dgm:spPr>
    </dgm:pt>
    <dgm:pt modelId="{1B36A1AB-CD50-488A-9370-63A2568B141B}" type="pres">
      <dgm:prSet presAssocID="{25E5FA9C-4952-4181-8082-41D05323DC0C}" presName="rect2" presStyleLbl="node1" presStyleIdx="1" presStyleCnt="2" custScaleX="82719" custScaleY="79482">
        <dgm:presLayoutVars>
          <dgm:bulletEnabled val="1"/>
        </dgm:presLayoutVars>
      </dgm:prSet>
      <dgm:spPr/>
      <dgm:t>
        <a:bodyPr/>
        <a:lstStyle/>
        <a:p>
          <a:endParaRPr lang="en-GB"/>
        </a:p>
      </dgm:t>
    </dgm:pt>
  </dgm:ptLst>
  <dgm:cxnLst>
    <dgm:cxn modelId="{97E328AD-44B8-4B67-AE92-B8F2A480739B}" srcId="{0820F74C-F55C-44E6-A8E4-BCA85C11916C}" destId="{865E158D-E61F-4325-B37C-E0F9FD45B816}" srcOrd="0" destOrd="0" parTransId="{EAA26088-7092-4A4B-9B7B-32119737098A}" sibTransId="{05466EE8-AC97-49E0-ABD3-76B683BFE0C0}"/>
    <dgm:cxn modelId="{B4B7A97B-18B7-4B6C-8A40-2674F49A7E81}" type="presOf" srcId="{865E158D-E61F-4325-B37C-E0F9FD45B816}" destId="{EC38F7AE-63F1-4EA0-93DF-A95D751A04B2}" srcOrd="0" destOrd="0" presId="urn:microsoft.com/office/officeart/2008/layout/BendingPictureBlocks"/>
    <dgm:cxn modelId="{0D538E91-3AD4-4F42-99EF-7CCB2B0733B9}" type="presOf" srcId="{0820F74C-F55C-44E6-A8E4-BCA85C11916C}" destId="{7BA8AFDD-9D27-41A8-86B5-EB7517DA3ACC}" srcOrd="0" destOrd="0" presId="urn:microsoft.com/office/officeart/2008/layout/BendingPictureBlocks"/>
    <dgm:cxn modelId="{CCCAE2BB-84C5-48E2-8C1E-DEFC60C8EB83}" type="presOf" srcId="{25E5FA9C-4952-4181-8082-41D05323DC0C}" destId="{1B36A1AB-CD50-488A-9370-63A2568B141B}" srcOrd="0" destOrd="0" presId="urn:microsoft.com/office/officeart/2008/layout/BendingPictureBlocks"/>
    <dgm:cxn modelId="{900D2278-34E7-44EB-A14E-0D052EF575A4}" srcId="{0820F74C-F55C-44E6-A8E4-BCA85C11916C}" destId="{25E5FA9C-4952-4181-8082-41D05323DC0C}" srcOrd="1" destOrd="0" parTransId="{79C49545-E473-4FE4-B74D-E725E4BE9398}" sibTransId="{F0234F5F-0BAF-46E3-A585-06EC1EE4E708}"/>
    <dgm:cxn modelId="{1EFBEC7E-F4F1-41E3-9626-AAB5305575E3}" type="presParOf" srcId="{7BA8AFDD-9D27-41A8-86B5-EB7517DA3ACC}" destId="{80F72F6B-AFE0-4F4C-8305-37D1CBB599CC}" srcOrd="0" destOrd="0" presId="urn:microsoft.com/office/officeart/2008/layout/BendingPictureBlocks"/>
    <dgm:cxn modelId="{618EF35D-EFA7-48B4-97FD-2125D9EA87CC}" type="presParOf" srcId="{80F72F6B-AFE0-4F4C-8305-37D1CBB599CC}" destId="{FFF3AAFC-337C-4395-8429-24D731948644}" srcOrd="0" destOrd="0" presId="urn:microsoft.com/office/officeart/2008/layout/BendingPictureBlocks"/>
    <dgm:cxn modelId="{389F1E65-A98D-4456-81E7-BDBB2AE8DDCB}" type="presParOf" srcId="{80F72F6B-AFE0-4F4C-8305-37D1CBB599CC}" destId="{EC38F7AE-63F1-4EA0-93DF-A95D751A04B2}" srcOrd="1" destOrd="0" presId="urn:microsoft.com/office/officeart/2008/layout/BendingPictureBlocks"/>
    <dgm:cxn modelId="{154DA213-12F1-4174-A892-95DA80FA12DA}" type="presParOf" srcId="{7BA8AFDD-9D27-41A8-86B5-EB7517DA3ACC}" destId="{3086D902-2A25-4D93-B385-DEFB057C2004}" srcOrd="1" destOrd="0" presId="urn:microsoft.com/office/officeart/2008/layout/BendingPictureBlocks"/>
    <dgm:cxn modelId="{BB75CC9F-1BFE-4133-B02D-89820758D12E}" type="presParOf" srcId="{7BA8AFDD-9D27-41A8-86B5-EB7517DA3ACC}" destId="{B28C6CCE-3928-4924-9E26-42F1DE8951FB}" srcOrd="2" destOrd="0" presId="urn:microsoft.com/office/officeart/2008/layout/BendingPictureBlocks"/>
    <dgm:cxn modelId="{C0BB161C-0DA5-45B6-97F2-4C009C1C2E54}" type="presParOf" srcId="{B28C6CCE-3928-4924-9E26-42F1DE8951FB}" destId="{0974039E-3017-4E69-B7D6-D9529E90F468}" srcOrd="0" destOrd="0" presId="urn:microsoft.com/office/officeart/2008/layout/BendingPictureBlocks"/>
    <dgm:cxn modelId="{96084EC5-549E-4636-AC20-BF3A7C8A1292}" type="presParOf" srcId="{B28C6CCE-3928-4924-9E26-42F1DE8951FB}" destId="{1B36A1AB-CD50-488A-9370-63A2568B141B}" srcOrd="1" destOrd="0" presId="urn:microsoft.com/office/officeart/2008/layout/BendingPictureBlocks"/>
  </dgm:cxnLst>
  <dgm:bg/>
  <dgm:whole/>
  <dgm:extLst>
    <a:ext uri="http://schemas.microsoft.com/office/drawing/2008/diagram">
      <dsp:dataModelExt xmlns:dsp="http://schemas.microsoft.com/office/drawing/2008/diagram" relId="rId2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CADE24-D5E0-4593-9F07-18ED10869600}">
      <dsp:nvSpPr>
        <dsp:cNvPr id="0" name=""/>
        <dsp:cNvSpPr/>
      </dsp:nvSpPr>
      <dsp:spPr>
        <a:xfrm>
          <a:off x="940460" y="1626"/>
          <a:ext cx="2828279" cy="226262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 r="-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D24404-DC8F-4749-9C55-C95A3CB8F2FF}">
      <dsp:nvSpPr>
        <dsp:cNvPr id="0" name=""/>
        <dsp:cNvSpPr/>
      </dsp:nvSpPr>
      <dsp:spPr>
        <a:xfrm>
          <a:off x="1195005" y="2037988"/>
          <a:ext cx="2517169" cy="79191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GB" sz="2000" b="0" kern="1200" dirty="0">
              <a:latin typeface="Roboto Condensed" panose="020B0604020202020204"/>
            </a:rPr>
            <a:t>Prosthetics control</a:t>
          </a:r>
        </a:p>
      </dsp:txBody>
      <dsp:txXfrm>
        <a:off x="1195005" y="2037988"/>
        <a:ext cx="2517169" cy="7919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CADE24-D5E0-4593-9F07-18ED10869600}">
      <dsp:nvSpPr>
        <dsp:cNvPr id="0" name=""/>
        <dsp:cNvSpPr/>
      </dsp:nvSpPr>
      <dsp:spPr>
        <a:xfrm>
          <a:off x="897087" y="2165"/>
          <a:ext cx="3015340" cy="2412272"/>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000" r="-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D24404-DC8F-4749-9C55-C95A3CB8F2FF}">
      <dsp:nvSpPr>
        <dsp:cNvPr id="0" name=""/>
        <dsp:cNvSpPr/>
      </dsp:nvSpPr>
      <dsp:spPr>
        <a:xfrm>
          <a:off x="1168467" y="2173210"/>
          <a:ext cx="2683653" cy="844295"/>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GB" sz="2000" b="0" kern="1200" dirty="0">
              <a:latin typeface="Roboto Condensed" panose="020B0604020202020204"/>
            </a:rPr>
            <a:t>VR/AR interfaces</a:t>
          </a:r>
        </a:p>
      </dsp:txBody>
      <dsp:txXfrm>
        <a:off x="1168467" y="2173210"/>
        <a:ext cx="2683653" cy="8442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CADE24-D5E0-4593-9F07-18ED10869600}">
      <dsp:nvSpPr>
        <dsp:cNvPr id="0" name=""/>
        <dsp:cNvSpPr/>
      </dsp:nvSpPr>
      <dsp:spPr>
        <a:xfrm>
          <a:off x="942184" y="894"/>
          <a:ext cx="3114577" cy="2491662"/>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1000" r="-2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D24404-DC8F-4749-9C55-C95A3CB8F2FF}">
      <dsp:nvSpPr>
        <dsp:cNvPr id="0" name=""/>
        <dsp:cNvSpPr/>
      </dsp:nvSpPr>
      <dsp:spPr>
        <a:xfrm>
          <a:off x="1222496" y="2243390"/>
          <a:ext cx="2771974" cy="872081"/>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GB" sz="2000" b="0" kern="1200" dirty="0">
              <a:latin typeface="Roboto Condensed" panose="020B0604020202020204"/>
            </a:rPr>
            <a:t>Robotics &amp; assistive devices</a:t>
          </a:r>
        </a:p>
      </dsp:txBody>
      <dsp:txXfrm>
        <a:off x="1222496" y="2243390"/>
        <a:ext cx="2771974" cy="87208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CADE24-D5E0-4593-9F07-18ED10869600}">
      <dsp:nvSpPr>
        <dsp:cNvPr id="0" name=""/>
        <dsp:cNvSpPr/>
      </dsp:nvSpPr>
      <dsp:spPr>
        <a:xfrm>
          <a:off x="1199137" y="455"/>
          <a:ext cx="2951931" cy="2361545"/>
        </a:xfrm>
        <a:prstGeom prst="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1000" r="-5000" b="-52000"/>
          </a:stretch>
        </a:blipFill>
        <a:ln w="25400" cap="flat" cmpd="sng" algn="ctr">
          <a:noFill/>
          <a:prstDash val="solid"/>
        </a:ln>
        <a:effectLst/>
      </dsp:spPr>
      <dsp:style>
        <a:lnRef idx="2">
          <a:scrgbClr r="0" g="0" b="0"/>
        </a:lnRef>
        <a:fillRef idx="1">
          <a:scrgbClr r="0" g="0" b="0"/>
        </a:fillRef>
        <a:effectRef idx="0">
          <a:scrgbClr r="0" g="0" b="0"/>
        </a:effectRef>
        <a:fontRef idx="minor"/>
      </dsp:style>
    </dsp:sp>
    <dsp:sp modelId="{7CD24404-DC8F-4749-9C55-C95A3CB8F2FF}">
      <dsp:nvSpPr>
        <dsp:cNvPr id="0" name=""/>
        <dsp:cNvSpPr/>
      </dsp:nvSpPr>
      <dsp:spPr>
        <a:xfrm>
          <a:off x="1469475" y="2125846"/>
          <a:ext cx="2627219" cy="826540"/>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GB" sz="2000" b="0" kern="1200" dirty="0">
              <a:latin typeface="Roboto Condensed" panose="020B0604020202020204"/>
            </a:rPr>
            <a:t>Wearable EMG</a:t>
          </a:r>
        </a:p>
      </dsp:txBody>
      <dsp:txXfrm>
        <a:off x="1469475" y="2125846"/>
        <a:ext cx="2627219" cy="8265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CADE24-D5E0-4593-9F07-18ED10869600}">
      <dsp:nvSpPr>
        <dsp:cNvPr id="0" name=""/>
        <dsp:cNvSpPr/>
      </dsp:nvSpPr>
      <dsp:spPr>
        <a:xfrm>
          <a:off x="876648" y="1533"/>
          <a:ext cx="3072983" cy="2458386"/>
        </a:xfrm>
        <a:prstGeom prst="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t="-1000" b="1000"/>
          </a:stretch>
        </a:blipFill>
        <a:ln w="25400" cap="flat" cmpd="sng" algn="ctr">
          <a:noFill/>
          <a:prstDash val="solid"/>
        </a:ln>
        <a:effectLst/>
      </dsp:spPr>
      <dsp:style>
        <a:lnRef idx="2">
          <a:scrgbClr r="0" g="0" b="0"/>
        </a:lnRef>
        <a:fillRef idx="1">
          <a:scrgbClr r="0" g="0" b="0"/>
        </a:fillRef>
        <a:effectRef idx="0">
          <a:scrgbClr r="0" g="0" b="0"/>
        </a:effectRef>
        <a:fontRef idx="minor"/>
      </dsp:style>
    </dsp:sp>
    <dsp:sp modelId="{7CD24404-DC8F-4749-9C55-C95A3CB8F2FF}">
      <dsp:nvSpPr>
        <dsp:cNvPr id="0" name=""/>
        <dsp:cNvSpPr/>
      </dsp:nvSpPr>
      <dsp:spPr>
        <a:xfrm>
          <a:off x="1153217" y="2214081"/>
          <a:ext cx="2734955" cy="860435"/>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GB" sz="2400" b="0" kern="1200" dirty="0">
              <a:latin typeface="Roboto Condensed" panose="020B0604020202020204"/>
            </a:rPr>
            <a:t>Vision-Based</a:t>
          </a:r>
        </a:p>
      </dsp:txBody>
      <dsp:txXfrm>
        <a:off x="1153217" y="2214081"/>
        <a:ext cx="2734955" cy="8604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FDE25D-56FA-4A03-8D08-C8EF9DDEFE97}">
      <dsp:nvSpPr>
        <dsp:cNvPr id="0" name=""/>
        <dsp:cNvSpPr/>
      </dsp:nvSpPr>
      <dsp:spPr>
        <a:xfrm>
          <a:off x="2923" y="382787"/>
          <a:ext cx="1582815" cy="1266252"/>
        </a:xfrm>
        <a:prstGeom prst="rect">
          <a:avLst/>
        </a:prstGeom>
        <a:blipFill rotWithShape="1">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4327A9C-FE27-410F-BE4C-8F74864A9FA4}">
      <dsp:nvSpPr>
        <dsp:cNvPr id="0" name=""/>
        <dsp:cNvSpPr/>
      </dsp:nvSpPr>
      <dsp:spPr>
        <a:xfrm>
          <a:off x="145376" y="1522414"/>
          <a:ext cx="1408705" cy="44318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GB" sz="1500" b="0" kern="1200" dirty="0">
              <a:latin typeface="Roboto Condensed" panose="020B0604020202020204"/>
            </a:rPr>
            <a:t>1.Thumb up</a:t>
          </a:r>
        </a:p>
      </dsp:txBody>
      <dsp:txXfrm>
        <a:off x="145376" y="1522414"/>
        <a:ext cx="1408705" cy="443188"/>
      </dsp:txXfrm>
    </dsp:sp>
    <dsp:sp modelId="{DE7B521B-A310-4D40-B200-B2DB7EE611C6}">
      <dsp:nvSpPr>
        <dsp:cNvPr id="0" name=""/>
        <dsp:cNvSpPr/>
      </dsp:nvSpPr>
      <dsp:spPr>
        <a:xfrm>
          <a:off x="1744020" y="382787"/>
          <a:ext cx="1582815" cy="1266252"/>
        </a:xfrm>
        <a:prstGeom prst="rect">
          <a:avLst/>
        </a:prstGeom>
        <a:blipFill rotWithShape="1">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C9E1964-7C6B-414B-A2ED-175613CF5201}">
      <dsp:nvSpPr>
        <dsp:cNvPr id="0" name=""/>
        <dsp:cNvSpPr/>
      </dsp:nvSpPr>
      <dsp:spPr>
        <a:xfrm>
          <a:off x="1886473" y="1522414"/>
          <a:ext cx="1408705" cy="44318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GB" sz="1400" b="0" kern="1200" dirty="0">
              <a:latin typeface="Roboto Condensed" panose="020B0604020202020204"/>
            </a:rPr>
            <a:t>2.Two-finger point</a:t>
          </a:r>
        </a:p>
      </dsp:txBody>
      <dsp:txXfrm>
        <a:off x="1886473" y="1522414"/>
        <a:ext cx="1408705" cy="443188"/>
      </dsp:txXfrm>
    </dsp:sp>
    <dsp:sp modelId="{0F9576EC-6841-410E-B088-385984F84075}">
      <dsp:nvSpPr>
        <dsp:cNvPr id="0" name=""/>
        <dsp:cNvSpPr/>
      </dsp:nvSpPr>
      <dsp:spPr>
        <a:xfrm>
          <a:off x="3485117" y="382787"/>
          <a:ext cx="1582815" cy="1266252"/>
        </a:xfrm>
        <a:prstGeom prst="rect">
          <a:avLst/>
        </a:prstGeom>
        <a:blipFill rotWithShape="1">
          <a:blip xmlns:r="http://schemas.openxmlformats.org/officeDocument/2006/relationships" r:embed="rId3"/>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5E83B3-A2E9-4BCD-B2CA-E5FA625778F5}">
      <dsp:nvSpPr>
        <dsp:cNvPr id="0" name=""/>
        <dsp:cNvSpPr/>
      </dsp:nvSpPr>
      <dsp:spPr>
        <a:xfrm>
          <a:off x="3627570" y="1522414"/>
          <a:ext cx="1408705" cy="44318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55625">
            <a:lnSpc>
              <a:spcPct val="90000"/>
            </a:lnSpc>
            <a:spcBef>
              <a:spcPct val="0"/>
            </a:spcBef>
            <a:spcAft>
              <a:spcPct val="35000"/>
            </a:spcAft>
          </a:pPr>
          <a:r>
            <a:rPr lang="en-GB" sz="1250" b="0" kern="1200" dirty="0">
              <a:latin typeface="Roboto Condensed" panose="020B0604020202020204"/>
            </a:rPr>
            <a:t>3.Ring/little flexed, others </a:t>
          </a:r>
          <a:r>
            <a:rPr lang="en-GB" sz="1250" b="0" kern="1200" dirty="0" err="1">
              <a:latin typeface="Roboto Condensed" panose="020B0604020202020204"/>
            </a:rPr>
            <a:t>extendeds</a:t>
          </a:r>
          <a:endParaRPr lang="en-GB" sz="1250" b="0" kern="1200" dirty="0">
            <a:latin typeface="Roboto Condensed" panose="020B0604020202020204"/>
          </a:endParaRPr>
        </a:p>
      </dsp:txBody>
      <dsp:txXfrm>
        <a:off x="3627570" y="1522414"/>
        <a:ext cx="1408705" cy="443188"/>
      </dsp:txXfrm>
    </dsp:sp>
    <dsp:sp modelId="{E16BE17B-0656-4B6F-81AF-20CBCAAF3ABF}">
      <dsp:nvSpPr>
        <dsp:cNvPr id="0" name=""/>
        <dsp:cNvSpPr/>
      </dsp:nvSpPr>
      <dsp:spPr>
        <a:xfrm>
          <a:off x="5226214" y="382787"/>
          <a:ext cx="1582815" cy="1266252"/>
        </a:xfrm>
        <a:prstGeom prst="rect">
          <a:avLst/>
        </a:prstGeom>
        <a:blipFill rotWithShape="1">
          <a:blip xmlns:r="http://schemas.openxmlformats.org/officeDocument/2006/relationships" r:embed="rId4"/>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F6372DC-8C30-4480-B5F6-E15FECCC6F24}">
      <dsp:nvSpPr>
        <dsp:cNvPr id="0" name=""/>
        <dsp:cNvSpPr/>
      </dsp:nvSpPr>
      <dsp:spPr>
        <a:xfrm>
          <a:off x="5368667" y="1522414"/>
          <a:ext cx="1408705" cy="44318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GB" sz="1400" kern="1200" dirty="0">
              <a:latin typeface="Roboto Condensed" panose="020B0604020202020204"/>
            </a:rPr>
            <a:t>4.Thumb to </a:t>
          </a:r>
          <a:r>
            <a:rPr lang="en-GB" sz="1400" kern="1200" dirty="0" err="1">
              <a:latin typeface="Roboto Condensed" panose="020B0604020202020204"/>
            </a:rPr>
            <a:t>pinky</a:t>
          </a:r>
          <a:r>
            <a:rPr lang="en-GB" sz="1400" kern="1200" dirty="0">
              <a:latin typeface="Roboto Condensed" panose="020B0604020202020204"/>
            </a:rPr>
            <a:t> base</a:t>
          </a:r>
        </a:p>
      </dsp:txBody>
      <dsp:txXfrm>
        <a:off x="5368667" y="1522414"/>
        <a:ext cx="1408705" cy="443188"/>
      </dsp:txXfrm>
    </dsp:sp>
    <dsp:sp modelId="{E0F25ADA-EC93-4D53-A644-58B522FDEDD2}">
      <dsp:nvSpPr>
        <dsp:cNvPr id="0" name=""/>
        <dsp:cNvSpPr/>
      </dsp:nvSpPr>
      <dsp:spPr>
        <a:xfrm>
          <a:off x="6967311" y="382787"/>
          <a:ext cx="1582815" cy="1266252"/>
        </a:xfrm>
        <a:prstGeom prst="rect">
          <a:avLst/>
        </a:prstGeom>
        <a:blipFill rotWithShape="1">
          <a:blip xmlns:r="http://schemas.openxmlformats.org/officeDocument/2006/relationships" r:embed="rId5"/>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F9D861-CDD6-4D3D-8DC9-F61DECBD1015}">
      <dsp:nvSpPr>
        <dsp:cNvPr id="0" name=""/>
        <dsp:cNvSpPr/>
      </dsp:nvSpPr>
      <dsp:spPr>
        <a:xfrm>
          <a:off x="7109764" y="1522414"/>
          <a:ext cx="1408705" cy="44318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GB" sz="1300" kern="1200" dirty="0">
              <a:latin typeface="Roboto Condensed" panose="020B0604020202020204"/>
            </a:rPr>
            <a:t>5.Abduction of all fingers</a:t>
          </a:r>
        </a:p>
      </dsp:txBody>
      <dsp:txXfrm>
        <a:off x="7109764" y="1522414"/>
        <a:ext cx="1408705" cy="443188"/>
      </dsp:txXfrm>
    </dsp:sp>
    <dsp:sp modelId="{922B0646-DB2D-4637-9705-0E545858D97C}">
      <dsp:nvSpPr>
        <dsp:cNvPr id="0" name=""/>
        <dsp:cNvSpPr/>
      </dsp:nvSpPr>
      <dsp:spPr>
        <a:xfrm>
          <a:off x="2923" y="2123884"/>
          <a:ext cx="1582815" cy="1266252"/>
        </a:xfrm>
        <a:prstGeom prst="rect">
          <a:avLst/>
        </a:prstGeom>
        <a:blipFill rotWithShape="1">
          <a:blip xmlns:r="http://schemas.openxmlformats.org/officeDocument/2006/relationships" r:embed="rId6"/>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C6E913E-5815-4598-8A80-72C57EB70FFF}">
      <dsp:nvSpPr>
        <dsp:cNvPr id="0" name=""/>
        <dsp:cNvSpPr/>
      </dsp:nvSpPr>
      <dsp:spPr>
        <a:xfrm>
          <a:off x="145376" y="3263511"/>
          <a:ext cx="1408705" cy="44318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GB" sz="1500" kern="1200" dirty="0">
              <a:latin typeface="Roboto Condensed" panose="020B0604020202020204"/>
            </a:rPr>
            <a:t>6.Closed fist</a:t>
          </a:r>
        </a:p>
      </dsp:txBody>
      <dsp:txXfrm>
        <a:off x="145376" y="3263511"/>
        <a:ext cx="1408705" cy="443188"/>
      </dsp:txXfrm>
    </dsp:sp>
    <dsp:sp modelId="{AEAF9DB5-661A-4C0A-B99F-FC3644D2ABEB}">
      <dsp:nvSpPr>
        <dsp:cNvPr id="0" name=""/>
        <dsp:cNvSpPr/>
      </dsp:nvSpPr>
      <dsp:spPr>
        <a:xfrm>
          <a:off x="1744020" y="2123884"/>
          <a:ext cx="1582815" cy="1266252"/>
        </a:xfrm>
        <a:prstGeom prst="rect">
          <a:avLst/>
        </a:prstGeom>
        <a:blipFill rotWithShape="1">
          <a:blip xmlns:r="http://schemas.openxmlformats.org/officeDocument/2006/relationships" r:embed="rId7"/>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E080649-D688-417F-91F0-5C1944E81C25}">
      <dsp:nvSpPr>
        <dsp:cNvPr id="0" name=""/>
        <dsp:cNvSpPr/>
      </dsp:nvSpPr>
      <dsp:spPr>
        <a:xfrm>
          <a:off x="1886473" y="3263511"/>
          <a:ext cx="1408705" cy="44318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GB" sz="1400" kern="1200" dirty="0">
              <a:latin typeface="Roboto Condensed" panose="020B0604020202020204"/>
            </a:rPr>
            <a:t>7.Pointing index</a:t>
          </a:r>
        </a:p>
      </dsp:txBody>
      <dsp:txXfrm>
        <a:off x="1886473" y="3263511"/>
        <a:ext cx="1408705" cy="443188"/>
      </dsp:txXfrm>
    </dsp:sp>
    <dsp:sp modelId="{B528A77F-A8F3-41F8-A4DE-83DE4EEB4EC7}">
      <dsp:nvSpPr>
        <dsp:cNvPr id="0" name=""/>
        <dsp:cNvSpPr/>
      </dsp:nvSpPr>
      <dsp:spPr>
        <a:xfrm>
          <a:off x="3485117" y="2123884"/>
          <a:ext cx="1582815" cy="1266252"/>
        </a:xfrm>
        <a:prstGeom prst="rect">
          <a:avLst/>
        </a:prstGeom>
        <a:blipFill rotWithShape="1">
          <a:blip xmlns:r="http://schemas.openxmlformats.org/officeDocument/2006/relationships" r:embed="rId8"/>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1065F3-8B81-4FA1-AB1D-15B6979CF2F9}">
      <dsp:nvSpPr>
        <dsp:cNvPr id="0" name=""/>
        <dsp:cNvSpPr/>
      </dsp:nvSpPr>
      <dsp:spPr>
        <a:xfrm>
          <a:off x="3627570" y="3263511"/>
          <a:ext cx="1408705" cy="44318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GB" sz="1300" kern="1200" dirty="0"/>
            <a:t>8.Adduction of extended fingers</a:t>
          </a:r>
        </a:p>
      </dsp:txBody>
      <dsp:txXfrm>
        <a:off x="3627570" y="3263511"/>
        <a:ext cx="1408705" cy="443188"/>
      </dsp:txXfrm>
    </dsp:sp>
    <dsp:sp modelId="{99C57855-4057-4AB6-9F06-03A6CED69A38}">
      <dsp:nvSpPr>
        <dsp:cNvPr id="0" name=""/>
        <dsp:cNvSpPr/>
      </dsp:nvSpPr>
      <dsp:spPr>
        <a:xfrm>
          <a:off x="5226214" y="2123884"/>
          <a:ext cx="1582815" cy="1266252"/>
        </a:xfrm>
        <a:prstGeom prst="rect">
          <a:avLst/>
        </a:prstGeom>
        <a:blipFill rotWithShape="1">
          <a:blip xmlns:r="http://schemas.openxmlformats.org/officeDocument/2006/relationships" r:embed="rId9"/>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956BE58-2C1B-4A36-A6E6-35E2B09123B2}">
      <dsp:nvSpPr>
        <dsp:cNvPr id="0" name=""/>
        <dsp:cNvSpPr/>
      </dsp:nvSpPr>
      <dsp:spPr>
        <a:xfrm>
          <a:off x="5368667" y="3263511"/>
          <a:ext cx="1408705" cy="44318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GB" sz="1400" kern="1200" dirty="0">
              <a:latin typeface="Roboto Condensed" panose="020B0604020202020204"/>
            </a:rPr>
            <a:t>9.Wrist supination</a:t>
          </a:r>
        </a:p>
      </dsp:txBody>
      <dsp:txXfrm>
        <a:off x="5368667" y="3263511"/>
        <a:ext cx="1408705" cy="443188"/>
      </dsp:txXfrm>
    </dsp:sp>
    <dsp:sp modelId="{4DF73C35-A3F3-44DF-A20E-CA8F57CAAE2F}">
      <dsp:nvSpPr>
        <dsp:cNvPr id="0" name=""/>
        <dsp:cNvSpPr/>
      </dsp:nvSpPr>
      <dsp:spPr>
        <a:xfrm>
          <a:off x="6967311" y="2123884"/>
          <a:ext cx="1582815" cy="1266252"/>
        </a:xfrm>
        <a:prstGeom prst="rect">
          <a:avLst/>
        </a:prstGeom>
        <a:blipFill rotWithShape="1">
          <a:blip xmlns:r="http://schemas.openxmlformats.org/officeDocument/2006/relationships" r:embed="rId10"/>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EEEB71B-23B6-4EEC-AEF5-DC14789D83C8}">
      <dsp:nvSpPr>
        <dsp:cNvPr id="0" name=""/>
        <dsp:cNvSpPr/>
      </dsp:nvSpPr>
      <dsp:spPr>
        <a:xfrm>
          <a:off x="7109764" y="3263511"/>
          <a:ext cx="1408705" cy="44318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GB" sz="1400" kern="1200" dirty="0">
              <a:latin typeface="Roboto Condensed" panose="020B0604020202020204"/>
            </a:rPr>
            <a:t>10.Wrist pronation</a:t>
          </a:r>
        </a:p>
      </dsp:txBody>
      <dsp:txXfrm>
        <a:off x="7109764" y="3263511"/>
        <a:ext cx="1408705" cy="443188"/>
      </dsp:txXfrm>
    </dsp:sp>
    <dsp:sp modelId="{9566B79B-AE06-436E-B8B9-F989FD2E8B17}">
      <dsp:nvSpPr>
        <dsp:cNvPr id="0" name=""/>
        <dsp:cNvSpPr/>
      </dsp:nvSpPr>
      <dsp:spPr>
        <a:xfrm>
          <a:off x="2923" y="3864981"/>
          <a:ext cx="1582815" cy="1266252"/>
        </a:xfrm>
        <a:prstGeom prst="rect">
          <a:avLst/>
        </a:prstGeom>
        <a:blipFill rotWithShape="1">
          <a:blip xmlns:r="http://schemas.openxmlformats.org/officeDocument/2006/relationships" r:embed="rId1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A15CCC5-00D2-438B-B2BD-103DAF73BB0C}">
      <dsp:nvSpPr>
        <dsp:cNvPr id="0" name=""/>
        <dsp:cNvSpPr/>
      </dsp:nvSpPr>
      <dsp:spPr>
        <a:xfrm>
          <a:off x="145376" y="5004608"/>
          <a:ext cx="1408705" cy="44318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GB" sz="1500" kern="1200" dirty="0">
              <a:latin typeface="Roboto Condensed" panose="020B0604020202020204"/>
            </a:rPr>
            <a:t>11.Wrist flexion</a:t>
          </a:r>
        </a:p>
      </dsp:txBody>
      <dsp:txXfrm>
        <a:off x="145376" y="5004608"/>
        <a:ext cx="1408705" cy="443188"/>
      </dsp:txXfrm>
    </dsp:sp>
    <dsp:sp modelId="{4BFA49E8-A1CA-4266-8319-1E4C81000F29}">
      <dsp:nvSpPr>
        <dsp:cNvPr id="0" name=""/>
        <dsp:cNvSpPr/>
      </dsp:nvSpPr>
      <dsp:spPr>
        <a:xfrm>
          <a:off x="1744020" y="3864981"/>
          <a:ext cx="1582815" cy="1266252"/>
        </a:xfrm>
        <a:prstGeom prst="rect">
          <a:avLst/>
        </a:prstGeom>
        <a:blipFill rotWithShape="1">
          <a:blip xmlns:r="http://schemas.openxmlformats.org/officeDocument/2006/relationships" r:embed="rId1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075B210-E83C-41F6-861B-75F78822B0E3}">
      <dsp:nvSpPr>
        <dsp:cNvPr id="0" name=""/>
        <dsp:cNvSpPr/>
      </dsp:nvSpPr>
      <dsp:spPr>
        <a:xfrm>
          <a:off x="1886473" y="5004608"/>
          <a:ext cx="1408705" cy="44318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GB" sz="1400" kern="1200" dirty="0">
              <a:latin typeface="Roboto Condensed" panose="020B0604020202020204"/>
            </a:rPr>
            <a:t>12.Wrist extension</a:t>
          </a:r>
        </a:p>
      </dsp:txBody>
      <dsp:txXfrm>
        <a:off x="1886473" y="5004608"/>
        <a:ext cx="1408705" cy="443188"/>
      </dsp:txXfrm>
    </dsp:sp>
    <dsp:sp modelId="{3873913B-0372-4D39-B4ED-E9184F1E2A5C}">
      <dsp:nvSpPr>
        <dsp:cNvPr id="0" name=""/>
        <dsp:cNvSpPr/>
      </dsp:nvSpPr>
      <dsp:spPr>
        <a:xfrm>
          <a:off x="3485117" y="3864981"/>
          <a:ext cx="1582815" cy="1266252"/>
        </a:xfrm>
        <a:prstGeom prst="rect">
          <a:avLst/>
        </a:prstGeom>
        <a:blipFill rotWithShape="1">
          <a:blip xmlns:r="http://schemas.openxmlformats.org/officeDocument/2006/relationships" r:embed="rId13"/>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306A245-9671-4896-9B32-4B95DA5B6525}">
      <dsp:nvSpPr>
        <dsp:cNvPr id="0" name=""/>
        <dsp:cNvSpPr/>
      </dsp:nvSpPr>
      <dsp:spPr>
        <a:xfrm>
          <a:off x="3627570" y="5004608"/>
          <a:ext cx="1408705" cy="44318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GB" sz="1400" kern="1200" dirty="0">
              <a:latin typeface="Roboto Condensed" panose="020B0604020202020204"/>
            </a:rPr>
            <a:t>13.Wrist radial deviation</a:t>
          </a:r>
        </a:p>
      </dsp:txBody>
      <dsp:txXfrm>
        <a:off x="3627570" y="5004608"/>
        <a:ext cx="1408705" cy="443188"/>
      </dsp:txXfrm>
    </dsp:sp>
    <dsp:sp modelId="{8F757C34-5601-45BF-92A3-842C68E86979}">
      <dsp:nvSpPr>
        <dsp:cNvPr id="0" name=""/>
        <dsp:cNvSpPr/>
      </dsp:nvSpPr>
      <dsp:spPr>
        <a:xfrm>
          <a:off x="5226214" y="3864981"/>
          <a:ext cx="1582815" cy="1266252"/>
        </a:xfrm>
        <a:prstGeom prst="rect">
          <a:avLst/>
        </a:prstGeom>
        <a:blipFill rotWithShape="1">
          <a:blip xmlns:r="http://schemas.openxmlformats.org/officeDocument/2006/relationships" r:embed="rId14"/>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1EE5EC9-DEB6-4F5F-B164-D3B87E13ED2C}">
      <dsp:nvSpPr>
        <dsp:cNvPr id="0" name=""/>
        <dsp:cNvSpPr/>
      </dsp:nvSpPr>
      <dsp:spPr>
        <a:xfrm>
          <a:off x="5368667" y="5004608"/>
          <a:ext cx="1408705" cy="44318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00075">
            <a:lnSpc>
              <a:spcPct val="90000"/>
            </a:lnSpc>
            <a:spcBef>
              <a:spcPct val="0"/>
            </a:spcBef>
            <a:spcAft>
              <a:spcPct val="35000"/>
            </a:spcAft>
          </a:pPr>
          <a:r>
            <a:rPr lang="en-GB" sz="1350" kern="1200" dirty="0">
              <a:latin typeface="Roboto Condensed" panose="020B0604020202020204"/>
            </a:rPr>
            <a:t>14.Wrist ulnar deviation</a:t>
          </a:r>
        </a:p>
      </dsp:txBody>
      <dsp:txXfrm>
        <a:off x="5368667" y="5004608"/>
        <a:ext cx="1408705" cy="443188"/>
      </dsp:txXfrm>
    </dsp:sp>
    <dsp:sp modelId="{1572D4BD-2175-401D-BA04-14AAEE0ECFFF}">
      <dsp:nvSpPr>
        <dsp:cNvPr id="0" name=""/>
        <dsp:cNvSpPr/>
      </dsp:nvSpPr>
      <dsp:spPr>
        <a:xfrm>
          <a:off x="6967311" y="3864981"/>
          <a:ext cx="1582815" cy="1266252"/>
        </a:xfrm>
        <a:prstGeom prst="rect">
          <a:avLst/>
        </a:prstGeom>
        <a:blipFill rotWithShape="1">
          <a:blip xmlns:r="http://schemas.openxmlformats.org/officeDocument/2006/relationships" r:embed="rId15"/>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34C4797-6F58-4971-A99E-32498BC209D7}">
      <dsp:nvSpPr>
        <dsp:cNvPr id="0" name=""/>
        <dsp:cNvSpPr/>
      </dsp:nvSpPr>
      <dsp:spPr>
        <a:xfrm>
          <a:off x="7109764" y="5004608"/>
          <a:ext cx="1408705" cy="443188"/>
        </a:xfrm>
        <a:prstGeom prst="wedgeRectCallout">
          <a:avLst>
            <a:gd name="adj1" fmla="val 20250"/>
            <a:gd name="adj2" fmla="val -60700"/>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GB" sz="1200" kern="1200" dirty="0">
              <a:latin typeface="Roboto Condensed" panose="020B0604020202020204"/>
            </a:rPr>
            <a:t>15.Wrist extension with closed hand</a:t>
          </a:r>
        </a:p>
      </dsp:txBody>
      <dsp:txXfrm>
        <a:off x="7109764" y="5004608"/>
        <a:ext cx="1408705" cy="44318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F3AAFC-337C-4395-8429-24D731948644}">
      <dsp:nvSpPr>
        <dsp:cNvPr id="0" name=""/>
        <dsp:cNvSpPr/>
      </dsp:nvSpPr>
      <dsp:spPr>
        <a:xfrm>
          <a:off x="208166" y="277384"/>
          <a:ext cx="508558" cy="427733"/>
        </a:xfrm>
        <a:prstGeom prst="rect">
          <a:avLst/>
        </a:prstGeom>
        <a:blipFill rotWithShape="1">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38F7AE-63F1-4EA0-93DF-A95D751A04B2}">
      <dsp:nvSpPr>
        <dsp:cNvPr id="0" name=""/>
        <dsp:cNvSpPr/>
      </dsp:nvSpPr>
      <dsp:spPr>
        <a:xfrm>
          <a:off x="35646" y="490750"/>
          <a:ext cx="241746" cy="208512"/>
        </a:xfrm>
        <a:prstGeom prst="rect">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GB" sz="1000" kern="1200" dirty="0"/>
            <a:t>8</a:t>
          </a:r>
        </a:p>
      </dsp:txBody>
      <dsp:txXfrm>
        <a:off x="35646" y="490750"/>
        <a:ext cx="241746" cy="208512"/>
      </dsp:txXfrm>
    </dsp:sp>
    <dsp:sp modelId="{0974039E-3017-4E69-B7D6-D9529E90F468}">
      <dsp:nvSpPr>
        <dsp:cNvPr id="0" name=""/>
        <dsp:cNvSpPr/>
      </dsp:nvSpPr>
      <dsp:spPr>
        <a:xfrm>
          <a:off x="206758" y="782160"/>
          <a:ext cx="508558" cy="427733"/>
        </a:xfrm>
        <a:prstGeom prst="rect">
          <a:avLst/>
        </a:prstGeom>
        <a:blipFill rotWithShape="1">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36A1AB-CD50-488A-9370-63A2568B141B}">
      <dsp:nvSpPr>
        <dsp:cNvPr id="0" name=""/>
        <dsp:cNvSpPr/>
      </dsp:nvSpPr>
      <dsp:spPr>
        <a:xfrm>
          <a:off x="37054" y="992101"/>
          <a:ext cx="236115" cy="215361"/>
        </a:xfrm>
        <a:prstGeom prst="rect">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GB" sz="1000" kern="1200" dirty="0"/>
            <a:t>12</a:t>
          </a:r>
        </a:p>
      </dsp:txBody>
      <dsp:txXfrm>
        <a:off x="37054" y="992101"/>
        <a:ext cx="236115" cy="21536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F3AAFC-337C-4395-8429-24D731948644}">
      <dsp:nvSpPr>
        <dsp:cNvPr id="0" name=""/>
        <dsp:cNvSpPr/>
      </dsp:nvSpPr>
      <dsp:spPr>
        <a:xfrm>
          <a:off x="202150" y="270100"/>
          <a:ext cx="513883" cy="432212"/>
        </a:xfrm>
        <a:prstGeom prst="rect">
          <a:avLst/>
        </a:prstGeom>
        <a:blipFill rotWithShape="1">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38F7AE-63F1-4EA0-93DF-A95D751A04B2}">
      <dsp:nvSpPr>
        <dsp:cNvPr id="0" name=""/>
        <dsp:cNvSpPr/>
      </dsp:nvSpPr>
      <dsp:spPr>
        <a:xfrm>
          <a:off x="36337" y="474979"/>
          <a:ext cx="227252" cy="232137"/>
        </a:xfrm>
        <a:prstGeom prst="rect">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GB" sz="1000" kern="1200" dirty="0"/>
            <a:t>9</a:t>
          </a:r>
        </a:p>
      </dsp:txBody>
      <dsp:txXfrm>
        <a:off x="36337" y="474979"/>
        <a:ext cx="227252" cy="232137"/>
      </dsp:txXfrm>
    </dsp:sp>
    <dsp:sp modelId="{0974039E-3017-4E69-B7D6-D9529E90F468}">
      <dsp:nvSpPr>
        <dsp:cNvPr id="0" name=""/>
        <dsp:cNvSpPr/>
      </dsp:nvSpPr>
      <dsp:spPr>
        <a:xfrm>
          <a:off x="202931" y="784966"/>
          <a:ext cx="513883" cy="432212"/>
        </a:xfrm>
        <a:prstGeom prst="rect">
          <a:avLst/>
        </a:prstGeom>
        <a:blipFill rotWithShape="1">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36A1AB-CD50-488A-9370-63A2568B141B}">
      <dsp:nvSpPr>
        <dsp:cNvPr id="0" name=""/>
        <dsp:cNvSpPr/>
      </dsp:nvSpPr>
      <dsp:spPr>
        <a:xfrm>
          <a:off x="35556" y="995232"/>
          <a:ext cx="230377" cy="221362"/>
        </a:xfrm>
        <a:prstGeom prst="rect">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GB" sz="1000" kern="1200" dirty="0"/>
            <a:t>13</a:t>
          </a:r>
        </a:p>
      </dsp:txBody>
      <dsp:txXfrm>
        <a:off x="35556" y="995232"/>
        <a:ext cx="230377" cy="22136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F3AAFC-337C-4395-8429-24D731948644}">
      <dsp:nvSpPr>
        <dsp:cNvPr id="0" name=""/>
        <dsp:cNvSpPr/>
      </dsp:nvSpPr>
      <dsp:spPr>
        <a:xfrm>
          <a:off x="214675" y="245652"/>
          <a:ext cx="465253" cy="391311"/>
        </a:xfrm>
        <a:prstGeom prst="rect">
          <a:avLst/>
        </a:prstGeom>
        <a:blipFill rotWithShape="1">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38F7AE-63F1-4EA0-93DF-A95D751A04B2}">
      <dsp:nvSpPr>
        <dsp:cNvPr id="0" name=""/>
        <dsp:cNvSpPr/>
      </dsp:nvSpPr>
      <dsp:spPr>
        <a:xfrm>
          <a:off x="64554" y="431143"/>
          <a:ext cx="205747" cy="210170"/>
        </a:xfrm>
        <a:prstGeom prst="rect">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GB" sz="900" kern="1200" dirty="0"/>
            <a:t>2</a:t>
          </a:r>
        </a:p>
      </dsp:txBody>
      <dsp:txXfrm>
        <a:off x="64554" y="431143"/>
        <a:ext cx="205747" cy="210170"/>
      </dsp:txXfrm>
    </dsp:sp>
    <dsp:sp modelId="{0974039E-3017-4E69-B7D6-D9529E90F468}">
      <dsp:nvSpPr>
        <dsp:cNvPr id="0" name=""/>
        <dsp:cNvSpPr/>
      </dsp:nvSpPr>
      <dsp:spPr>
        <a:xfrm>
          <a:off x="913185" y="247827"/>
          <a:ext cx="465253" cy="391311"/>
        </a:xfrm>
        <a:prstGeom prst="rect">
          <a:avLst/>
        </a:prstGeom>
        <a:blipFill rotWithShape="1">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36A1AB-CD50-488A-9370-63A2568B141B}">
      <dsp:nvSpPr>
        <dsp:cNvPr id="0" name=""/>
        <dsp:cNvSpPr/>
      </dsp:nvSpPr>
      <dsp:spPr>
        <a:xfrm>
          <a:off x="761649" y="438195"/>
          <a:ext cx="208576" cy="200414"/>
        </a:xfrm>
        <a:prstGeom prst="rect">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GB" sz="900" kern="1200" dirty="0"/>
            <a:t>1</a:t>
          </a:r>
        </a:p>
      </dsp:txBody>
      <dsp:txXfrm>
        <a:off x="761649" y="438195"/>
        <a:ext cx="208576" cy="20041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F3AAFC-337C-4395-8429-24D731948644}">
      <dsp:nvSpPr>
        <dsp:cNvPr id="0" name=""/>
        <dsp:cNvSpPr/>
      </dsp:nvSpPr>
      <dsp:spPr>
        <a:xfrm>
          <a:off x="214675" y="245652"/>
          <a:ext cx="465253" cy="391311"/>
        </a:xfrm>
        <a:prstGeom prst="rect">
          <a:avLst/>
        </a:prstGeom>
        <a:blipFill rotWithShape="1">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38F7AE-63F1-4EA0-93DF-A95D751A04B2}">
      <dsp:nvSpPr>
        <dsp:cNvPr id="0" name=""/>
        <dsp:cNvSpPr/>
      </dsp:nvSpPr>
      <dsp:spPr>
        <a:xfrm>
          <a:off x="64554" y="431143"/>
          <a:ext cx="205747" cy="210170"/>
        </a:xfrm>
        <a:prstGeom prst="rect">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GB" sz="900" kern="1200" dirty="0"/>
            <a:t>3</a:t>
          </a:r>
        </a:p>
      </dsp:txBody>
      <dsp:txXfrm>
        <a:off x="64554" y="431143"/>
        <a:ext cx="205747" cy="210170"/>
      </dsp:txXfrm>
    </dsp:sp>
    <dsp:sp modelId="{0974039E-3017-4E69-B7D6-D9529E90F468}">
      <dsp:nvSpPr>
        <dsp:cNvPr id="0" name=""/>
        <dsp:cNvSpPr/>
      </dsp:nvSpPr>
      <dsp:spPr>
        <a:xfrm>
          <a:off x="913185" y="247827"/>
          <a:ext cx="465253" cy="391311"/>
        </a:xfrm>
        <a:prstGeom prst="rect">
          <a:avLst/>
        </a:prstGeom>
        <a:blipFill rotWithShape="1">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36A1AB-CD50-488A-9370-63A2568B141B}">
      <dsp:nvSpPr>
        <dsp:cNvPr id="0" name=""/>
        <dsp:cNvSpPr/>
      </dsp:nvSpPr>
      <dsp:spPr>
        <a:xfrm>
          <a:off x="761649" y="438195"/>
          <a:ext cx="208576" cy="200414"/>
        </a:xfrm>
        <a:prstGeom prst="rect">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GB" sz="900" kern="1200" dirty="0"/>
            <a:t>4</a:t>
          </a:r>
        </a:p>
      </dsp:txBody>
      <dsp:txXfrm>
        <a:off x="761649" y="438195"/>
        <a:ext cx="208576" cy="20041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F3AAFC-337C-4395-8429-24D731948644}">
      <dsp:nvSpPr>
        <dsp:cNvPr id="0" name=""/>
        <dsp:cNvSpPr/>
      </dsp:nvSpPr>
      <dsp:spPr>
        <a:xfrm>
          <a:off x="214675" y="245652"/>
          <a:ext cx="465253" cy="391311"/>
        </a:xfrm>
        <a:prstGeom prst="rect">
          <a:avLst/>
        </a:prstGeom>
        <a:blipFill rotWithShape="1">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38F7AE-63F1-4EA0-93DF-A95D751A04B2}">
      <dsp:nvSpPr>
        <dsp:cNvPr id="0" name=""/>
        <dsp:cNvSpPr/>
      </dsp:nvSpPr>
      <dsp:spPr>
        <a:xfrm>
          <a:off x="64554" y="431143"/>
          <a:ext cx="205747" cy="210170"/>
        </a:xfrm>
        <a:prstGeom prst="rect">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GB" sz="900" kern="1200" dirty="0"/>
            <a:t>14</a:t>
          </a:r>
        </a:p>
      </dsp:txBody>
      <dsp:txXfrm>
        <a:off x="64554" y="431143"/>
        <a:ext cx="205747" cy="210170"/>
      </dsp:txXfrm>
    </dsp:sp>
    <dsp:sp modelId="{0974039E-3017-4E69-B7D6-D9529E90F468}">
      <dsp:nvSpPr>
        <dsp:cNvPr id="0" name=""/>
        <dsp:cNvSpPr/>
      </dsp:nvSpPr>
      <dsp:spPr>
        <a:xfrm>
          <a:off x="913185" y="247827"/>
          <a:ext cx="465253" cy="391311"/>
        </a:xfrm>
        <a:prstGeom prst="rect">
          <a:avLst/>
        </a:prstGeom>
        <a:blipFill rotWithShape="1">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36A1AB-CD50-488A-9370-63A2568B141B}">
      <dsp:nvSpPr>
        <dsp:cNvPr id="0" name=""/>
        <dsp:cNvSpPr/>
      </dsp:nvSpPr>
      <dsp:spPr>
        <a:xfrm>
          <a:off x="761649" y="438195"/>
          <a:ext cx="208576" cy="200414"/>
        </a:xfrm>
        <a:prstGeom prst="rect">
          <a:avLst/>
        </a:prstGeom>
        <a:solidFill>
          <a:srgbClr val="3F537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GB" sz="900" kern="1200" dirty="0"/>
            <a:t>13</a:t>
          </a:r>
        </a:p>
      </dsp:txBody>
      <dsp:txXfrm>
        <a:off x="761649" y="438195"/>
        <a:ext cx="208576" cy="200414"/>
      </dsp:txXfrm>
    </dsp:sp>
  </dsp:spTree>
</dsp:drawing>
</file>

<file path=ppt/diagrams/layout1.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BendingPictureBlocks">
  <dgm:title val=""/>
  <dgm:desc val=""/>
  <dgm:catLst>
    <dgm:cat type="picture" pri="8000"/>
    <dgm:cat type="pictureconvert" pri="8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61"/>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908"/>
        </dgm:alg>
        <dgm:shape xmlns:r="http://schemas.openxmlformats.org/officeDocument/2006/relationships" r:blip="">
          <dgm:adjLst/>
        </dgm:shape>
        <dgm:choose name="Name4">
          <dgm:if name="Name5" func="var" arg="dir" op="equ" val="norm">
            <dgm:constrLst>
              <dgm:constr type="l" for="ch" forName="rect1" refType="w" fact="0.3"/>
              <dgm:constr type="t" for="ch" forName="rect1" refType="h" fact="0"/>
              <dgm:constr type="w" for="ch" forName="rect1" refType="h" fact="1.12"/>
              <dgm:constr type="h" for="ch" forName="rect1" refType="h" fact="0.942"/>
              <dgm:constr type="l" for="ch" forName="rect2" refType="w" fact="0"/>
              <dgm:constr type="t" for="ch" forName="rect2" refType="h" fact="0.396"/>
              <dgm:constr type="w" for="ch" forName="rect2" refType="h" fact="0.607"/>
              <dgm:constr type="h" for="ch" forName="rect2" refType="h" fact="0.607"/>
            </dgm:constrLst>
          </dgm:if>
          <dgm:else name="Name6">
            <dgm:constrLst>
              <dgm:constr type="l" for="ch" forName="rect1" refType="w" fact="0"/>
              <dgm:constr type="t" for="ch" forName="rect1" refType="h" fact="0"/>
              <dgm:constr type="w" for="ch" forName="rect1" refType="h" fact="1.12"/>
              <dgm:constr type="h" for="ch" forName="rect1" refType="h" fact="0.942"/>
              <dgm:constr type="l" for="ch" forName="rect2" refType="w" fact="0.63"/>
              <dgm:constr type="t" for="ch" forName="rect2" refType="h" fact="0.396"/>
              <dgm:constr type="w" for="ch" forName="rect2" refType="h" fact="0.607"/>
              <dgm:constr type="h" for="ch" forName="rect2" refType="h" fact="0.607"/>
            </dgm:constrLst>
          </dgm:else>
        </dgm:choose>
        <dgm:layoutNode name="rect1" styleLbl="bgImgPlace1">
          <dgm:alg type="sp"/>
          <dgm:shape xmlns:r="http://schemas.openxmlformats.org/officeDocument/2006/relationships" type="rect" r:blip="" blipPhldr="1">
            <dgm:adjLst/>
          </dgm:shape>
          <dgm:presOf/>
        </dgm:layoutNode>
        <dgm:layoutNode name="rect2" styleLbl="node1">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BendingPictureBlocks">
  <dgm:title val=""/>
  <dgm:desc val=""/>
  <dgm:catLst>
    <dgm:cat type="picture" pri="8000"/>
    <dgm:cat type="pictureconvert" pri="8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61"/>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908"/>
        </dgm:alg>
        <dgm:shape xmlns:r="http://schemas.openxmlformats.org/officeDocument/2006/relationships" r:blip="">
          <dgm:adjLst/>
        </dgm:shape>
        <dgm:choose name="Name4">
          <dgm:if name="Name5" func="var" arg="dir" op="equ" val="norm">
            <dgm:constrLst>
              <dgm:constr type="l" for="ch" forName="rect1" refType="w" fact="0.3"/>
              <dgm:constr type="t" for="ch" forName="rect1" refType="h" fact="0"/>
              <dgm:constr type="w" for="ch" forName="rect1" refType="h" fact="1.12"/>
              <dgm:constr type="h" for="ch" forName="rect1" refType="h" fact="0.942"/>
              <dgm:constr type="l" for="ch" forName="rect2" refType="w" fact="0"/>
              <dgm:constr type="t" for="ch" forName="rect2" refType="h" fact="0.396"/>
              <dgm:constr type="w" for="ch" forName="rect2" refType="h" fact="0.607"/>
              <dgm:constr type="h" for="ch" forName="rect2" refType="h" fact="0.607"/>
            </dgm:constrLst>
          </dgm:if>
          <dgm:else name="Name6">
            <dgm:constrLst>
              <dgm:constr type="l" for="ch" forName="rect1" refType="w" fact="0"/>
              <dgm:constr type="t" for="ch" forName="rect1" refType="h" fact="0"/>
              <dgm:constr type="w" for="ch" forName="rect1" refType="h" fact="1.12"/>
              <dgm:constr type="h" for="ch" forName="rect1" refType="h" fact="0.942"/>
              <dgm:constr type="l" for="ch" forName="rect2" refType="w" fact="0.63"/>
              <dgm:constr type="t" for="ch" forName="rect2" refType="h" fact="0.396"/>
              <dgm:constr type="w" for="ch" forName="rect2" refType="h" fact="0.607"/>
              <dgm:constr type="h" for="ch" forName="rect2" refType="h" fact="0.607"/>
            </dgm:constrLst>
          </dgm:else>
        </dgm:choose>
        <dgm:layoutNode name="rect1" styleLbl="bgImgPlace1">
          <dgm:alg type="sp"/>
          <dgm:shape xmlns:r="http://schemas.openxmlformats.org/officeDocument/2006/relationships" type="rect" r:blip="" blipPhldr="1">
            <dgm:adjLst/>
          </dgm:shape>
          <dgm:presOf/>
        </dgm:layoutNode>
        <dgm:layoutNode name="rect2" styleLbl="node1">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BendingPictureBlocks">
  <dgm:title val=""/>
  <dgm:desc val=""/>
  <dgm:catLst>
    <dgm:cat type="picture" pri="8000"/>
    <dgm:cat type="pictureconvert" pri="8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61"/>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908"/>
        </dgm:alg>
        <dgm:shape xmlns:r="http://schemas.openxmlformats.org/officeDocument/2006/relationships" r:blip="">
          <dgm:adjLst/>
        </dgm:shape>
        <dgm:choose name="Name4">
          <dgm:if name="Name5" func="var" arg="dir" op="equ" val="norm">
            <dgm:constrLst>
              <dgm:constr type="l" for="ch" forName="rect1" refType="w" fact="0.3"/>
              <dgm:constr type="t" for="ch" forName="rect1" refType="h" fact="0"/>
              <dgm:constr type="w" for="ch" forName="rect1" refType="h" fact="1.12"/>
              <dgm:constr type="h" for="ch" forName="rect1" refType="h" fact="0.942"/>
              <dgm:constr type="l" for="ch" forName="rect2" refType="w" fact="0"/>
              <dgm:constr type="t" for="ch" forName="rect2" refType="h" fact="0.396"/>
              <dgm:constr type="w" for="ch" forName="rect2" refType="h" fact="0.607"/>
              <dgm:constr type="h" for="ch" forName="rect2" refType="h" fact="0.607"/>
            </dgm:constrLst>
          </dgm:if>
          <dgm:else name="Name6">
            <dgm:constrLst>
              <dgm:constr type="l" for="ch" forName="rect1" refType="w" fact="0"/>
              <dgm:constr type="t" for="ch" forName="rect1" refType="h" fact="0"/>
              <dgm:constr type="w" for="ch" forName="rect1" refType="h" fact="1.12"/>
              <dgm:constr type="h" for="ch" forName="rect1" refType="h" fact="0.942"/>
              <dgm:constr type="l" for="ch" forName="rect2" refType="w" fact="0.63"/>
              <dgm:constr type="t" for="ch" forName="rect2" refType="h" fact="0.396"/>
              <dgm:constr type="w" for="ch" forName="rect2" refType="h" fact="0.607"/>
              <dgm:constr type="h" for="ch" forName="rect2" refType="h" fact="0.607"/>
            </dgm:constrLst>
          </dgm:else>
        </dgm:choose>
        <dgm:layoutNode name="rect1" styleLbl="bgImgPlace1">
          <dgm:alg type="sp"/>
          <dgm:shape xmlns:r="http://schemas.openxmlformats.org/officeDocument/2006/relationships" type="rect" r:blip="" blipPhldr="1">
            <dgm:adjLst/>
          </dgm:shape>
          <dgm:presOf/>
        </dgm:layoutNode>
        <dgm:layoutNode name="rect2" styleLbl="node1">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BendingPictureBlocks">
  <dgm:title val=""/>
  <dgm:desc val=""/>
  <dgm:catLst>
    <dgm:cat type="picture" pri="8000"/>
    <dgm:cat type="pictureconvert" pri="8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61"/>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908"/>
        </dgm:alg>
        <dgm:shape xmlns:r="http://schemas.openxmlformats.org/officeDocument/2006/relationships" r:blip="">
          <dgm:adjLst/>
        </dgm:shape>
        <dgm:choose name="Name4">
          <dgm:if name="Name5" func="var" arg="dir" op="equ" val="norm">
            <dgm:constrLst>
              <dgm:constr type="l" for="ch" forName="rect1" refType="w" fact="0.3"/>
              <dgm:constr type="t" for="ch" forName="rect1" refType="h" fact="0"/>
              <dgm:constr type="w" for="ch" forName="rect1" refType="h" fact="1.12"/>
              <dgm:constr type="h" for="ch" forName="rect1" refType="h" fact="0.942"/>
              <dgm:constr type="l" for="ch" forName="rect2" refType="w" fact="0"/>
              <dgm:constr type="t" for="ch" forName="rect2" refType="h" fact="0.396"/>
              <dgm:constr type="w" for="ch" forName="rect2" refType="h" fact="0.607"/>
              <dgm:constr type="h" for="ch" forName="rect2" refType="h" fact="0.607"/>
            </dgm:constrLst>
          </dgm:if>
          <dgm:else name="Name6">
            <dgm:constrLst>
              <dgm:constr type="l" for="ch" forName="rect1" refType="w" fact="0"/>
              <dgm:constr type="t" for="ch" forName="rect1" refType="h" fact="0"/>
              <dgm:constr type="w" for="ch" forName="rect1" refType="h" fact="1.12"/>
              <dgm:constr type="h" for="ch" forName="rect1" refType="h" fact="0.942"/>
              <dgm:constr type="l" for="ch" forName="rect2" refType="w" fact="0.63"/>
              <dgm:constr type="t" for="ch" forName="rect2" refType="h" fact="0.396"/>
              <dgm:constr type="w" for="ch" forName="rect2" refType="h" fact="0.607"/>
              <dgm:constr type="h" for="ch" forName="rect2" refType="h" fact="0.607"/>
            </dgm:constrLst>
          </dgm:else>
        </dgm:choose>
        <dgm:layoutNode name="rect1" styleLbl="bgImgPlace1">
          <dgm:alg type="sp"/>
          <dgm:shape xmlns:r="http://schemas.openxmlformats.org/officeDocument/2006/relationships" type="rect" r:blip="" blipPhldr="1">
            <dgm:adjLst/>
          </dgm:shape>
          <dgm:presOf/>
        </dgm:layoutNode>
        <dgm:layoutNode name="rect2" styleLbl="node1">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BendingPictureBlocks">
  <dgm:title val=""/>
  <dgm:desc val=""/>
  <dgm:catLst>
    <dgm:cat type="picture" pri="8000"/>
    <dgm:cat type="pictureconvert" pri="8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61"/>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908"/>
        </dgm:alg>
        <dgm:shape xmlns:r="http://schemas.openxmlformats.org/officeDocument/2006/relationships" r:blip="">
          <dgm:adjLst/>
        </dgm:shape>
        <dgm:choose name="Name4">
          <dgm:if name="Name5" func="var" arg="dir" op="equ" val="norm">
            <dgm:constrLst>
              <dgm:constr type="l" for="ch" forName="rect1" refType="w" fact="0.3"/>
              <dgm:constr type="t" for="ch" forName="rect1" refType="h" fact="0"/>
              <dgm:constr type="w" for="ch" forName="rect1" refType="h" fact="1.12"/>
              <dgm:constr type="h" for="ch" forName="rect1" refType="h" fact="0.942"/>
              <dgm:constr type="l" for="ch" forName="rect2" refType="w" fact="0"/>
              <dgm:constr type="t" for="ch" forName="rect2" refType="h" fact="0.396"/>
              <dgm:constr type="w" for="ch" forName="rect2" refType="h" fact="0.607"/>
              <dgm:constr type="h" for="ch" forName="rect2" refType="h" fact="0.607"/>
            </dgm:constrLst>
          </dgm:if>
          <dgm:else name="Name6">
            <dgm:constrLst>
              <dgm:constr type="l" for="ch" forName="rect1" refType="w" fact="0"/>
              <dgm:constr type="t" for="ch" forName="rect1" refType="h" fact="0"/>
              <dgm:constr type="w" for="ch" forName="rect1" refType="h" fact="1.12"/>
              <dgm:constr type="h" for="ch" forName="rect1" refType="h" fact="0.942"/>
              <dgm:constr type="l" for="ch" forName="rect2" refType="w" fact="0.63"/>
              <dgm:constr type="t" for="ch" forName="rect2" refType="h" fact="0.396"/>
              <dgm:constr type="w" for="ch" forName="rect2" refType="h" fact="0.607"/>
              <dgm:constr type="h" for="ch" forName="rect2" refType="h" fact="0.607"/>
            </dgm:constrLst>
          </dgm:else>
        </dgm:choose>
        <dgm:layoutNode name="rect1" styleLbl="bgImgPlace1">
          <dgm:alg type="sp"/>
          <dgm:shape xmlns:r="http://schemas.openxmlformats.org/officeDocument/2006/relationships" type="rect" r:blip="" blipPhldr="1">
            <dgm:adjLst/>
          </dgm:shape>
          <dgm:presOf/>
        </dgm:layoutNode>
        <dgm:layoutNode name="rect2" styleLbl="node1">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67B758-0AB5-4079-83E2-4C55A74EB039}" type="datetimeFigureOut">
              <a:rPr lang="fr-FR" smtClean="0"/>
              <a:t>27/06/2025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49E72C-E518-4000-BC7C-050B8F37BBD2}" type="slidenum">
              <a:rPr lang="fr-FR" smtClean="0"/>
              <a:t>‹#›</a:t>
            </a:fld>
            <a:endParaRPr lang="fr-FR"/>
          </a:p>
        </p:txBody>
      </p:sp>
    </p:spTree>
    <p:extLst>
      <p:ext uri="{BB962C8B-B14F-4D97-AF65-F5344CB8AC3E}">
        <p14:creationId xmlns:p14="http://schemas.microsoft.com/office/powerpoint/2010/main" val="1157495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smtClean="0">
                <a:solidFill>
                  <a:schemeClr val="tx1"/>
                </a:solidFill>
                <a:effectLst/>
                <a:latin typeface="+mn-lt"/>
                <a:ea typeface="+mn-ea"/>
                <a:cs typeface="+mn-cs"/>
              </a:rPr>
              <a:t>Thank u mister</a:t>
            </a:r>
            <a:r>
              <a:rPr lang="en-GB" sz="1200" kern="1200" baseline="0" dirty="0" smtClean="0">
                <a:solidFill>
                  <a:schemeClr val="tx1"/>
                </a:solidFill>
                <a:effectLst/>
                <a:latin typeface="+mn-lt"/>
                <a:ea typeface="+mn-ea"/>
                <a:cs typeface="+mn-cs"/>
              </a:rPr>
              <a:t> </a:t>
            </a:r>
            <a:r>
              <a:rPr lang="en-GB" sz="1200" kern="1200" baseline="0" dirty="0" err="1" smtClean="0">
                <a:solidFill>
                  <a:schemeClr val="tx1"/>
                </a:solidFill>
                <a:effectLst/>
                <a:latin typeface="+mn-lt"/>
                <a:ea typeface="+mn-ea"/>
                <a:cs typeface="+mn-cs"/>
              </a:rPr>
              <a:t>dmch</a:t>
            </a:r>
            <a:r>
              <a:rPr lang="en-GB" sz="1200" kern="1200" baseline="0" dirty="0" smtClean="0">
                <a:solidFill>
                  <a:schemeClr val="tx1"/>
                </a:solidFill>
                <a:effectLst/>
                <a:latin typeface="+mn-lt"/>
                <a:ea typeface="+mn-ea"/>
                <a:cs typeface="+mn-cs"/>
              </a:rPr>
              <a:t>, </a:t>
            </a:r>
            <a:r>
              <a:rPr lang="en-GB" sz="1200" kern="1200" dirty="0" smtClean="0">
                <a:solidFill>
                  <a:schemeClr val="tx1"/>
                </a:solidFill>
                <a:effectLst/>
                <a:latin typeface="+mn-lt"/>
                <a:ea typeface="+mn-ea"/>
                <a:cs typeface="+mn-cs"/>
              </a:rPr>
              <a:t>Good </a:t>
            </a:r>
            <a:r>
              <a:rPr lang="en-GB" sz="1200" kern="1200" dirty="0">
                <a:solidFill>
                  <a:schemeClr val="tx1"/>
                </a:solidFill>
                <a:effectLst/>
                <a:latin typeface="+mn-lt"/>
                <a:ea typeface="+mn-ea"/>
                <a:cs typeface="+mn-cs"/>
              </a:rPr>
              <a:t>[morning/afternoon], everyone, and welcome to our Master’s thesis </a:t>
            </a:r>
            <a:r>
              <a:rPr lang="en-GB" sz="1200" kern="1200" dirty="0" err="1">
                <a:solidFill>
                  <a:schemeClr val="tx1"/>
                </a:solidFill>
                <a:effectLst/>
                <a:latin typeface="+mn-lt"/>
                <a:ea typeface="+mn-ea"/>
                <a:cs typeface="+mn-cs"/>
              </a:rPr>
              <a:t>defense</a:t>
            </a:r>
            <a:r>
              <a:rPr lang="en-GB" sz="1200" kern="1200" dirty="0">
                <a:solidFill>
                  <a:schemeClr val="tx1"/>
                </a:solidFill>
                <a:effectLst/>
                <a:latin typeface="+mn-lt"/>
                <a:ea typeface="+mn-ea"/>
                <a:cs typeface="+mn-cs"/>
              </a:rPr>
              <a:t>. My name is Rayane </a:t>
            </a:r>
            <a:r>
              <a:rPr lang="en-GB" sz="1200" kern="1200" dirty="0" err="1" smtClean="0">
                <a:solidFill>
                  <a:schemeClr val="tx1"/>
                </a:solidFill>
                <a:effectLst/>
                <a:latin typeface="+mn-lt"/>
                <a:ea typeface="+mn-ea"/>
                <a:cs typeface="+mn-cs"/>
              </a:rPr>
              <a:t>Messalit</a:t>
            </a:r>
            <a:r>
              <a:rPr lang="en-GB" sz="1200" kern="1200" dirty="0" smtClean="0">
                <a:solidFill>
                  <a:schemeClr val="tx1"/>
                </a:solidFill>
                <a:effectLst/>
                <a:latin typeface="+mn-lt"/>
                <a:ea typeface="+mn-ea"/>
                <a:cs typeface="+mn-cs"/>
              </a:rPr>
              <a:t>, </a:t>
            </a:r>
            <a:r>
              <a:rPr lang="en-GB" sz="1200" kern="1200" dirty="0">
                <a:solidFill>
                  <a:schemeClr val="tx1"/>
                </a:solidFill>
                <a:effectLst/>
                <a:latin typeface="+mn-lt"/>
                <a:ea typeface="+mn-ea"/>
                <a:cs typeface="+mn-cs"/>
              </a:rPr>
              <a:t>we are excited to present our research titled 'Transformer-based Approach for Hand Gesture Recognition Through EMG Signals.' This work was completed under the guidance of </a:t>
            </a:r>
            <a:r>
              <a:rPr lang="en-GB" sz="1200" kern="1200" dirty="0" err="1">
                <a:solidFill>
                  <a:schemeClr val="tx1"/>
                </a:solidFill>
                <a:effectLst/>
                <a:latin typeface="+mn-lt"/>
                <a:ea typeface="+mn-ea"/>
                <a:cs typeface="+mn-cs"/>
              </a:rPr>
              <a:t>Dr.</a:t>
            </a:r>
            <a:r>
              <a:rPr lang="en-GB" sz="1200" kern="1200" dirty="0">
                <a:solidFill>
                  <a:schemeClr val="tx1"/>
                </a:solidFill>
                <a:effectLst/>
                <a:latin typeface="+mn-lt"/>
                <a:ea typeface="+mn-ea"/>
                <a:cs typeface="+mn-cs"/>
              </a:rPr>
              <a:t> </a:t>
            </a:r>
            <a:r>
              <a:rPr lang="en-GB" sz="1200" kern="1200" dirty="0" err="1">
                <a:solidFill>
                  <a:schemeClr val="tx1"/>
                </a:solidFill>
                <a:effectLst/>
                <a:latin typeface="+mn-lt"/>
                <a:ea typeface="+mn-ea"/>
                <a:cs typeface="+mn-cs"/>
              </a:rPr>
              <a:t>Elhocine</a:t>
            </a:r>
            <a:r>
              <a:rPr lang="en-GB" sz="1200" kern="1200" dirty="0">
                <a:solidFill>
                  <a:schemeClr val="tx1"/>
                </a:solidFill>
                <a:effectLst/>
                <a:latin typeface="+mn-lt"/>
                <a:ea typeface="+mn-ea"/>
                <a:cs typeface="+mn-cs"/>
              </a:rPr>
              <a:t> </a:t>
            </a:r>
            <a:r>
              <a:rPr lang="en-GB" sz="1200" kern="1200" dirty="0" err="1">
                <a:solidFill>
                  <a:schemeClr val="tx1"/>
                </a:solidFill>
                <a:effectLst/>
                <a:latin typeface="+mn-lt"/>
                <a:ea typeface="+mn-ea"/>
                <a:cs typeface="+mn-cs"/>
              </a:rPr>
              <a:t>Boutellaa</a:t>
            </a:r>
            <a:r>
              <a:rPr lang="en-GB" sz="1200" kern="1200" dirty="0" smtClean="0">
                <a:solidFill>
                  <a:schemeClr val="tx1"/>
                </a:solidFill>
                <a:effectLst/>
                <a:latin typeface="+mn-lt"/>
                <a:ea typeface="+mn-ea"/>
                <a:cs typeface="+mn-cs"/>
              </a:rPr>
              <a:t>, </a:t>
            </a:r>
            <a:r>
              <a:rPr lang="en-GB" sz="1200" kern="1200" dirty="0">
                <a:solidFill>
                  <a:schemeClr val="tx1"/>
                </a:solidFill>
                <a:effectLst/>
                <a:latin typeface="+mn-lt"/>
                <a:ea typeface="+mn-ea"/>
                <a:cs typeface="+mn-cs"/>
              </a:rPr>
              <a:t>and </a:t>
            </a:r>
            <a:r>
              <a:rPr lang="en-GB" sz="1200" kern="1200" dirty="0" err="1">
                <a:solidFill>
                  <a:schemeClr val="tx1"/>
                </a:solidFill>
                <a:effectLst/>
                <a:latin typeface="+mn-lt"/>
                <a:ea typeface="+mn-ea"/>
                <a:cs typeface="+mn-cs"/>
              </a:rPr>
              <a:t>Dr.</a:t>
            </a:r>
            <a:r>
              <a:rPr lang="en-GB" sz="1200" kern="1200" dirty="0">
                <a:solidFill>
                  <a:schemeClr val="tx1"/>
                </a:solidFill>
                <a:effectLst/>
                <a:latin typeface="+mn-lt"/>
                <a:ea typeface="+mn-ea"/>
                <a:cs typeface="+mn-cs"/>
              </a:rPr>
              <a:t> </a:t>
            </a:r>
            <a:r>
              <a:rPr lang="en-GB" sz="1200" kern="1200" dirty="0" err="1">
                <a:solidFill>
                  <a:schemeClr val="tx1"/>
                </a:solidFill>
                <a:effectLst/>
                <a:latin typeface="+mn-lt"/>
                <a:ea typeface="+mn-ea"/>
                <a:cs typeface="+mn-cs"/>
              </a:rPr>
              <a:t>Rachid</a:t>
            </a:r>
            <a:r>
              <a:rPr lang="en-GB" sz="1200" kern="1200" dirty="0">
                <a:solidFill>
                  <a:schemeClr val="tx1"/>
                </a:solidFill>
                <a:effectLst/>
                <a:latin typeface="+mn-lt"/>
                <a:ea typeface="+mn-ea"/>
                <a:cs typeface="+mn-cs"/>
              </a:rPr>
              <a:t> </a:t>
            </a:r>
            <a:r>
              <a:rPr lang="en-GB" sz="1200" kern="1200" dirty="0" err="1">
                <a:solidFill>
                  <a:schemeClr val="tx1"/>
                </a:solidFill>
                <a:effectLst/>
                <a:latin typeface="+mn-lt"/>
                <a:ea typeface="+mn-ea"/>
                <a:cs typeface="+mn-cs"/>
              </a:rPr>
              <a:t>Namane</a:t>
            </a:r>
            <a:r>
              <a:rPr lang="en-GB" sz="1200" kern="1200" dirty="0" smtClean="0">
                <a:solidFill>
                  <a:schemeClr val="tx1"/>
                </a:solidFill>
                <a:effectLst/>
                <a:latin typeface="+mn-lt"/>
                <a:ea typeface="+mn-ea"/>
                <a:cs typeface="+mn-cs"/>
              </a:rPr>
              <a:t>, </a:t>
            </a:r>
            <a:r>
              <a:rPr lang="en-GB" sz="1200" kern="1200" dirty="0">
                <a:solidFill>
                  <a:schemeClr val="tx1"/>
                </a:solidFill>
                <a:effectLst/>
                <a:latin typeface="+mn-lt"/>
                <a:ea typeface="+mn-ea"/>
                <a:cs typeface="+mn-cs"/>
              </a:rPr>
              <a:t>as part of our Master’s program in Computer Engineering at the institute of electrical and electronic engineering</a:t>
            </a:r>
            <a:r>
              <a:rPr lang="en-GB" sz="1200" kern="1200" baseline="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University of</a:t>
            </a:r>
            <a:r>
              <a:rPr lang="en-GB" sz="1200" kern="1200" baseline="0" dirty="0">
                <a:solidFill>
                  <a:schemeClr val="tx1"/>
                </a:solidFill>
                <a:effectLst/>
                <a:latin typeface="+mn-lt"/>
                <a:ea typeface="+mn-ea"/>
                <a:cs typeface="+mn-cs"/>
              </a:rPr>
              <a:t> </a:t>
            </a:r>
            <a:r>
              <a:rPr lang="en-GB" sz="1200" kern="1200" dirty="0" err="1">
                <a:solidFill>
                  <a:schemeClr val="tx1"/>
                </a:solidFill>
                <a:effectLst/>
                <a:latin typeface="+mn-lt"/>
                <a:ea typeface="+mn-ea"/>
                <a:cs typeface="+mn-cs"/>
              </a:rPr>
              <a:t>Boumerdes</a:t>
            </a:r>
            <a:r>
              <a:rPr lang="en-GB" sz="1200" kern="1200" dirty="0">
                <a:solidFill>
                  <a:schemeClr val="tx1"/>
                </a:solidFill>
                <a:effectLst/>
                <a:latin typeface="+mn-lt"/>
                <a:ea typeface="+mn-ea"/>
                <a:cs typeface="+mn-cs"/>
              </a:rPr>
              <a:t>. As the title</a:t>
            </a:r>
            <a:r>
              <a:rPr lang="en-GB" sz="1200" kern="1200" baseline="0" dirty="0">
                <a:solidFill>
                  <a:schemeClr val="tx1"/>
                </a:solidFill>
                <a:effectLst/>
                <a:latin typeface="+mn-lt"/>
                <a:ea typeface="+mn-ea"/>
                <a:cs typeface="+mn-cs"/>
              </a:rPr>
              <a:t> says, this research will be about using the transformer-based model to recognize and classify hand gestures using the EMG of the hand muscles, so now </a:t>
            </a:r>
            <a:r>
              <a:rPr lang="en-GB" sz="1200" kern="1200" dirty="0">
                <a:solidFill>
                  <a:schemeClr val="tx1"/>
                </a:solidFill>
                <a:effectLst/>
                <a:latin typeface="+mn-lt"/>
                <a:ea typeface="+mn-ea"/>
                <a:cs typeface="+mn-cs"/>
              </a:rPr>
              <a:t>Let’s get started!</a:t>
            </a:r>
            <a:endParaRPr lang="en-GB" dirty="0">
              <a:effectLst/>
            </a:endParaRPr>
          </a:p>
          <a:p>
            <a:endParaRPr lang="en-GB" dirty="0"/>
          </a:p>
          <a:p>
            <a:endParaRPr lang="en-GB" dirty="0"/>
          </a:p>
        </p:txBody>
      </p:sp>
      <p:sp>
        <p:nvSpPr>
          <p:cNvPr id="4" name="Slide Number Placeholder 3"/>
          <p:cNvSpPr>
            <a:spLocks noGrp="1"/>
          </p:cNvSpPr>
          <p:nvPr>
            <p:ph type="sldNum" sz="quarter" idx="10"/>
          </p:nvPr>
        </p:nvSpPr>
        <p:spPr/>
        <p:txBody>
          <a:bodyPr/>
          <a:lstStyle/>
          <a:p>
            <a:fld id="{5849E72C-E518-4000-BC7C-050B8F37BBD2}" type="slidenum">
              <a:rPr lang="fr-FR" smtClean="0"/>
              <a:t>1</a:t>
            </a:fld>
            <a:endParaRPr lang="fr-FR"/>
          </a:p>
        </p:txBody>
      </p:sp>
    </p:spTree>
    <p:extLst>
      <p:ext uri="{BB962C8B-B14F-4D97-AF65-F5344CB8AC3E}">
        <p14:creationId xmlns:p14="http://schemas.microsoft.com/office/powerpoint/2010/main" val="1856497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presentation is structured into five main sections. We’ll start with an Introduction and Background to set the context, followed by the Problem Statement and Approach Motivation to explain why we chose this </a:t>
            </a:r>
            <a:r>
              <a:rPr lang="fr-FR" dirty="0"/>
              <a:t>approach</a:t>
            </a:r>
            <a:r>
              <a:rPr lang="en-GB" dirty="0"/>
              <a:t>. Next, we’ll dive into our Methodology, </a:t>
            </a:r>
            <a:r>
              <a:rPr lang="fr-FR" dirty="0"/>
              <a:t>showing our model, dataset, preprocessing technqiues</a:t>
            </a:r>
            <a:r>
              <a:rPr lang="en-GB" dirty="0"/>
              <a:t>. Then, we’ll cover Experiments and Results to showcase our findings, and finally, we’ll wrap up with a Conclusion to summarize our contributions and future directions.</a:t>
            </a:r>
          </a:p>
        </p:txBody>
      </p:sp>
      <p:sp>
        <p:nvSpPr>
          <p:cNvPr id="4" name="Slide Number Placeholder 3"/>
          <p:cNvSpPr>
            <a:spLocks noGrp="1"/>
          </p:cNvSpPr>
          <p:nvPr>
            <p:ph type="sldNum" sz="quarter" idx="10"/>
          </p:nvPr>
        </p:nvSpPr>
        <p:spPr/>
        <p:txBody>
          <a:bodyPr/>
          <a:lstStyle/>
          <a:p>
            <a:fld id="{5849E72C-E518-4000-BC7C-050B8F37BBD2}" type="slidenum">
              <a:rPr lang="fr-FR" smtClean="0"/>
              <a:t>2</a:t>
            </a:fld>
            <a:endParaRPr lang="fr-FR"/>
          </a:p>
        </p:txBody>
      </p:sp>
    </p:spTree>
    <p:extLst>
      <p:ext uri="{BB962C8B-B14F-4D97-AF65-F5344CB8AC3E}">
        <p14:creationId xmlns:p14="http://schemas.microsoft.com/office/powerpoint/2010/main" val="2944156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Shape 21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9" name="Shape 21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GB" dirty="0"/>
              <a:t>So</a:t>
            </a:r>
            <a:r>
              <a:rPr lang="en-GB" baseline="0" dirty="0"/>
              <a:t> l</a:t>
            </a:r>
            <a:r>
              <a:rPr lang="en-GB" dirty="0"/>
              <a:t>et’s begin with the Introduction and </a:t>
            </a:r>
            <a:r>
              <a:rPr lang="en-GB" dirty="0" smtClean="0"/>
              <a:t>Background</a:t>
            </a:r>
            <a:endParaRPr dirty="0"/>
          </a:p>
        </p:txBody>
      </p:sp>
    </p:spTree>
    <p:extLst>
      <p:ext uri="{BB962C8B-B14F-4D97-AF65-F5344CB8AC3E}">
        <p14:creationId xmlns:p14="http://schemas.microsoft.com/office/powerpoint/2010/main" val="3491701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Hand-Gesture Recognition, or HGR, is about translating physical hand movements into digital commands. </a:t>
            </a:r>
          </a:p>
          <a:p>
            <a:endParaRPr lang="en-GB" dirty="0"/>
          </a:p>
          <a:p>
            <a:r>
              <a:rPr lang="fr-FR" dirty="0" err="1" smtClean="0"/>
              <a:t>it</a:t>
            </a:r>
            <a:r>
              <a:rPr lang="fr-FR" dirty="0" smtClean="0"/>
              <a:t> </a:t>
            </a:r>
            <a:r>
              <a:rPr lang="fr-FR" dirty="0"/>
              <a:t>has </a:t>
            </a:r>
            <a:r>
              <a:rPr lang="fr-FR" dirty="0" err="1"/>
              <a:t>several</a:t>
            </a:r>
            <a:r>
              <a:rPr lang="fr-FR" dirty="0"/>
              <a:t> </a:t>
            </a:r>
            <a:r>
              <a:rPr lang="en-GB" dirty="0" smtClean="0"/>
              <a:t>applications</a:t>
            </a:r>
            <a:r>
              <a:rPr lang="fr-FR" dirty="0" smtClean="0"/>
              <a:t>, </a:t>
            </a:r>
            <a:r>
              <a:rPr lang="fr-FR" dirty="0"/>
              <a:t>one of this application is :</a:t>
            </a:r>
            <a:endParaRPr lang="en-GB" dirty="0"/>
          </a:p>
          <a:p>
            <a:r>
              <a:rPr lang="en-GB" b="1" dirty="0"/>
              <a:t>Prosthetics control [Image 1]</a:t>
            </a:r>
            <a:r>
              <a:rPr lang="fr-FR" b="1" dirty="0"/>
              <a:t> where</a:t>
            </a:r>
            <a:r>
              <a:rPr lang="en-GB" b="1" dirty="0"/>
              <a:t> </a:t>
            </a:r>
            <a:r>
              <a:rPr lang="en-GB" b="0" dirty="0"/>
              <a:t>it</a:t>
            </a:r>
            <a:r>
              <a:rPr lang="en-GB" dirty="0"/>
              <a:t> Allows </a:t>
            </a:r>
            <a:r>
              <a:rPr lang="en-GB" dirty="0" smtClean="0"/>
              <a:t>people </a:t>
            </a:r>
            <a:r>
              <a:rPr lang="en-GB" dirty="0"/>
              <a:t>with prosthetic limbs to control them with greater precision,</a:t>
            </a:r>
            <a:r>
              <a:rPr lang="en-GB" baseline="0" dirty="0"/>
              <a:t> </a:t>
            </a:r>
            <a:r>
              <a:rPr lang="fr-FR" baseline="0" dirty="0"/>
              <a:t> and </a:t>
            </a:r>
            <a:r>
              <a:rPr lang="en-GB" dirty="0"/>
              <a:t>improving their quality of life.</a:t>
            </a:r>
            <a:endParaRPr lang="fr-FR" dirty="0"/>
          </a:p>
          <a:p>
            <a:r>
              <a:rPr lang="fr-FR" dirty="0"/>
              <a:t>Another application is :</a:t>
            </a:r>
            <a:endParaRPr lang="en-GB" dirty="0"/>
          </a:p>
          <a:p>
            <a:r>
              <a:rPr lang="en-GB" b="1" dirty="0"/>
              <a:t>Virtual reality/Augmented reality interfaces [Image 2]: </a:t>
            </a:r>
            <a:r>
              <a:rPr lang="fr-FR" b="0" dirty="0"/>
              <a:t>where it</a:t>
            </a:r>
            <a:r>
              <a:rPr lang="en-GB" dirty="0"/>
              <a:t> Enables interactions within virtual environments without </a:t>
            </a:r>
            <a:r>
              <a:rPr lang="fr-FR" dirty="0"/>
              <a:t> needing large</a:t>
            </a:r>
            <a:r>
              <a:rPr lang="en-GB" dirty="0"/>
              <a:t> controllers.</a:t>
            </a:r>
          </a:p>
          <a:p>
            <a:r>
              <a:rPr lang="en-GB" b="1" dirty="0"/>
              <a:t>Robotics &amp; Assistive devices [Image 3]:</a:t>
            </a:r>
            <a:r>
              <a:rPr lang="en-GB" dirty="0"/>
              <a:t> </a:t>
            </a:r>
            <a:r>
              <a:rPr lang="fr-FR" dirty="0"/>
              <a:t>where it</a:t>
            </a:r>
            <a:r>
              <a:rPr lang="en-GB" baseline="0" dirty="0"/>
              <a:t> </a:t>
            </a:r>
            <a:r>
              <a:rPr lang="en-GB" baseline="0" dirty="0" err="1"/>
              <a:t>facilate</a:t>
            </a:r>
            <a:r>
              <a:rPr lang="en-GB" dirty="0"/>
              <a:t> human-robot collaboration</a:t>
            </a:r>
            <a:r>
              <a:rPr lang="fr-FR" dirty="0"/>
              <a:t>.</a:t>
            </a:r>
            <a:endParaRPr lang="en-GB" dirty="0"/>
          </a:p>
          <a:p>
            <a:endParaRPr lang="en-GB" dirty="0"/>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There are two main modalities for HGR: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vision-based systems using </a:t>
            </a:r>
            <a:r>
              <a:rPr lang="en-GB" dirty="0" smtClean="0"/>
              <a:t>cameras to identify the hand </a:t>
            </a:r>
            <a:r>
              <a:rPr lang="en-GB" dirty="0" err="1" smtClean="0"/>
              <a:t>mouvements</a:t>
            </a:r>
            <a:r>
              <a:rPr lang="en-GB" dirty="0" smtClean="0"/>
              <a:t> </a:t>
            </a:r>
            <a:r>
              <a:rPr lang="en-GB" dirty="0"/>
              <a:t>and wearable EMG-based systems that detect muscle electrical activity, which is what we focus on in this </a:t>
            </a:r>
            <a:r>
              <a:rPr lang="en-GB" dirty="0" smtClean="0"/>
              <a:t>research.</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So lets move on to these emg signals</a:t>
            </a:r>
            <a:endParaRPr lang="en-GB" dirty="0"/>
          </a:p>
          <a:p>
            <a:endParaRPr lang="en-GB" dirty="0"/>
          </a:p>
        </p:txBody>
      </p:sp>
      <p:sp>
        <p:nvSpPr>
          <p:cNvPr id="4" name="Slide Number Placeholder 3"/>
          <p:cNvSpPr>
            <a:spLocks noGrp="1"/>
          </p:cNvSpPr>
          <p:nvPr>
            <p:ph type="sldNum" sz="quarter" idx="10"/>
          </p:nvPr>
        </p:nvSpPr>
        <p:spPr/>
        <p:txBody>
          <a:bodyPr/>
          <a:lstStyle/>
          <a:p>
            <a:fld id="{5849E72C-E518-4000-BC7C-050B8F37BBD2}" type="slidenum">
              <a:rPr lang="fr-FR" smtClean="0"/>
              <a:t>4</a:t>
            </a:fld>
            <a:endParaRPr lang="fr-FR"/>
          </a:p>
        </p:txBody>
      </p:sp>
    </p:spTree>
    <p:extLst>
      <p:ext uri="{BB962C8B-B14F-4D97-AF65-F5344CB8AC3E}">
        <p14:creationId xmlns:p14="http://schemas.microsoft.com/office/powerpoint/2010/main" val="1134372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fr-FR" dirty="0"/>
              <a:t>E</a:t>
            </a:r>
            <a:r>
              <a:rPr lang="en-GB" dirty="0"/>
              <a:t>MG, or Electromyography, </a:t>
            </a:r>
            <a:r>
              <a:rPr lang="en-GB" dirty="0" smtClean="0"/>
              <a:t>are the signals recorded</a:t>
            </a:r>
            <a:r>
              <a:rPr lang="en-GB" baseline="0" dirty="0" smtClean="0"/>
              <a:t>, </a:t>
            </a:r>
            <a:r>
              <a:rPr lang="en-GB" dirty="0" smtClean="0"/>
              <a:t>from the muscles contraction. </a:t>
            </a:r>
          </a:p>
          <a:p>
            <a:r>
              <a:rPr lang="en-GB" dirty="0" smtClean="0"/>
              <a:t>These </a:t>
            </a:r>
            <a:r>
              <a:rPr lang="en-GB" dirty="0"/>
              <a:t>signals are key for gesture recognition, especially in prosthetics and human-machine interfaces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r>
              <a:rPr lang="en-GB" dirty="0"/>
              <a:t>The acquisition of EMG signals can be done through different types of</a:t>
            </a:r>
            <a:r>
              <a:rPr lang="fr-FR" dirty="0"/>
              <a:t> What we call</a:t>
            </a:r>
            <a:r>
              <a:rPr lang="en-GB" dirty="0"/>
              <a:t> electrodes</a:t>
            </a:r>
            <a:r>
              <a:rPr lang="en-GB" baseline="0" dirty="0"/>
              <a:t> </a:t>
            </a:r>
            <a:r>
              <a:rPr lang="en-GB" dirty="0"/>
              <a:t>:</a:t>
            </a:r>
          </a:p>
          <a:p>
            <a:r>
              <a:rPr lang="fr-FR" dirty="0"/>
              <a:t>We have </a:t>
            </a:r>
            <a:endParaRPr lang="en-GB" dirty="0"/>
          </a:p>
          <a:p>
            <a:r>
              <a:rPr lang="en-GB" b="1" dirty="0"/>
              <a:t>Gelled Electrodes [Image 1: Gelled Electrodes]:</a:t>
            </a:r>
            <a:r>
              <a:rPr lang="en-GB" dirty="0"/>
              <a:t> These are commonly used in clinical settings. They require a  gel to ensure good contact with the skin.</a:t>
            </a:r>
          </a:p>
          <a:p>
            <a:endParaRPr lang="en-GB" dirty="0"/>
          </a:p>
          <a:p>
            <a:r>
              <a:rPr lang="en-GB" b="1" dirty="0"/>
              <a:t>Dry Electrodes [Image 2: Dry Electrodes]:</a:t>
            </a:r>
            <a:r>
              <a:rPr lang="en-GB" dirty="0"/>
              <a:t> These do not </a:t>
            </a:r>
            <a:r>
              <a:rPr lang="fr-FR" dirty="0"/>
              <a:t>need</a:t>
            </a:r>
            <a:r>
              <a:rPr lang="en-GB" dirty="0"/>
              <a:t> gel</a:t>
            </a:r>
            <a:r>
              <a:rPr lang="fr-FR" dirty="0"/>
              <a:t> and are more comfortable then gel electrodes</a:t>
            </a:r>
            <a:r>
              <a:rPr lang="en-GB" dirty="0"/>
              <a:t>. </a:t>
            </a:r>
            <a:r>
              <a:rPr lang="fr-FR" dirty="0"/>
              <a:t>But they can be</a:t>
            </a:r>
            <a:r>
              <a:rPr lang="en-GB" dirty="0"/>
              <a:t> </a:t>
            </a:r>
            <a:r>
              <a:rPr lang="en-GB" dirty="0" err="1"/>
              <a:t>Sensitiv</a:t>
            </a:r>
            <a:r>
              <a:rPr lang="fr-FR" dirty="0"/>
              <a:t>e to n</a:t>
            </a:r>
            <a:r>
              <a:rPr lang="en-GB" dirty="0" err="1"/>
              <a:t>oise</a:t>
            </a:r>
            <a:r>
              <a:rPr lang="en-GB" dirty="0"/>
              <a:t> due to less stable contact.</a:t>
            </a:r>
          </a:p>
          <a:p>
            <a:endParaRPr lang="fr-FR" dirty="0"/>
          </a:p>
          <a:p>
            <a:endParaRPr lang="fr-FR" dirty="0"/>
          </a:p>
          <a:p>
            <a:endParaRPr lang="fr-FR" dirty="0"/>
          </a:p>
          <a:p>
            <a:r>
              <a:rPr lang="fr-FR" dirty="0"/>
              <a:t>Last is the </a:t>
            </a:r>
            <a:endParaRPr lang="en-GB" dirty="0"/>
          </a:p>
          <a:p>
            <a:r>
              <a:rPr lang="en-GB" b="1" dirty="0"/>
              <a:t>Needle Electrode [Image 3: Needle Electrode]:</a:t>
            </a:r>
            <a:r>
              <a:rPr lang="en-GB" dirty="0"/>
              <a:t> These involve inserting a fine needle into the muscle. They provide </a:t>
            </a:r>
            <a:r>
              <a:rPr lang="en-GB" dirty="0" err="1"/>
              <a:t>hig</a:t>
            </a:r>
            <a:r>
              <a:rPr lang="fr-FR" dirty="0"/>
              <a:t>h </a:t>
            </a:r>
            <a:r>
              <a:rPr lang="en-GB" dirty="0"/>
              <a:t>localized and precise readings of muscle activity, typically used for  medical </a:t>
            </a:r>
            <a:r>
              <a:rPr lang="en-GB" dirty="0" err="1"/>
              <a:t>puposes</a:t>
            </a:r>
            <a:r>
              <a:rPr lang="en-GB" dirty="0"/>
              <a:t>.</a:t>
            </a:r>
            <a:endParaRPr lang="fr-FR" dirty="0"/>
          </a:p>
          <a:p>
            <a:endParaRPr lang="fr-FR" dirty="0"/>
          </a:p>
          <a:p>
            <a:endParaRPr lang="en-GB" dirty="0"/>
          </a:p>
          <a:p>
            <a:r>
              <a:rPr lang="fr-FR" dirty="0"/>
              <a:t>To get a deep understanding of these emg signals lets see how they are generated</a:t>
            </a:r>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fld id="{5849E72C-E518-4000-BC7C-050B8F37BBD2}" type="slidenum">
              <a:rPr lang="fr-FR" smtClean="0"/>
              <a:t>5</a:t>
            </a:fld>
            <a:endParaRPr lang="fr-FR"/>
          </a:p>
        </p:txBody>
      </p:sp>
    </p:spTree>
    <p:extLst>
      <p:ext uri="{BB962C8B-B14F-4D97-AF65-F5344CB8AC3E}">
        <p14:creationId xmlns:p14="http://schemas.microsoft.com/office/powerpoint/2010/main" val="10627742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It starts with an alpha motor neuron in the spinal cord sending an electrical impulse, or action potential, down its axon. This reaches the neuromuscular junction, as shown in the diagram, triggering the muscle </a:t>
            </a:r>
            <a:r>
              <a:rPr lang="en-GB" dirty="0" err="1"/>
              <a:t>fiber</a:t>
            </a:r>
            <a:r>
              <a:rPr lang="en-GB" dirty="0"/>
              <a:t> to produce its own action potential. EMG electrodes then detect the summed bioelectric potentials from all activated muscle </a:t>
            </a:r>
            <a:r>
              <a:rPr lang="en-GB" dirty="0" err="1"/>
              <a:t>fibers</a:t>
            </a:r>
            <a:r>
              <a:rPr lang="en-GB" dirty="0"/>
              <a:t>, </a:t>
            </a:r>
            <a:r>
              <a:rPr lang="en-GB" b="1" dirty="0"/>
              <a:t>forming the signals we </a:t>
            </a:r>
            <a:r>
              <a:rPr lang="en-GB" b="1" dirty="0" err="1"/>
              <a:t>analyze</a:t>
            </a:r>
            <a:r>
              <a:rPr lang="en-GB" b="1" dirty="0"/>
              <a:t> for gesture recognition</a:t>
            </a:r>
            <a:r>
              <a:rPr lang="en-GB" dirty="0"/>
              <a:t>.</a:t>
            </a:r>
            <a:endParaRPr lang="fr-FR" dirty="0"/>
          </a:p>
          <a:p>
            <a:endParaRPr lang="fr-FR" dirty="0"/>
          </a:p>
          <a:p>
            <a:r>
              <a:rPr lang="fr-FR" dirty="0"/>
              <a:t>So that was a resumed explanation on how are they generated and we reached the end of our background and intro section</a:t>
            </a:r>
          </a:p>
          <a:p>
            <a:endParaRPr lang="fr-FR" dirty="0"/>
          </a:p>
          <a:p>
            <a:endParaRPr lang="fr-FR" dirty="0"/>
          </a:p>
          <a:p>
            <a:r>
              <a:rPr lang="fr-FR" dirty="0"/>
              <a:t>The next section  will be explained by my friend here</a:t>
            </a:r>
            <a:endParaRPr lang="en-GB" dirty="0"/>
          </a:p>
        </p:txBody>
      </p:sp>
      <p:sp>
        <p:nvSpPr>
          <p:cNvPr id="4" name="Slide Number Placeholder 3"/>
          <p:cNvSpPr>
            <a:spLocks noGrp="1"/>
          </p:cNvSpPr>
          <p:nvPr>
            <p:ph type="sldNum" sz="quarter" idx="10"/>
          </p:nvPr>
        </p:nvSpPr>
        <p:spPr/>
        <p:txBody>
          <a:bodyPr/>
          <a:lstStyle/>
          <a:p>
            <a:fld id="{5849E72C-E518-4000-BC7C-050B8F37BBD2}" type="slidenum">
              <a:rPr lang="fr-FR" smtClean="0"/>
              <a:t>6</a:t>
            </a:fld>
            <a:endParaRPr lang="fr-FR"/>
          </a:p>
        </p:txBody>
      </p:sp>
    </p:spTree>
    <p:extLst>
      <p:ext uri="{BB962C8B-B14F-4D97-AF65-F5344CB8AC3E}">
        <p14:creationId xmlns:p14="http://schemas.microsoft.com/office/powerpoint/2010/main" val="1982777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Shape 21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9" name="Shape 21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Now, let’s move to the Problem Statement and Approach Motivation, where we identify the challenges and our proposed solution.</a:t>
            </a:r>
            <a:endParaRPr dirty="0"/>
          </a:p>
        </p:txBody>
      </p:sp>
    </p:spTree>
    <p:extLst>
      <p:ext uri="{BB962C8B-B14F-4D97-AF65-F5344CB8AC3E}">
        <p14:creationId xmlns:p14="http://schemas.microsoft.com/office/powerpoint/2010/main" val="852379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EMG gesture recognition faces several challenges. High variability in signals comes from muscle fatigue, motion </a:t>
            </a:r>
            <a:r>
              <a:rPr lang="en-GB" b="0" dirty="0" err="1"/>
              <a:t>artifacts</a:t>
            </a:r>
            <a:r>
              <a:rPr lang="en-GB" b="0" dirty="0"/>
              <a:t>, and differences between subjects, making consistent recognition tough. Noise, such as cross-talk between muscles and electrode noise, further degrades signal quality. These issues lead to unreliable control, which is a major concern in high-precision applications like prosthetics and human-machine interfaces, where accuracy is critical.</a:t>
            </a:r>
          </a:p>
        </p:txBody>
      </p:sp>
      <p:sp>
        <p:nvSpPr>
          <p:cNvPr id="4" name="Slide Number Placeholder 3"/>
          <p:cNvSpPr>
            <a:spLocks noGrp="1"/>
          </p:cNvSpPr>
          <p:nvPr>
            <p:ph type="sldNum" sz="quarter" idx="10"/>
          </p:nvPr>
        </p:nvSpPr>
        <p:spPr/>
        <p:txBody>
          <a:bodyPr/>
          <a:lstStyle/>
          <a:p>
            <a:fld id="{5849E72C-E518-4000-BC7C-050B8F37BBD2}" type="slidenum">
              <a:rPr lang="fr-FR" smtClean="0"/>
              <a:t>8</a:t>
            </a:fld>
            <a:endParaRPr lang="fr-FR"/>
          </a:p>
        </p:txBody>
      </p:sp>
    </p:spTree>
    <p:extLst>
      <p:ext uri="{BB962C8B-B14F-4D97-AF65-F5344CB8AC3E}">
        <p14:creationId xmlns:p14="http://schemas.microsoft.com/office/powerpoint/2010/main" val="3862349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Traditional deep learning methods also have limitations. Convolutional Neural Networks, or CNNs, are good at capturing local patterns but struggle with long-term relationships in EMG signals.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Recurrent Neural Networks, or RNNs, are designed for sequences but </a:t>
            </a:r>
            <a:r>
              <a:rPr lang="en-GB" dirty="0" err="1"/>
              <a:t>strugle</a:t>
            </a:r>
            <a:r>
              <a:rPr lang="en-GB" dirty="0"/>
              <a:t> with long sequences due to gradient vanishing.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results in poor generalization across subjects and</a:t>
            </a:r>
            <a:r>
              <a:rPr lang="en-GB" baseline="0" dirty="0"/>
              <a:t> </a:t>
            </a:r>
            <a:r>
              <a:rPr lang="en-GB" dirty="0"/>
              <a:t>lower overall classification accuracy, and also slow processing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Explanation of figures: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err="1"/>
              <a:t>Cnn</a:t>
            </a:r>
            <a:r>
              <a:rPr lang="en-GB" b="0" dirty="0"/>
              <a:t> </a:t>
            </a:r>
            <a:r>
              <a:rPr lang="en-GB" dirty="0"/>
              <a:t>can process text</a:t>
            </a:r>
            <a:r>
              <a:rPr lang="en-GB" baseline="0" dirty="0"/>
              <a:t> also</a:t>
            </a:r>
            <a:r>
              <a:rPr lang="en-GB" dirty="0"/>
              <a:t>, each word is converted into a </a:t>
            </a:r>
            <a:r>
              <a:rPr lang="en-GB" b="1" dirty="0"/>
              <a:t>word embedding</a:t>
            </a:r>
            <a:r>
              <a:rPr lang="en-GB" dirty="0"/>
              <a:t>. Think of a word embedding as a dense, fixed-size numerical vector (e.g., a list of 50 or 100 numbers) that represents the meaning of the word. So it change it into numerical values( like images they are pixels numerical values).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a:p>
            <a:r>
              <a:rPr lang="en-GB" b="1" dirty="0"/>
              <a:t>Adapting Filters for 1D Data: 1D Convolutions</a:t>
            </a:r>
          </a:p>
          <a:p>
            <a:endParaRPr lang="en-GB" dirty="0"/>
          </a:p>
          <a:p>
            <a:r>
              <a:rPr lang="en-GB" b="1" dirty="0"/>
              <a:t>2D Filters for Images:</a:t>
            </a:r>
            <a:r>
              <a:rPr lang="en-GB" dirty="0"/>
              <a:t> In image CNNs, filters are typically 2D matrices (e.g., 3x3, 5x5). They slide across both the width and height of the image, performing dot products to extract features.</a:t>
            </a:r>
          </a:p>
          <a:p>
            <a:r>
              <a:rPr lang="en-GB" b="1" dirty="0"/>
              <a:t>1D Filters for Text:</a:t>
            </a:r>
            <a:r>
              <a:rPr lang="en-GB" dirty="0"/>
              <a:t> For text, we use </a:t>
            </a:r>
            <a:r>
              <a:rPr lang="en-GB" b="1" dirty="0"/>
              <a:t>1D convolutional filters</a:t>
            </a:r>
            <a:r>
              <a:rPr lang="en-GB" dirty="0"/>
              <a:t>. Instead of sliding across a 2D grid, these filters slide along the single dimension of the word sequence (i.e., along the sentence length). </a:t>
            </a:r>
          </a:p>
          <a:p>
            <a:pPr lvl="1"/>
            <a:r>
              <a:rPr lang="en-GB" b="1" dirty="0"/>
              <a:t>Shape of a 1D Filter:</a:t>
            </a:r>
            <a:r>
              <a:rPr lang="en-GB" dirty="0"/>
              <a:t> A 1D filter for text would have a "width" (or kernel size) that determines how many consecutive words it looks at. For example, a filter of size 3 would look at three consecutive word </a:t>
            </a:r>
            <a:r>
              <a:rPr lang="en-GB" dirty="0" err="1"/>
              <a:t>embeddings</a:t>
            </a:r>
            <a:r>
              <a:rPr lang="en-GB" dirty="0"/>
              <a:t> at a time. The "depth" of the filter would match the dimensionality of the word </a:t>
            </a:r>
            <a:r>
              <a:rPr lang="en-GB" dirty="0" err="1"/>
              <a:t>embeddings</a:t>
            </a:r>
            <a:r>
              <a:rPr lang="en-GB" dirty="0"/>
              <a:t>.</a:t>
            </a:r>
          </a:p>
          <a:p>
            <a:pPr lvl="1"/>
            <a:r>
              <a:rPr lang="en-GB" b="1" dirty="0"/>
              <a:t>Detecting N-grams/Phrases:</a:t>
            </a:r>
            <a:r>
              <a:rPr lang="en-GB" dirty="0"/>
              <a:t> As the 1D filter slides over the word </a:t>
            </a:r>
            <a:r>
              <a:rPr lang="en-GB" dirty="0" err="1"/>
              <a:t>embeddings</a:t>
            </a:r>
            <a:r>
              <a:rPr lang="en-GB" dirty="0"/>
              <a:t>, it's essentially looking for patterns in sequences of words. </a:t>
            </a:r>
          </a:p>
          <a:p>
            <a:pPr lvl="2"/>
            <a:r>
              <a:rPr lang="en-GB" dirty="0"/>
              <a:t>A small filter (e.g., size 2 or 3) might learn to detect common bigrams or trigrams (e.g., "very good," "not bad," "financial crisis").</a:t>
            </a:r>
          </a:p>
          <a:p>
            <a:pPr lvl="2"/>
            <a:r>
              <a:rPr lang="en-GB" dirty="0"/>
              <a:t>Larger filters might capture patterns across longer phrases.</a:t>
            </a:r>
          </a:p>
          <a:p>
            <a:pPr lvl="1"/>
            <a:r>
              <a:rPr lang="en-GB" b="1" dirty="0"/>
              <a:t>Feature Maps:</a:t>
            </a:r>
            <a:r>
              <a:rPr lang="en-GB" dirty="0"/>
              <a:t> Each time a filter slides over a "window" of words, it computes a single value, indicating the presence or strength of the pattern it's designed to detect. As it slides along the entire sentence, it creates a "feature map," which is a sequence of these detected patterns.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For </a:t>
            </a:r>
            <a:r>
              <a:rPr lang="en-GB" b="0" dirty="0" err="1"/>
              <a:t>rnn</a:t>
            </a:r>
            <a:r>
              <a:rPr lang="en-GB" b="0" dirty="0"/>
              <a:t> I think its obvious</a:t>
            </a:r>
          </a:p>
        </p:txBody>
      </p:sp>
      <p:sp>
        <p:nvSpPr>
          <p:cNvPr id="4" name="Slide Number Placeholder 3"/>
          <p:cNvSpPr>
            <a:spLocks noGrp="1"/>
          </p:cNvSpPr>
          <p:nvPr>
            <p:ph type="sldNum" sz="quarter" idx="10"/>
          </p:nvPr>
        </p:nvSpPr>
        <p:spPr/>
        <p:txBody>
          <a:bodyPr/>
          <a:lstStyle/>
          <a:p>
            <a:fld id="{5849E72C-E518-4000-BC7C-050B8F37BBD2}" type="slidenum">
              <a:rPr lang="fr-FR" smtClean="0"/>
              <a:t>9</a:t>
            </a:fld>
            <a:endParaRPr lang="fr-FR"/>
          </a:p>
        </p:txBody>
      </p:sp>
    </p:spTree>
    <p:extLst>
      <p:ext uri="{BB962C8B-B14F-4D97-AF65-F5344CB8AC3E}">
        <p14:creationId xmlns:p14="http://schemas.microsoft.com/office/powerpoint/2010/main" val="2360352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To overcome these, we propose a Transformer model. Originally proven in Natural Language Processing and demonstrated state-of-the-art performance in various AI systems, including large language models like </a:t>
            </a:r>
            <a:r>
              <a:rPr lang="en-GB" dirty="0" err="1"/>
              <a:t>ChatGPT</a:t>
            </a:r>
            <a:r>
              <a:rPr lang="en-GB"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Transformers use a self-attention mechanism That allows the model to examine all parts of the input sequence simultaneously and determine which elements are most relevant to each other. This is ideal for EMG signals with complex temporal patterns.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also, their parallel processing capability speeds up computation, making them suitable for real-time use.</a:t>
            </a:r>
          </a:p>
          <a:p>
            <a:endParaRPr lang="en-GB" b="0" dirty="0"/>
          </a:p>
        </p:txBody>
      </p:sp>
      <p:sp>
        <p:nvSpPr>
          <p:cNvPr id="4" name="Slide Number Placeholder 3"/>
          <p:cNvSpPr>
            <a:spLocks noGrp="1"/>
          </p:cNvSpPr>
          <p:nvPr>
            <p:ph type="sldNum" sz="quarter" idx="10"/>
          </p:nvPr>
        </p:nvSpPr>
        <p:spPr/>
        <p:txBody>
          <a:bodyPr/>
          <a:lstStyle/>
          <a:p>
            <a:fld id="{5849E72C-E518-4000-BC7C-050B8F37BBD2}" type="slidenum">
              <a:rPr lang="fr-FR" smtClean="0"/>
              <a:t>10</a:t>
            </a:fld>
            <a:endParaRPr lang="fr-FR"/>
          </a:p>
        </p:txBody>
      </p:sp>
    </p:spTree>
    <p:extLst>
      <p:ext uri="{BB962C8B-B14F-4D97-AF65-F5344CB8AC3E}">
        <p14:creationId xmlns:p14="http://schemas.microsoft.com/office/powerpoint/2010/main" val="2070970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Shape 3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74" name="Shape 37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894569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Shape 21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9" name="Shape 21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GB" dirty="0"/>
              <a:t>Now, let’s discuss our Methodology, detailing how we implemented this approach.</a:t>
            </a:r>
            <a:endParaRPr dirty="0"/>
          </a:p>
        </p:txBody>
      </p:sp>
    </p:spTree>
    <p:extLst>
      <p:ext uri="{BB962C8B-B14F-4D97-AF65-F5344CB8AC3E}">
        <p14:creationId xmlns:p14="http://schemas.microsoft.com/office/powerpoint/2010/main" val="2389167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Our methodology follows a structured pipeline. It begins with data </a:t>
            </a:r>
            <a:r>
              <a:rPr lang="en-GB" dirty="0" err="1"/>
              <a:t>preprocessing</a:t>
            </a:r>
            <a:r>
              <a:rPr lang="en-GB" dirty="0"/>
              <a:t>, where we clean and enhance the raw EMG signals. These processed signals are then passed into our proposed Transformer model, which predicts hand gestures. Now that we’ve seen the overview, let’s look at the dataset that feeds into this pipeline.</a:t>
            </a:r>
          </a:p>
          <a:p>
            <a:endParaRPr lang="en-GB" dirty="0"/>
          </a:p>
        </p:txBody>
      </p:sp>
      <p:sp>
        <p:nvSpPr>
          <p:cNvPr id="4" name="Slide Number Placeholder 3"/>
          <p:cNvSpPr>
            <a:spLocks noGrp="1"/>
          </p:cNvSpPr>
          <p:nvPr>
            <p:ph type="sldNum" sz="quarter" idx="10"/>
          </p:nvPr>
        </p:nvSpPr>
        <p:spPr/>
        <p:txBody>
          <a:bodyPr/>
          <a:lstStyle/>
          <a:p>
            <a:fld id="{5849E72C-E518-4000-BC7C-050B8F37BBD2}" type="slidenum">
              <a:rPr lang="fr-FR" smtClean="0"/>
              <a:t>13</a:t>
            </a:fld>
            <a:endParaRPr lang="fr-FR"/>
          </a:p>
        </p:txBody>
      </p:sp>
    </p:spTree>
    <p:extLst>
      <p:ext uri="{BB962C8B-B14F-4D97-AF65-F5344CB8AC3E}">
        <p14:creationId xmlns:p14="http://schemas.microsoft.com/office/powerpoint/2010/main" val="29256761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used the </a:t>
            </a:r>
            <a:r>
              <a:rPr lang="en-GB" dirty="0" err="1"/>
              <a:t>NinaPro</a:t>
            </a:r>
            <a:r>
              <a:rPr lang="en-GB" dirty="0"/>
              <a:t> DB2 dataset, the largest public EMG dataset for hand gestures. It includes data from 40 subjects performing 15 basic finger and wrist movements, which our model aims to predict. Each gesture lasts 5 seconds with 3 seconds of rest, repeated 6 times, captured via 12 EMG channels at a 2 kHz sampling rate. This rich dataset gives us a robust foundation for testing</a:t>
            </a:r>
          </a:p>
        </p:txBody>
      </p:sp>
      <p:sp>
        <p:nvSpPr>
          <p:cNvPr id="4" name="Slide Number Placeholder 3"/>
          <p:cNvSpPr>
            <a:spLocks noGrp="1"/>
          </p:cNvSpPr>
          <p:nvPr>
            <p:ph type="sldNum" sz="quarter" idx="10"/>
          </p:nvPr>
        </p:nvSpPr>
        <p:spPr/>
        <p:txBody>
          <a:bodyPr/>
          <a:lstStyle/>
          <a:p>
            <a:fld id="{5849E72C-E518-4000-BC7C-050B8F37BBD2}" type="slidenum">
              <a:rPr lang="fr-FR" smtClean="0"/>
              <a:t>14</a:t>
            </a:fld>
            <a:endParaRPr lang="fr-FR"/>
          </a:p>
        </p:txBody>
      </p:sp>
    </p:spTree>
    <p:extLst>
      <p:ext uri="{BB962C8B-B14F-4D97-AF65-F5344CB8AC3E}">
        <p14:creationId xmlns:p14="http://schemas.microsoft.com/office/powerpoint/2010/main" val="27195749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849E72C-E518-4000-BC7C-050B8F37BBD2}" type="slidenum">
              <a:rPr lang="fr-FR" smtClean="0"/>
              <a:t>15</a:t>
            </a:fld>
            <a:endParaRPr lang="fr-FR"/>
          </a:p>
        </p:txBody>
      </p:sp>
    </p:spTree>
    <p:extLst>
      <p:ext uri="{BB962C8B-B14F-4D97-AF65-F5344CB8AC3E}">
        <p14:creationId xmlns:p14="http://schemas.microsoft.com/office/powerpoint/2010/main" val="40087675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Pre-processing is critical for signal quality. We began by splitting the data per subject using repetition IDs: repetitions 1, 2, 4, and 6 for training, and 3 and 5 for testing.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Then, we normalized the EMG amplitudes across all 12 channels using Z-score normalization.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To clean the signal further, We applied a bandpass filter from 20 to 500 Hz with a 4th-order Butterworth filter to remove irrelevant frequencies, followed by a notch filter at 50 Hz with a 10 Hz bandwidth to cut power line interference which can be for example arise</a:t>
            </a:r>
            <a:r>
              <a:rPr lang="en-GB" baseline="0" dirty="0"/>
              <a:t> due to electrode impedance mismatch</a:t>
            </a:r>
            <a:r>
              <a:rPr lang="en-GB"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Finally, we segmented the signals into 150 </a:t>
            </a:r>
            <a:r>
              <a:rPr lang="en-GB" dirty="0" err="1"/>
              <a:t>ms</a:t>
            </a:r>
            <a:r>
              <a:rPr lang="en-GB" dirty="0"/>
              <a:t> windows with a 100 </a:t>
            </a:r>
            <a:r>
              <a:rPr lang="en-GB" dirty="0" err="1"/>
              <a:t>ms</a:t>
            </a:r>
            <a:r>
              <a:rPr lang="en-GB" dirty="0"/>
              <a:t> stride generating overlapping sequences of 50</a:t>
            </a:r>
            <a:r>
              <a:rPr lang="en-GB" baseline="0" dirty="0"/>
              <a:t> </a:t>
            </a:r>
            <a:r>
              <a:rPr lang="en-GB" baseline="0" dirty="0" err="1"/>
              <a:t>ms</a:t>
            </a:r>
            <a:r>
              <a:rPr lang="en-GB" baseline="0" dirty="0"/>
              <a:t> </a:t>
            </a:r>
            <a:r>
              <a:rPr lang="en-GB" dirty="0"/>
              <a:t>for model input.</a:t>
            </a:r>
          </a:p>
          <a:p>
            <a:endParaRPr lang="en-GB" dirty="0"/>
          </a:p>
        </p:txBody>
      </p:sp>
      <p:sp>
        <p:nvSpPr>
          <p:cNvPr id="4" name="Slide Number Placeholder 3"/>
          <p:cNvSpPr>
            <a:spLocks noGrp="1"/>
          </p:cNvSpPr>
          <p:nvPr>
            <p:ph type="sldNum" sz="quarter" idx="10"/>
          </p:nvPr>
        </p:nvSpPr>
        <p:spPr/>
        <p:txBody>
          <a:bodyPr/>
          <a:lstStyle/>
          <a:p>
            <a:fld id="{5849E72C-E518-4000-BC7C-050B8F37BBD2}" type="slidenum">
              <a:rPr lang="fr-FR" smtClean="0"/>
              <a:t>16</a:t>
            </a:fld>
            <a:endParaRPr lang="fr-FR"/>
          </a:p>
        </p:txBody>
      </p:sp>
    </p:spTree>
    <p:extLst>
      <p:ext uri="{BB962C8B-B14F-4D97-AF65-F5344CB8AC3E}">
        <p14:creationId xmlns:p14="http://schemas.microsoft.com/office/powerpoint/2010/main" val="3944451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Now, let's move to the core of our work: our proposed model, Unlike the standard model, we omit the decoder since we</a:t>
            </a:r>
            <a:r>
              <a:rPr lang="en-GB" baseline="0" dirty="0"/>
              <a:t> are trying</a:t>
            </a:r>
            <a:r>
              <a:rPr lang="en-GB" dirty="0"/>
              <a:t> classify</a:t>
            </a:r>
            <a:r>
              <a:rPr lang="en-GB" baseline="0" dirty="0"/>
              <a:t> gesture</a:t>
            </a:r>
            <a:r>
              <a:rPr lang="en-GB" dirty="0"/>
              <a:t>, and not generating sequences. We use what</a:t>
            </a:r>
            <a:r>
              <a:rPr lang="en-GB" baseline="0" dirty="0"/>
              <a:t> we called  a </a:t>
            </a:r>
            <a:r>
              <a:rPr lang="en-GB" dirty="0"/>
              <a:t>Convolutional Feature Extractor where we used convolutional</a:t>
            </a:r>
            <a:r>
              <a:rPr lang="en-GB" baseline="0" dirty="0"/>
              <a:t> layer to</a:t>
            </a:r>
            <a:r>
              <a:rPr lang="en-GB" dirty="0"/>
              <a:t> to capture local patterns.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a:t>
            </a:r>
            <a:r>
              <a:rPr lang="en-GB" baseline="0" dirty="0"/>
              <a:t> also used </a:t>
            </a:r>
            <a:r>
              <a:rPr lang="en-GB" dirty="0"/>
              <a:t>Time2Vec which</a:t>
            </a:r>
            <a:r>
              <a:rPr lang="en-GB" baseline="0" dirty="0"/>
              <a:t> </a:t>
            </a:r>
            <a:r>
              <a:rPr lang="en-GB" dirty="0"/>
              <a:t>is a method for encoding </a:t>
            </a:r>
            <a:r>
              <a:rPr lang="en-GB" b="1" dirty="0"/>
              <a:t>temporal information into a vector representation,</a:t>
            </a:r>
            <a:r>
              <a:rPr lang="en-GB" b="1" baseline="0" dirty="0"/>
              <a:t> which will help us to </a:t>
            </a:r>
            <a:r>
              <a:rPr lang="en-GB" sz="1200" b="0" i="0" kern="1200" dirty="0">
                <a:solidFill>
                  <a:schemeClr val="tx1"/>
                </a:solidFill>
                <a:effectLst/>
                <a:latin typeface="+mn-lt"/>
                <a:ea typeface="+mn-ea"/>
                <a:cs typeface="+mn-cs"/>
              </a:rPr>
              <a:t>preserve temporal context of the </a:t>
            </a:r>
            <a:r>
              <a:rPr lang="en-GB" sz="1200" b="0" i="0" kern="1200" dirty="0" err="1">
                <a:solidFill>
                  <a:schemeClr val="tx1"/>
                </a:solidFill>
                <a:effectLst/>
                <a:latin typeface="+mn-lt"/>
                <a:ea typeface="+mn-ea"/>
                <a:cs typeface="+mn-cs"/>
              </a:rPr>
              <a:t>emg</a:t>
            </a:r>
            <a:r>
              <a:rPr lang="en-GB" sz="1200" b="0" i="0" kern="1200" dirty="0">
                <a:solidFill>
                  <a:schemeClr val="tx1"/>
                </a:solidFill>
                <a:effectLst/>
                <a:latin typeface="+mn-lt"/>
                <a:ea typeface="+mn-ea"/>
                <a:cs typeface="+mn-cs"/>
              </a:rPr>
              <a:t> signal.</a:t>
            </a:r>
            <a:endParaRPr lang="en-GB"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Finally, We also added a classification head to outputs the predicted gestures.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p:cNvSpPr>
            <a:spLocks noGrp="1"/>
          </p:cNvSpPr>
          <p:nvPr>
            <p:ph type="sldNum" sz="quarter" idx="10"/>
          </p:nvPr>
        </p:nvSpPr>
        <p:spPr/>
        <p:txBody>
          <a:bodyPr/>
          <a:lstStyle/>
          <a:p>
            <a:fld id="{5849E72C-E518-4000-BC7C-050B8F37BBD2}" type="slidenum">
              <a:rPr lang="fr-FR" smtClean="0"/>
              <a:t>17</a:t>
            </a:fld>
            <a:endParaRPr lang="fr-FR"/>
          </a:p>
        </p:txBody>
      </p:sp>
    </p:spTree>
    <p:extLst>
      <p:ext uri="{BB962C8B-B14F-4D97-AF65-F5344CB8AC3E}">
        <p14:creationId xmlns:p14="http://schemas.microsoft.com/office/powerpoint/2010/main" val="32914612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Shape 3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74" name="Shape 37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733557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Shape 21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9" name="Shape 21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GB" dirty="0"/>
              <a:t>Now with our model architecture defined and the </a:t>
            </a:r>
            <a:r>
              <a:rPr lang="en-GB" dirty="0" err="1"/>
              <a:t>preprocessing</a:t>
            </a:r>
            <a:r>
              <a:rPr lang="en-GB" dirty="0"/>
              <a:t> pipeline in place, the next step is to test its performance. </a:t>
            </a:r>
          </a:p>
        </p:txBody>
      </p:sp>
    </p:spTree>
    <p:extLst>
      <p:ext uri="{BB962C8B-B14F-4D97-AF65-F5344CB8AC3E}">
        <p14:creationId xmlns:p14="http://schemas.microsoft.com/office/powerpoint/2010/main" val="14113283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But before that lets go through the metrics that</a:t>
            </a:r>
            <a:r>
              <a:rPr lang="en-GB" baseline="0" dirty="0"/>
              <a:t> are used to evaluate our model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Overall accuracy, or ACC, measures the percentage of correct predictions. The confusion matrix visually compares predicted versus actual classes, showing where errors occur. The Matthews Correlation Coefficient, or MCC, ranges from -1 to +1: +1 is perfect, 0 is random, and -1 is total disagreement, offering a balanced quality metric.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aseline="0" dirty="0"/>
          </a:p>
          <a:p>
            <a:r>
              <a:rPr lang="en-GB" baseline="0" dirty="0"/>
              <a:t>In our case, the overall </a:t>
            </a:r>
            <a:r>
              <a:rPr lang="en-GB" b="0" baseline="0" dirty="0"/>
              <a:t>accuracy </a:t>
            </a:r>
            <a:r>
              <a:rPr lang="en-GB" b="0" dirty="0"/>
              <a:t>represents the model’s average accuracy across all subjects.</a:t>
            </a:r>
          </a:p>
          <a:p>
            <a:endParaRPr lang="en-GB" b="1" dirty="0"/>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CA" dirty="0"/>
          </a:p>
        </p:txBody>
      </p:sp>
      <p:sp>
        <p:nvSpPr>
          <p:cNvPr id="4" name="Slide Number Placeholder 3"/>
          <p:cNvSpPr>
            <a:spLocks noGrp="1"/>
          </p:cNvSpPr>
          <p:nvPr>
            <p:ph type="sldNum" sz="quarter" idx="10"/>
          </p:nvPr>
        </p:nvSpPr>
        <p:spPr/>
        <p:txBody>
          <a:bodyPr/>
          <a:lstStyle/>
          <a:p>
            <a:fld id="{5849E72C-E518-4000-BC7C-050B8F37BBD2}" type="slidenum">
              <a:rPr lang="fr-FR" smtClean="0"/>
              <a:t>20</a:t>
            </a:fld>
            <a:endParaRPr lang="fr-FR"/>
          </a:p>
        </p:txBody>
      </p:sp>
    </p:spTree>
    <p:extLst>
      <p:ext uri="{BB962C8B-B14F-4D97-AF65-F5344CB8AC3E}">
        <p14:creationId xmlns:p14="http://schemas.microsoft.com/office/powerpoint/2010/main" val="23316203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Shape 3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74" name="Shape 37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So We’ll start by visually showing how </a:t>
            </a:r>
            <a:r>
              <a:rPr lang="en-GB" dirty="0" err="1"/>
              <a:t>preprocessing</a:t>
            </a:r>
            <a:r>
              <a:rPr lang="en-GB" dirty="0"/>
              <a:t> affects the signal itself to understand how our </a:t>
            </a:r>
            <a:r>
              <a:rPr lang="en-GB" dirty="0" err="1"/>
              <a:t>preprocessing</a:t>
            </a:r>
            <a:r>
              <a:rPr lang="en-GB" dirty="0"/>
              <a:t> pipeline enhances the EMG signals</a:t>
            </a:r>
          </a:p>
          <a:p>
            <a:pPr lvl="0">
              <a:spcBef>
                <a:spcPts val="0"/>
              </a:spcBef>
              <a:buNone/>
            </a:pPr>
            <a:r>
              <a:rPr lang="en-GB" dirty="0"/>
              <a:t>, then we move on to the model’s performance along</a:t>
            </a:r>
            <a:r>
              <a:rPr lang="en-GB" baseline="0" dirty="0"/>
              <a:t> with </a:t>
            </a:r>
            <a:r>
              <a:rPr lang="en-GB" dirty="0"/>
              <a:t>the numerical impact of the </a:t>
            </a:r>
            <a:r>
              <a:rPr lang="en-GB" dirty="0" err="1"/>
              <a:t>preprocessing</a:t>
            </a:r>
            <a:r>
              <a:rPr lang="en-GB" dirty="0"/>
              <a:t> techniques.</a:t>
            </a:r>
          </a:p>
          <a:p>
            <a:pPr lvl="0">
              <a:spcBef>
                <a:spcPts val="0"/>
              </a:spcBef>
              <a:buNone/>
            </a:pPr>
            <a:endParaRPr lang="en-GB" dirty="0"/>
          </a:p>
          <a:p>
            <a:pPr lvl="0">
              <a:spcBef>
                <a:spcPts val="0"/>
              </a:spcBef>
              <a:buNone/>
            </a:pPr>
            <a:r>
              <a:rPr lang="en-GB" dirty="0"/>
              <a:t>(Click to show first figure)</a:t>
            </a:r>
          </a:p>
          <a:p>
            <a:r>
              <a:rPr lang="en-GB" sz="1200" b="0" i="0" u="none" strike="noStrike" kern="1200" baseline="0" dirty="0">
                <a:solidFill>
                  <a:schemeClr val="tx1"/>
                </a:solidFill>
                <a:latin typeface="+mn-lt"/>
                <a:ea typeface="+mn-ea"/>
                <a:cs typeface="+mn-cs"/>
              </a:rPr>
              <a:t>(Point at the figure) this figure demonstrates the time domain representation of EMG signal at different</a:t>
            </a:r>
          </a:p>
          <a:p>
            <a:r>
              <a:rPr lang="en-GB" sz="1200" b="0" i="0" u="none" strike="noStrike" kern="1200" baseline="0" dirty="0">
                <a:solidFill>
                  <a:schemeClr val="tx1"/>
                </a:solidFill>
                <a:latin typeface="+mn-lt"/>
                <a:ea typeface="+mn-ea"/>
                <a:cs typeface="+mn-cs"/>
              </a:rPr>
              <a:t>pre-processing stages. The figure shows only the first 1000 sample from channel 0 of the first subject.</a:t>
            </a:r>
          </a:p>
          <a:p>
            <a:endParaRPr lang="en-GB"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baseline="0" dirty="0">
                <a:solidFill>
                  <a:schemeClr val="tx1"/>
                </a:solidFill>
                <a:latin typeface="+mn-lt"/>
                <a:ea typeface="+mn-ea"/>
                <a:cs typeface="+mn-cs"/>
              </a:rPr>
              <a:t>As we can see, its clear from the amplitude that the normalization scaled the raw data. </a:t>
            </a:r>
            <a:r>
              <a:rPr lang="en-GB" dirty="0"/>
              <a:t>However, the noise remains, showing that normalization adjusts amplitude without reducing noise.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Now In order To clearly see the effect</a:t>
            </a:r>
            <a:r>
              <a:rPr lang="en-GB" baseline="0" dirty="0"/>
              <a:t> of the filters lets switch to the frequency </a:t>
            </a:r>
            <a:r>
              <a:rPr lang="en-GB" baseline="0" dirty="0" err="1"/>
              <a:t>domaine</a:t>
            </a:r>
            <a:r>
              <a:rPr lang="en-GB" baseline="0" dirty="0"/>
              <a:t>, </a:t>
            </a:r>
            <a:r>
              <a:rPr lang="en-GB" dirty="0"/>
              <a:t>Here, we have the </a:t>
            </a:r>
            <a:r>
              <a:rPr lang="en-GB" b="1" dirty="0"/>
              <a:t>frequency spectrum</a:t>
            </a:r>
            <a:r>
              <a:rPr lang="en-GB" dirty="0"/>
              <a:t> of the same signal.</a:t>
            </a:r>
          </a:p>
          <a:p>
            <a:r>
              <a:rPr lang="en-GB" baseline="0" dirty="0"/>
              <a:t>As we can see </a:t>
            </a:r>
            <a:r>
              <a:rPr lang="en-GB" sz="1200" b="0" i="0" u="none" strike="noStrike" kern="1200" baseline="0" dirty="0">
                <a:solidFill>
                  <a:schemeClr val="tx1"/>
                </a:solidFill>
                <a:latin typeface="+mn-lt"/>
                <a:ea typeface="+mn-ea"/>
                <a:cs typeface="+mn-cs"/>
              </a:rPr>
              <a:t>The filter has successfully reduced frequencies outside the bandwidth  ( point at the range 20hz and 400hz).</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The notch filter created a clear reduction in the signal power at precisely 50 Hz. </a:t>
            </a:r>
          </a:p>
          <a:p>
            <a:r>
              <a:rPr lang="en-GB" sz="1200" b="0" i="0" u="none" strike="noStrike" kern="1200" baseline="0" dirty="0">
                <a:solidFill>
                  <a:schemeClr val="tx1"/>
                </a:solidFill>
                <a:latin typeface="+mn-lt"/>
                <a:ea typeface="+mn-ea"/>
                <a:cs typeface="+mn-cs"/>
              </a:rPr>
              <a:t>( click to show next fig close up 50hz) </a:t>
            </a:r>
          </a:p>
          <a:p>
            <a:r>
              <a:rPr lang="en-GB" sz="1200" b="0" i="0" u="none" strike="noStrike" kern="1200" baseline="0" dirty="0">
                <a:solidFill>
                  <a:schemeClr val="tx1"/>
                </a:solidFill>
                <a:latin typeface="+mn-lt"/>
                <a:ea typeface="+mn-ea"/>
                <a:cs typeface="+mn-cs"/>
              </a:rPr>
              <a:t>This reduction is clearly showed here in this graph as we can see.</a:t>
            </a:r>
            <a:endParaRPr lang="en-GB" baseline="0" dirty="0"/>
          </a:p>
          <a:p>
            <a:endParaRPr lang="en-GB" sz="1200" b="0" i="0" u="none" strike="noStrike" kern="1200" baseline="0" dirty="0">
              <a:solidFill>
                <a:schemeClr val="tx1"/>
              </a:solidFill>
              <a:latin typeface="+mn-lt"/>
              <a:ea typeface="+mn-ea"/>
              <a:cs typeface="+mn-cs"/>
            </a:endParaRP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Now that we’ve seen how </a:t>
            </a:r>
            <a:r>
              <a:rPr lang="en-GB" sz="1200" b="0" i="0" u="none" strike="noStrike" kern="1200" baseline="0" dirty="0" err="1">
                <a:solidFill>
                  <a:schemeClr val="tx1"/>
                </a:solidFill>
                <a:latin typeface="+mn-lt"/>
                <a:ea typeface="+mn-ea"/>
                <a:cs typeface="+mn-cs"/>
              </a:rPr>
              <a:t>preprocessing</a:t>
            </a:r>
            <a:r>
              <a:rPr lang="en-GB" sz="1200" b="0" i="0" u="none" strike="noStrike" kern="1200" baseline="0" dirty="0">
                <a:solidFill>
                  <a:schemeClr val="tx1"/>
                </a:solidFill>
                <a:latin typeface="+mn-lt"/>
                <a:ea typeface="+mn-ea"/>
                <a:cs typeface="+mn-cs"/>
              </a:rPr>
              <a:t> affects the signal visually, let’s move on to how it influences model performance. So we will compare the model final performance on the </a:t>
            </a:r>
            <a:r>
              <a:rPr lang="en-GB" sz="1200" b="0" i="0" u="none" strike="noStrike" kern="1200" baseline="0" dirty="0" err="1">
                <a:solidFill>
                  <a:schemeClr val="tx1"/>
                </a:solidFill>
                <a:latin typeface="+mn-lt"/>
                <a:ea typeface="+mn-ea"/>
                <a:cs typeface="+mn-cs"/>
              </a:rPr>
              <a:t>preprocessed</a:t>
            </a:r>
            <a:r>
              <a:rPr lang="en-GB" sz="1200" b="0" i="0" u="none" strike="noStrike" kern="1200" baseline="0" dirty="0">
                <a:solidFill>
                  <a:schemeClr val="tx1"/>
                </a:solidFill>
                <a:latin typeface="+mn-lt"/>
                <a:ea typeface="+mn-ea"/>
                <a:cs typeface="+mn-cs"/>
              </a:rPr>
              <a:t> data against the model performance on the raw data.</a:t>
            </a:r>
          </a:p>
          <a:p>
            <a:pPr lvl="0">
              <a:spcBef>
                <a:spcPts val="0"/>
              </a:spcBef>
              <a:buNone/>
            </a:pPr>
            <a:endParaRPr lang="en-GB" dirty="0"/>
          </a:p>
          <a:p>
            <a:pPr lvl="0">
              <a:spcBef>
                <a:spcPts val="0"/>
              </a:spcBef>
              <a:buNone/>
            </a:pPr>
            <a:endParaRPr lang="en-GB" dirty="0"/>
          </a:p>
          <a:p>
            <a:pPr lvl="0">
              <a:spcBef>
                <a:spcPts val="0"/>
              </a:spcBef>
              <a:buNone/>
            </a:pPr>
            <a:endParaRPr lang="en-GB" dirty="0"/>
          </a:p>
          <a:p>
            <a:pPr lvl="0">
              <a:spcBef>
                <a:spcPts val="0"/>
              </a:spcBef>
              <a:buNone/>
            </a:pPr>
            <a:endParaRPr lang="en-GB" dirty="0"/>
          </a:p>
          <a:p>
            <a:pPr lvl="0">
              <a:spcBef>
                <a:spcPts val="0"/>
              </a:spcBef>
              <a:buNone/>
            </a:pPr>
            <a:endParaRPr dirty="0"/>
          </a:p>
        </p:txBody>
      </p:sp>
    </p:spTree>
    <p:extLst>
      <p:ext uri="{BB962C8B-B14F-4D97-AF65-F5344CB8AC3E}">
        <p14:creationId xmlns:p14="http://schemas.microsoft.com/office/powerpoint/2010/main" val="92722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On raw data, the model achieved just 12.26% test accuracy, this poor performance is</a:t>
            </a:r>
            <a:r>
              <a:rPr lang="en-GB" baseline="0" dirty="0"/>
              <a:t> </a:t>
            </a:r>
            <a:r>
              <a:rPr lang="en-GB" dirty="0"/>
              <a:t>probably due to noise and </a:t>
            </a:r>
            <a:r>
              <a:rPr lang="en-GB" dirty="0" err="1"/>
              <a:t>artifacts</a:t>
            </a:r>
            <a:r>
              <a:rPr lang="en-GB" dirty="0"/>
              <a:t>. We</a:t>
            </a:r>
            <a:r>
              <a:rPr lang="en-GB" baseline="0" dirty="0"/>
              <a:t> can also see that the train data is also low and almost identical to the test one, meaning that the model didn’t probably even learn on the raw data. The MCC also is almost 0 showing that the model predictions were random.</a:t>
            </a:r>
          </a:p>
          <a:p>
            <a:endParaRPr lang="en-GB" baseline="0" dirty="0"/>
          </a:p>
          <a:p>
            <a:r>
              <a:rPr lang="en-GB" baseline="0" dirty="0"/>
              <a:t>in contrast, after applying the </a:t>
            </a:r>
            <a:r>
              <a:rPr lang="en-GB" baseline="0" dirty="0" err="1"/>
              <a:t>preprocessing</a:t>
            </a:r>
            <a:r>
              <a:rPr lang="en-GB" baseline="0" dirty="0"/>
              <a:t> techniques, the </a:t>
            </a:r>
            <a:r>
              <a:rPr lang="en-GB" baseline="0" dirty="0" err="1"/>
              <a:t>avg</a:t>
            </a:r>
            <a:r>
              <a:rPr lang="en-GB" baseline="0" dirty="0"/>
              <a:t> train accuracy</a:t>
            </a:r>
            <a:r>
              <a:rPr lang="en-GB" dirty="0"/>
              <a:t> jumped to 82.98%, a 70.72% improvement, as shown in the table. </a:t>
            </a:r>
            <a:r>
              <a:rPr lang="en-GB" baseline="0" dirty="0"/>
              <a:t> </a:t>
            </a:r>
          </a:p>
          <a:p>
            <a:r>
              <a:rPr lang="en-GB" baseline="0" dirty="0"/>
              <a:t>The train accuracy also improved with 82.83%, and the MCC </a:t>
            </a:r>
            <a:r>
              <a:rPr lang="en-GB" baseline="0" dirty="0" err="1"/>
              <a:t>teached</a:t>
            </a:r>
            <a:r>
              <a:rPr lang="en-GB" baseline="0" dirty="0"/>
              <a:t> 0.88, near 1, proving that the model performance is reliable.</a:t>
            </a:r>
          </a:p>
          <a:p>
            <a:endParaRPr lang="en-GB" baseline="0" dirty="0"/>
          </a:p>
          <a:p>
            <a:endParaRPr lang="en-GB" baseline="0" dirty="0"/>
          </a:p>
          <a:p>
            <a:endParaRPr lang="en-GB" baseline="0" dirty="0"/>
          </a:p>
          <a:p>
            <a:r>
              <a:rPr lang="en-GB" baseline="0" dirty="0"/>
              <a:t>This results shows the crucial role of the pre-processing pipeline for </a:t>
            </a:r>
            <a:r>
              <a:rPr lang="en-GB" baseline="0" dirty="0" err="1"/>
              <a:t>ehnahncing</a:t>
            </a:r>
            <a:r>
              <a:rPr lang="en-GB" baseline="0" dirty="0"/>
              <a:t> the signal quality and improving model performance. Now lets take a look to how we did </a:t>
            </a:r>
            <a:r>
              <a:rPr lang="en-GB" baseline="0" dirty="0" err="1"/>
              <a:t>optimaze</a:t>
            </a:r>
            <a:r>
              <a:rPr lang="en-GB" baseline="0" dirty="0"/>
              <a:t> the model to reach our final model performance </a:t>
            </a:r>
          </a:p>
          <a:p>
            <a:endParaRPr lang="en-GB" baseline="0" dirty="0"/>
          </a:p>
          <a:p>
            <a:r>
              <a:rPr lang="en-GB" baseline="0" dirty="0"/>
              <a:t> </a:t>
            </a:r>
            <a:endParaRPr lang="en-GB" dirty="0"/>
          </a:p>
        </p:txBody>
      </p:sp>
      <p:sp>
        <p:nvSpPr>
          <p:cNvPr id="4" name="Slide Number Placeholder 3"/>
          <p:cNvSpPr>
            <a:spLocks noGrp="1"/>
          </p:cNvSpPr>
          <p:nvPr>
            <p:ph type="sldNum" sz="quarter" idx="10"/>
          </p:nvPr>
        </p:nvSpPr>
        <p:spPr/>
        <p:txBody>
          <a:bodyPr/>
          <a:lstStyle/>
          <a:p>
            <a:fld id="{5849E72C-E518-4000-BC7C-050B8F37BBD2}" type="slidenum">
              <a:rPr lang="fr-FR" smtClean="0"/>
              <a:t>22</a:t>
            </a:fld>
            <a:endParaRPr lang="fr-FR"/>
          </a:p>
        </p:txBody>
      </p:sp>
    </p:spTree>
    <p:extLst>
      <p:ext uri="{BB962C8B-B14F-4D97-AF65-F5344CB8AC3E}">
        <p14:creationId xmlns:p14="http://schemas.microsoft.com/office/powerpoint/2010/main" val="41589843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a:t>
            </a:r>
            <a:r>
              <a:rPr lang="en-GB" baseline="0" dirty="0"/>
              <a:t> graphs shows test accuracy improvements.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aseline="0" dirty="0"/>
              <a:t> starting from the initial setup, </a:t>
            </a:r>
            <a:r>
              <a:rPr lang="en-GB" dirty="0"/>
              <a:t>we adjusted epochs, learning rate</a:t>
            </a:r>
            <a:r>
              <a:rPr lang="en-GB" baseline="0" dirty="0"/>
              <a:t> and</a:t>
            </a:r>
            <a:r>
              <a:rPr lang="en-GB" dirty="0"/>
              <a:t> batch size, attention heads</a:t>
            </a:r>
            <a:r>
              <a:rPr lang="en-GB" baseline="0" dirty="0"/>
              <a:t> and the size of each head, the </a:t>
            </a:r>
            <a:r>
              <a:rPr lang="en-GB" baseline="0" dirty="0" err="1"/>
              <a:t>mlp</a:t>
            </a:r>
            <a:r>
              <a:rPr lang="en-GB" baseline="0" dirty="0"/>
              <a:t> and the feed forward dimension and finally the dropout.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aseline="0" dirty="0"/>
              <a:t>We can see that at each step the accuracy has improved, </a:t>
            </a:r>
            <a:r>
              <a:rPr lang="en-GB" dirty="0"/>
              <a:t>showing the importance of optimization.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 move</a:t>
            </a:r>
            <a:r>
              <a:rPr lang="en-GB" baseline="0" dirty="0"/>
              <a:t> now to </a:t>
            </a:r>
            <a:r>
              <a:rPr lang="en-GB" dirty="0"/>
              <a:t>evaluate the model  performance in more detail in order to .</a:t>
            </a:r>
          </a:p>
          <a:p>
            <a:endParaRPr lang="en-GB" dirty="0"/>
          </a:p>
        </p:txBody>
      </p:sp>
      <p:sp>
        <p:nvSpPr>
          <p:cNvPr id="4" name="Slide Number Placeholder 3"/>
          <p:cNvSpPr>
            <a:spLocks noGrp="1"/>
          </p:cNvSpPr>
          <p:nvPr>
            <p:ph type="sldNum" sz="quarter" idx="10"/>
          </p:nvPr>
        </p:nvSpPr>
        <p:spPr/>
        <p:txBody>
          <a:bodyPr/>
          <a:lstStyle/>
          <a:p>
            <a:fld id="{5849E72C-E518-4000-BC7C-050B8F37BBD2}" type="slidenum">
              <a:rPr lang="fr-FR" smtClean="0"/>
              <a:t>23</a:t>
            </a:fld>
            <a:endParaRPr lang="fr-FR"/>
          </a:p>
        </p:txBody>
      </p:sp>
    </p:spTree>
    <p:extLst>
      <p:ext uri="{BB962C8B-B14F-4D97-AF65-F5344CB8AC3E}">
        <p14:creationId xmlns:p14="http://schemas.microsoft.com/office/powerpoint/2010/main" val="26228996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Shape 3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74" name="Shape 37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GB" dirty="0"/>
              <a:t>Here, we have the confusion matrix, which gives us a deeper look at how well the model distinguishes between different gesture classes.</a:t>
            </a:r>
          </a:p>
          <a:p>
            <a:pPr lvl="0">
              <a:spcBef>
                <a:spcPts val="0"/>
              </a:spcBef>
              <a:buNone/>
            </a:pPr>
            <a:endParaRPr lang="en-GB" dirty="0"/>
          </a:p>
          <a:p>
            <a:pPr lvl="0">
              <a:spcBef>
                <a:spcPts val="0"/>
              </a:spcBef>
              <a:buNone/>
            </a:pPr>
            <a:r>
              <a:rPr lang="en-GB" dirty="0"/>
              <a:t>The matrix highlights strong recognition for certain gestures, with gesture 8 achieving a recall of 0.93 and gesture 12 reaching 0.89.</a:t>
            </a:r>
          </a:p>
          <a:p>
            <a:pPr lvl="0">
              <a:spcBef>
                <a:spcPts val="0"/>
              </a:spcBef>
              <a:buNone/>
            </a:pPr>
            <a:r>
              <a:rPr lang="en-GB" dirty="0"/>
              <a:t>However, we can also see some challenges with other gestures </a:t>
            </a:r>
            <a:r>
              <a:rPr lang="en-US" dirty="0">
                <a:effectLst/>
              </a:rPr>
              <a:t>, such gesture 9 at 0.74 recall and gesture 13 at 0.75.</a:t>
            </a:r>
          </a:p>
          <a:p>
            <a:pPr lvl="0">
              <a:spcBef>
                <a:spcPts val="0"/>
              </a:spcBef>
              <a:buNone/>
            </a:pPr>
            <a:endParaRPr lang="en-US" dirty="0">
              <a:effectLst/>
            </a:endParaRPr>
          </a:p>
          <a:p>
            <a:pPr lvl="0">
              <a:spcBef>
                <a:spcPts val="0"/>
              </a:spcBef>
              <a:buNone/>
            </a:pPr>
            <a:endParaRPr lang="en-GB" dirty="0"/>
          </a:p>
          <a:p>
            <a:pPr lvl="0">
              <a:spcBef>
                <a:spcPts val="0"/>
              </a:spcBef>
              <a:buNone/>
            </a:pPr>
            <a:r>
              <a:rPr lang="en-GB" dirty="0"/>
              <a:t>We can also</a:t>
            </a:r>
            <a:r>
              <a:rPr lang="en-GB" baseline="0" dirty="0"/>
              <a:t> see that some classes are sometimes </a:t>
            </a:r>
            <a:r>
              <a:rPr lang="en-GB" baseline="0" dirty="0" err="1"/>
              <a:t>misclassifie</a:t>
            </a:r>
            <a:r>
              <a:rPr lang="en-GB" baseline="0" dirty="0"/>
              <a:t>.</a:t>
            </a:r>
          </a:p>
          <a:p>
            <a:pPr lvl="0">
              <a:spcBef>
                <a:spcPts val="0"/>
              </a:spcBef>
              <a:buNone/>
            </a:pPr>
            <a:r>
              <a:rPr lang="en-GB" baseline="0" dirty="0"/>
              <a:t>( point at the matrix and show the misclassification)</a:t>
            </a:r>
          </a:p>
          <a:p>
            <a:pPr lvl="0">
              <a:spcBef>
                <a:spcPts val="0"/>
              </a:spcBef>
              <a:buNone/>
            </a:pPr>
            <a:endParaRPr lang="en-GB" baseline="0" dirty="0"/>
          </a:p>
          <a:p>
            <a:pPr lvl="0">
              <a:spcBef>
                <a:spcPts val="0"/>
              </a:spcBef>
              <a:buNone/>
            </a:pPr>
            <a:r>
              <a:rPr lang="en-GB" dirty="0"/>
              <a:t>So overall, the confusion matrix shows that while the model performs very well on many gestures, there are still some misclassifications that are possibly due to </a:t>
            </a:r>
            <a:r>
              <a:rPr lang="en-GB" dirty="0" err="1"/>
              <a:t>similartiesi</a:t>
            </a:r>
            <a:r>
              <a:rPr lang="en-GB" dirty="0"/>
              <a:t> in signals or due to noise.</a:t>
            </a:r>
          </a:p>
          <a:p>
            <a:pPr lvl="0">
              <a:spcBef>
                <a:spcPts val="0"/>
              </a:spcBef>
              <a:buNone/>
            </a:pPr>
            <a:endParaRPr lang="en-GB" dirty="0"/>
          </a:p>
          <a:p>
            <a:pPr lvl="0">
              <a:spcBef>
                <a:spcPts val="0"/>
              </a:spcBef>
              <a:buNone/>
            </a:pPr>
            <a:endParaRPr lang="en-GB" dirty="0"/>
          </a:p>
          <a:p>
            <a:pPr lvl="0">
              <a:spcBef>
                <a:spcPts val="0"/>
              </a:spcBef>
              <a:buNone/>
            </a:pPr>
            <a:r>
              <a:rPr lang="en-GB" dirty="0" err="1"/>
              <a:t>Tu</a:t>
            </a:r>
            <a:r>
              <a:rPr lang="en-GB" dirty="0"/>
              <a:t> further examine the model performance,</a:t>
            </a:r>
            <a:r>
              <a:rPr lang="en-GB" baseline="0" dirty="0"/>
              <a:t> </a:t>
            </a:r>
            <a:r>
              <a:rPr lang="en-GB" baseline="0" dirty="0" err="1"/>
              <a:t>escpecially</a:t>
            </a:r>
            <a:r>
              <a:rPr lang="en-GB" baseline="0" dirty="0"/>
              <a:t> across subjects </a:t>
            </a:r>
          </a:p>
          <a:p>
            <a:pPr lvl="0">
              <a:spcBef>
                <a:spcPts val="0"/>
              </a:spcBef>
              <a:buNone/>
            </a:pPr>
            <a:endParaRPr lang="en-GB" baseline="0" dirty="0"/>
          </a:p>
          <a:p>
            <a:pPr lvl="0">
              <a:spcBef>
                <a:spcPts val="0"/>
              </a:spcBef>
              <a:buNone/>
            </a:pPr>
            <a:endParaRPr lang="en-GB" baseline="0" dirty="0"/>
          </a:p>
          <a:p>
            <a:pPr lvl="0">
              <a:spcBef>
                <a:spcPts val="0"/>
              </a:spcBef>
              <a:buNone/>
            </a:pPr>
            <a:r>
              <a:rPr lang="en-GB" baseline="0" dirty="0"/>
              <a:t>Go next slide</a:t>
            </a:r>
            <a:endParaRPr dirty="0"/>
          </a:p>
        </p:txBody>
      </p:sp>
    </p:spTree>
    <p:extLst>
      <p:ext uri="{BB962C8B-B14F-4D97-AF65-F5344CB8AC3E}">
        <p14:creationId xmlns:p14="http://schemas.microsoft.com/office/powerpoint/2010/main" val="8316764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Shape 3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74" name="Shape 37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GB" dirty="0"/>
              <a:t>Lets</a:t>
            </a:r>
            <a:r>
              <a:rPr lang="en-GB" baseline="0" dirty="0"/>
              <a:t> look at this plot that show each </a:t>
            </a:r>
            <a:r>
              <a:rPr lang="en-GB" dirty="0"/>
              <a:t>subject test versus</a:t>
            </a:r>
            <a:r>
              <a:rPr lang="en-GB" baseline="0" dirty="0"/>
              <a:t> train </a:t>
            </a:r>
            <a:r>
              <a:rPr lang="en-GB" dirty="0"/>
              <a:t>accuracy, along</a:t>
            </a:r>
            <a:r>
              <a:rPr lang="en-GB" baseline="0" dirty="0"/>
              <a:t> with the MCC.</a:t>
            </a:r>
          </a:p>
          <a:p>
            <a:pPr lvl="0">
              <a:spcBef>
                <a:spcPts val="0"/>
              </a:spcBef>
              <a:buNone/>
            </a:pPr>
            <a:endParaRPr lang="en-GB" baseline="0" dirty="0"/>
          </a:p>
          <a:p>
            <a:pPr lvl="0">
              <a:spcBef>
                <a:spcPts val="0"/>
              </a:spcBef>
              <a:buNone/>
            </a:pPr>
            <a:endParaRPr lang="en-GB" baseline="0" dirty="0"/>
          </a:p>
          <a:p>
            <a:pPr lvl="0">
              <a:spcBef>
                <a:spcPts val="0"/>
              </a:spcBef>
              <a:buNone/>
            </a:pPr>
            <a:r>
              <a:rPr lang="en-GB" baseline="0" dirty="0"/>
              <a:t>We can see that most subjects test accuracies are 80% and 95%, and between </a:t>
            </a:r>
          </a:p>
        </p:txBody>
      </p:sp>
    </p:spTree>
    <p:extLst>
      <p:ext uri="{BB962C8B-B14F-4D97-AF65-F5344CB8AC3E}">
        <p14:creationId xmlns:p14="http://schemas.microsoft.com/office/powerpoint/2010/main" val="27414973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we’re now going to look at computational efficiency</a:t>
            </a:r>
            <a:r>
              <a:rPr lang="en-US" baseline="0" dirty="0" smtClean="0">
                <a:effectLst/>
              </a:rPr>
              <a:t> which is</a:t>
            </a:r>
            <a:r>
              <a:rPr lang="en-US" dirty="0" smtClean="0">
                <a:effectLst/>
              </a:rPr>
              <a:t> important for real-time EMG gesture recognition. We’ll do this by measuring the average training and testing time per window for all 40 subjects in our dataset. For each subject, we’ll divide their total training and testing time by the number of windows in their sets to get per-window times. Then, we’ll average those times across all subjects.</a:t>
            </a:r>
            <a:endParaRPr lang="en-US" dirty="0" smtClean="0"/>
          </a:p>
          <a:p>
            <a:r>
              <a:rPr lang="en-US" dirty="0" smtClean="0"/>
              <a:t> </a:t>
            </a:r>
            <a:endParaRPr lang="en-US" dirty="0"/>
          </a:p>
        </p:txBody>
      </p:sp>
      <p:sp>
        <p:nvSpPr>
          <p:cNvPr id="4" name="Slide Number Placeholder 3"/>
          <p:cNvSpPr>
            <a:spLocks noGrp="1"/>
          </p:cNvSpPr>
          <p:nvPr>
            <p:ph type="sldNum" sz="quarter" idx="10"/>
          </p:nvPr>
        </p:nvSpPr>
        <p:spPr/>
        <p:txBody>
          <a:bodyPr/>
          <a:lstStyle/>
          <a:p>
            <a:fld id="{5849E72C-E518-4000-BC7C-050B8F37BBD2}" type="slidenum">
              <a:rPr lang="fr-FR" smtClean="0"/>
              <a:t>26</a:t>
            </a:fld>
            <a:endParaRPr lang="fr-FR"/>
          </a:p>
        </p:txBody>
      </p:sp>
    </p:spTree>
    <p:extLst>
      <p:ext uri="{BB962C8B-B14F-4D97-AF65-F5344CB8AC3E}">
        <p14:creationId xmlns:p14="http://schemas.microsoft.com/office/powerpoint/2010/main" val="19128436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Shape 21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9" name="Shape 21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9126682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849E72C-E518-4000-BC7C-050B8F37BBD2}" type="slidenum">
              <a:rPr lang="fr-FR" smtClean="0"/>
              <a:t>33</a:t>
            </a:fld>
            <a:endParaRPr lang="fr-FR"/>
          </a:p>
        </p:txBody>
      </p:sp>
    </p:spTree>
    <p:extLst>
      <p:ext uri="{BB962C8B-B14F-4D97-AF65-F5344CB8AC3E}">
        <p14:creationId xmlns:p14="http://schemas.microsoft.com/office/powerpoint/2010/main" val="40446980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Shape 4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00" name="Shape 50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620015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bg>
      <p:bgRef idx="1001">
        <a:schemeClr val="bg1"/>
      </p:bgRef>
    </p:bg>
    <p:spTree>
      <p:nvGrpSpPr>
        <p:cNvPr id="1" name="Shape 9"/>
        <p:cNvGrpSpPr/>
        <p:nvPr/>
      </p:nvGrpSpPr>
      <p:grpSpPr>
        <a:xfrm>
          <a:off x="0" y="0"/>
          <a:ext cx="0" cy="0"/>
          <a:chOff x="0" y="0"/>
          <a:chExt cx="0" cy="0"/>
        </a:xfrm>
      </p:grpSpPr>
      <p:sp>
        <p:nvSpPr>
          <p:cNvPr id="12" name="Shape 12"/>
          <p:cNvSpPr/>
          <p:nvPr/>
        </p:nvSpPr>
        <p:spPr>
          <a:xfrm>
            <a:off x="157316" y="167148"/>
            <a:ext cx="11878740" cy="6518787"/>
          </a:xfrm>
          <a:prstGeom prst="rect">
            <a:avLst/>
          </a:prstGeom>
          <a:noFill/>
          <a:ln w="95250" cap="sq" cmpd="thinThick">
            <a:solidFill>
              <a:schemeClr val="accent5">
                <a:lumMod val="75000"/>
              </a:schemeClr>
            </a:solidFill>
          </a:ln>
          <a:effectLst>
            <a:outerShdw blurRad="50800" dist="38100" dir="5400000" algn="t" rotWithShape="0">
              <a:prstClr val="black">
                <a:alpha val="40000"/>
              </a:prstClr>
            </a:outerShdw>
          </a:effectLst>
        </p:spPr>
        <p:txBody>
          <a:bodyPr lIns="91425" tIns="91425" rIns="91425" bIns="91425" anchor="ctr" anchorCtr="0">
            <a:noAutofit/>
          </a:bodyPr>
          <a:lstStyle/>
          <a:p>
            <a:pPr lvl="0">
              <a:spcBef>
                <a:spcPts val="0"/>
              </a:spcBef>
              <a:buNone/>
            </a:pPr>
            <a:endParaRPr sz="2400"/>
          </a:p>
        </p:txBody>
      </p:sp>
      <p:sp>
        <p:nvSpPr>
          <p:cNvPr id="22" name="Shape 22"/>
          <p:cNvSpPr txBox="1">
            <a:spLocks noGrp="1"/>
          </p:cNvSpPr>
          <p:nvPr>
            <p:ph type="ctrTitle" hasCustomPrompt="1"/>
          </p:nvPr>
        </p:nvSpPr>
        <p:spPr>
          <a:xfrm>
            <a:off x="914400" y="1454333"/>
            <a:ext cx="7157200" cy="3949200"/>
          </a:xfrm>
          <a:prstGeom prst="rect">
            <a:avLst/>
          </a:prstGeom>
        </p:spPr>
        <p:txBody>
          <a:bodyPr lIns="91425" tIns="91425" rIns="91425" bIns="91425" anchor="ctr" anchorCtr="0"/>
          <a:lstStyle>
            <a:lvl1pPr lvl="0">
              <a:spcBef>
                <a:spcPts val="0"/>
              </a:spcBef>
              <a:buSzPct val="100000"/>
              <a:defRPr sz="6400">
                <a:solidFill>
                  <a:schemeClr val="tx1"/>
                </a:solidFill>
              </a:defRPr>
            </a:lvl1pPr>
            <a:lvl2pPr lvl="1" algn="ctr">
              <a:spcBef>
                <a:spcPts val="0"/>
              </a:spcBef>
              <a:buSzPct val="100000"/>
              <a:defRPr sz="6400"/>
            </a:lvl2pPr>
            <a:lvl3pPr lvl="2" algn="ctr">
              <a:spcBef>
                <a:spcPts val="0"/>
              </a:spcBef>
              <a:buSzPct val="100000"/>
              <a:defRPr sz="6400"/>
            </a:lvl3pPr>
            <a:lvl4pPr lvl="3" algn="ctr">
              <a:spcBef>
                <a:spcPts val="0"/>
              </a:spcBef>
              <a:buSzPct val="100000"/>
              <a:defRPr sz="6400"/>
            </a:lvl4pPr>
            <a:lvl5pPr lvl="4" algn="ctr">
              <a:spcBef>
                <a:spcPts val="0"/>
              </a:spcBef>
              <a:buSzPct val="100000"/>
              <a:defRPr sz="6400"/>
            </a:lvl5pPr>
            <a:lvl6pPr lvl="5" algn="ctr">
              <a:spcBef>
                <a:spcPts val="0"/>
              </a:spcBef>
              <a:buSzPct val="100000"/>
              <a:defRPr sz="6400"/>
            </a:lvl6pPr>
            <a:lvl7pPr lvl="6" algn="ctr">
              <a:spcBef>
                <a:spcPts val="0"/>
              </a:spcBef>
              <a:buSzPct val="100000"/>
              <a:defRPr sz="6400"/>
            </a:lvl7pPr>
            <a:lvl8pPr lvl="7" algn="ctr">
              <a:spcBef>
                <a:spcPts val="0"/>
              </a:spcBef>
              <a:buSzPct val="100000"/>
              <a:defRPr sz="6400"/>
            </a:lvl8pPr>
            <a:lvl9pPr lvl="8" algn="ctr">
              <a:spcBef>
                <a:spcPts val="0"/>
              </a:spcBef>
              <a:buSzPct val="100000"/>
              <a:defRPr sz="6400"/>
            </a:lvl9pPr>
          </a:lstStyle>
          <a:p>
            <a:r>
              <a:rPr lang="fr-FR" dirty="0"/>
              <a:t>Modifiez le style du titre</a:t>
            </a:r>
            <a:endParaRPr dirty="0"/>
          </a:p>
        </p:txBody>
      </p:sp>
    </p:spTree>
    <p:extLst>
      <p:ext uri="{BB962C8B-B14F-4D97-AF65-F5344CB8AC3E}">
        <p14:creationId xmlns:p14="http://schemas.microsoft.com/office/powerpoint/2010/main" val="15895300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61"/>
        <p:cNvGrpSpPr/>
        <p:nvPr/>
      </p:nvGrpSpPr>
      <p:grpSpPr>
        <a:xfrm>
          <a:off x="0" y="0"/>
          <a:ext cx="0" cy="0"/>
          <a:chOff x="0" y="0"/>
          <a:chExt cx="0" cy="0"/>
        </a:xfrm>
      </p:grpSpPr>
      <p:grpSp>
        <p:nvGrpSpPr>
          <p:cNvPr id="62" name="Shape 62"/>
          <p:cNvGrpSpPr/>
          <p:nvPr/>
        </p:nvGrpSpPr>
        <p:grpSpPr>
          <a:xfrm>
            <a:off x="-4" y="53"/>
            <a:ext cx="9429907" cy="1769752"/>
            <a:chOff x="-3" y="40"/>
            <a:chExt cx="7072430" cy="1327314"/>
          </a:xfrm>
        </p:grpSpPr>
        <p:sp>
          <p:nvSpPr>
            <p:cNvPr id="63" name="Shape 63"/>
            <p:cNvSpPr/>
            <p:nvPr/>
          </p:nvSpPr>
          <p:spPr>
            <a:xfrm>
              <a:off x="6292649" y="126425"/>
              <a:ext cx="779700" cy="259800"/>
            </a:xfrm>
            <a:prstGeom prst="triangle">
              <a:avLst>
                <a:gd name="adj" fmla="val 32425"/>
              </a:avLst>
            </a:prstGeom>
            <a:solidFill>
              <a:srgbClr val="263248"/>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grpSp>
          <p:nvGrpSpPr>
            <p:cNvPr id="64" name="Shape 64"/>
            <p:cNvGrpSpPr/>
            <p:nvPr/>
          </p:nvGrpSpPr>
          <p:grpSpPr>
            <a:xfrm rot="10800000" flipH="1">
              <a:off x="2" y="40"/>
              <a:ext cx="6756167" cy="1327314"/>
              <a:chOff x="-2168137" y="330075"/>
              <a:chExt cx="8650662" cy="1699506"/>
            </a:xfrm>
          </p:grpSpPr>
          <p:sp>
            <p:nvSpPr>
              <p:cNvPr id="65" name="Shape 65"/>
              <p:cNvSpPr/>
              <p:nvPr/>
            </p:nvSpPr>
            <p:spPr>
              <a:xfrm>
                <a:off x="-2168137" y="330081"/>
                <a:ext cx="6958200" cy="1699500"/>
              </a:xfrm>
              <a:prstGeom prst="rect">
                <a:avLst/>
              </a:prstGeom>
              <a:solidFill>
                <a:srgbClr val="C7D3E6"/>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sp>
            <p:nvSpPr>
              <p:cNvPr id="66" name="Shape 66"/>
              <p:cNvSpPr/>
              <p:nvPr/>
            </p:nvSpPr>
            <p:spPr>
              <a:xfrm>
                <a:off x="4783024" y="330075"/>
                <a:ext cx="1699500" cy="1699500"/>
              </a:xfrm>
              <a:prstGeom prst="rtTriangle">
                <a:avLst/>
              </a:prstGeom>
              <a:solidFill>
                <a:srgbClr val="C7D3E6"/>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grpSp>
        <p:grpSp>
          <p:nvGrpSpPr>
            <p:cNvPr id="67" name="Shape 67"/>
            <p:cNvGrpSpPr/>
            <p:nvPr/>
          </p:nvGrpSpPr>
          <p:grpSpPr>
            <a:xfrm rot="10800000" flipH="1">
              <a:off x="-3" y="381007"/>
              <a:ext cx="7072430" cy="771743"/>
              <a:chOff x="-9092084" y="330075"/>
              <a:chExt cx="15574609" cy="1699501"/>
            </a:xfrm>
          </p:grpSpPr>
          <p:sp>
            <p:nvSpPr>
              <p:cNvPr id="68" name="Shape 68"/>
              <p:cNvSpPr/>
              <p:nvPr/>
            </p:nvSpPr>
            <p:spPr>
              <a:xfrm>
                <a:off x="-9092084" y="330076"/>
                <a:ext cx="13882200" cy="1699500"/>
              </a:xfrm>
              <a:prstGeom prst="rect">
                <a:avLst/>
              </a:prstGeom>
              <a:solidFill>
                <a:srgbClr val="3F5378"/>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sp>
            <p:nvSpPr>
              <p:cNvPr id="69" name="Shape 69"/>
              <p:cNvSpPr/>
              <p:nvPr/>
            </p:nvSpPr>
            <p:spPr>
              <a:xfrm>
                <a:off x="4783024" y="330075"/>
                <a:ext cx="1699500" cy="1699500"/>
              </a:xfrm>
              <a:prstGeom prst="rtTriangle">
                <a:avLst/>
              </a:prstGeom>
              <a:solidFill>
                <a:srgbClr val="3F5378"/>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grpSp>
      </p:grpSp>
      <p:grpSp>
        <p:nvGrpSpPr>
          <p:cNvPr id="70" name="Shape 70"/>
          <p:cNvGrpSpPr/>
          <p:nvPr/>
        </p:nvGrpSpPr>
        <p:grpSpPr>
          <a:xfrm>
            <a:off x="9262456" y="5963629"/>
            <a:ext cx="2937105" cy="894392"/>
            <a:chOff x="5575241" y="4472722"/>
            <a:chExt cx="2202829" cy="670794"/>
          </a:xfrm>
        </p:grpSpPr>
        <p:sp>
          <p:nvSpPr>
            <p:cNvPr id="71" name="Shape 71"/>
            <p:cNvSpPr/>
            <p:nvPr/>
          </p:nvSpPr>
          <p:spPr>
            <a:xfrm rot="10800000">
              <a:off x="5575241" y="4948333"/>
              <a:ext cx="394200" cy="131400"/>
            </a:xfrm>
            <a:prstGeom prst="triangle">
              <a:avLst>
                <a:gd name="adj" fmla="val 32425"/>
              </a:avLst>
            </a:prstGeom>
            <a:solidFill>
              <a:srgbClr val="D26F00"/>
            </a:solidFill>
            <a:ln>
              <a:noFill/>
            </a:ln>
          </p:spPr>
          <p:txBody>
            <a:bodyPr lIns="91425" tIns="91425" rIns="91425" bIns="91425" anchor="ctr" anchorCtr="0">
              <a:noAutofit/>
            </a:bodyPr>
            <a:lstStyle/>
            <a:p>
              <a:pPr lvl="0">
                <a:spcBef>
                  <a:spcPts val="0"/>
                </a:spcBef>
                <a:buNone/>
              </a:pPr>
              <a:endParaRPr sz="2400"/>
            </a:p>
          </p:txBody>
        </p:sp>
        <p:grpSp>
          <p:nvGrpSpPr>
            <p:cNvPr id="72" name="Shape 72"/>
            <p:cNvGrpSpPr/>
            <p:nvPr/>
          </p:nvGrpSpPr>
          <p:grpSpPr>
            <a:xfrm flipH="1">
              <a:off x="5734850" y="4472722"/>
              <a:ext cx="2040836" cy="670794"/>
              <a:chOff x="1297953" y="330075"/>
              <a:chExt cx="5169293" cy="1699505"/>
            </a:xfrm>
          </p:grpSpPr>
          <p:sp>
            <p:nvSpPr>
              <p:cNvPr id="73" name="Shape 73"/>
              <p:cNvSpPr/>
              <p:nvPr/>
            </p:nvSpPr>
            <p:spPr>
              <a:xfrm>
                <a:off x="1297953" y="330080"/>
                <a:ext cx="3476700" cy="1699500"/>
              </a:xfrm>
              <a:prstGeom prst="rect">
                <a:avLst/>
              </a:prstGeom>
              <a:solidFill>
                <a:srgbClr val="C7D3E6"/>
              </a:solidFill>
              <a:ln>
                <a:noFill/>
              </a:ln>
            </p:spPr>
            <p:txBody>
              <a:bodyPr lIns="91425" tIns="91425" rIns="91425" bIns="91425" anchor="ctr" anchorCtr="0">
                <a:noAutofit/>
              </a:bodyPr>
              <a:lstStyle/>
              <a:p>
                <a:pPr lvl="0" rtl="0">
                  <a:spcBef>
                    <a:spcPts val="0"/>
                  </a:spcBef>
                  <a:buNone/>
                </a:pPr>
                <a:endParaRPr sz="2400"/>
              </a:p>
            </p:txBody>
          </p:sp>
          <p:sp>
            <p:nvSpPr>
              <p:cNvPr id="74" name="Shape 74"/>
              <p:cNvSpPr/>
              <p:nvPr/>
            </p:nvSpPr>
            <p:spPr>
              <a:xfrm>
                <a:off x="4767747" y="330075"/>
                <a:ext cx="1699500" cy="1699500"/>
              </a:xfrm>
              <a:prstGeom prst="rtTriangle">
                <a:avLst/>
              </a:prstGeom>
              <a:solidFill>
                <a:srgbClr val="C7D3E6"/>
              </a:solidFill>
              <a:ln>
                <a:noFill/>
              </a:ln>
            </p:spPr>
            <p:txBody>
              <a:bodyPr lIns="91425" tIns="91425" rIns="91425" bIns="91425" anchor="ctr" anchorCtr="0">
                <a:noAutofit/>
              </a:bodyPr>
              <a:lstStyle/>
              <a:p>
                <a:pPr lvl="0">
                  <a:spcBef>
                    <a:spcPts val="0"/>
                  </a:spcBef>
                  <a:buNone/>
                </a:pPr>
                <a:endParaRPr sz="2400"/>
              </a:p>
            </p:txBody>
          </p:sp>
        </p:grpSp>
        <p:grpSp>
          <p:nvGrpSpPr>
            <p:cNvPr id="75" name="Shape 75"/>
            <p:cNvGrpSpPr/>
            <p:nvPr/>
          </p:nvGrpSpPr>
          <p:grpSpPr>
            <a:xfrm flipH="1">
              <a:off x="5578208" y="4646737"/>
              <a:ext cx="2199862" cy="304562"/>
              <a:chOff x="-5827152" y="330075"/>
              <a:chExt cx="12276018" cy="1699568"/>
            </a:xfrm>
          </p:grpSpPr>
          <p:sp>
            <p:nvSpPr>
              <p:cNvPr id="76" name="Shape 76"/>
              <p:cNvSpPr/>
              <p:nvPr/>
            </p:nvSpPr>
            <p:spPr>
              <a:xfrm>
                <a:off x="-5827152" y="330143"/>
                <a:ext cx="10612200" cy="1699500"/>
              </a:xfrm>
              <a:prstGeom prst="rect">
                <a:avLst/>
              </a:prstGeom>
              <a:solidFill>
                <a:srgbClr val="FF9800"/>
              </a:solidFill>
              <a:ln>
                <a:noFill/>
              </a:ln>
            </p:spPr>
            <p:txBody>
              <a:bodyPr lIns="91425" tIns="91425" rIns="91425" bIns="91425" anchor="ctr" anchorCtr="0">
                <a:noAutofit/>
              </a:bodyPr>
              <a:lstStyle/>
              <a:p>
                <a:pPr lvl="0" rtl="0">
                  <a:spcBef>
                    <a:spcPts val="0"/>
                  </a:spcBef>
                  <a:buNone/>
                </a:pPr>
                <a:endParaRPr sz="2400"/>
              </a:p>
            </p:txBody>
          </p:sp>
          <p:sp>
            <p:nvSpPr>
              <p:cNvPr id="77" name="Shape 77"/>
              <p:cNvSpPr/>
              <p:nvPr/>
            </p:nvSpPr>
            <p:spPr>
              <a:xfrm>
                <a:off x="4749365" y="330075"/>
                <a:ext cx="1699500" cy="1699500"/>
              </a:xfrm>
              <a:prstGeom prst="rtTriangle">
                <a:avLst/>
              </a:prstGeom>
              <a:solidFill>
                <a:srgbClr val="FF9800"/>
              </a:solidFill>
              <a:ln>
                <a:noFill/>
              </a:ln>
            </p:spPr>
            <p:txBody>
              <a:bodyPr lIns="91425" tIns="91425" rIns="91425" bIns="91425" anchor="ctr" anchorCtr="0">
                <a:noAutofit/>
              </a:bodyPr>
              <a:lstStyle/>
              <a:p>
                <a:pPr lvl="0">
                  <a:spcBef>
                    <a:spcPts val="0"/>
                  </a:spcBef>
                  <a:buNone/>
                </a:pPr>
                <a:endParaRPr sz="2400"/>
              </a:p>
            </p:txBody>
          </p:sp>
        </p:grpSp>
      </p:grpSp>
      <p:sp>
        <p:nvSpPr>
          <p:cNvPr id="78" name="Shape 78"/>
          <p:cNvSpPr txBox="1">
            <a:spLocks noGrp="1"/>
          </p:cNvSpPr>
          <p:nvPr>
            <p:ph type="title"/>
          </p:nvPr>
        </p:nvSpPr>
        <p:spPr>
          <a:xfrm>
            <a:off x="1085700" y="523433"/>
            <a:ext cx="7323200" cy="1021600"/>
          </a:xfrm>
          <a:prstGeom prst="rect">
            <a:avLst/>
          </a:prstGeom>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fr-FR"/>
              <a:t>Modifiez le style du titre</a:t>
            </a:r>
            <a:endParaRPr/>
          </a:p>
        </p:txBody>
      </p:sp>
      <p:sp>
        <p:nvSpPr>
          <p:cNvPr id="79" name="Shape 79"/>
          <p:cNvSpPr txBox="1">
            <a:spLocks noGrp="1"/>
          </p:cNvSpPr>
          <p:nvPr>
            <p:ph type="body" idx="1"/>
          </p:nvPr>
        </p:nvSpPr>
        <p:spPr>
          <a:xfrm>
            <a:off x="1085700" y="1769800"/>
            <a:ext cx="8176800" cy="4194000"/>
          </a:xfrm>
          <a:prstGeom prst="rect">
            <a:avLst/>
          </a:prstGeom>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pPr lvl="0"/>
            <a:r>
              <a:rPr lang="fr-FR"/>
              <a:t>Modifier les styles du texte du masque</a:t>
            </a:r>
          </a:p>
        </p:txBody>
      </p:sp>
      <p:sp>
        <p:nvSpPr>
          <p:cNvPr id="80" name="Shape 80"/>
          <p:cNvSpPr txBox="1">
            <a:spLocks noGrp="1"/>
          </p:cNvSpPr>
          <p:nvPr>
            <p:ph type="sldNum" idx="12"/>
          </p:nvPr>
        </p:nvSpPr>
        <p:spPr>
          <a:xfrm>
            <a:off x="10157333" y="6182000"/>
            <a:ext cx="1983200" cy="420800"/>
          </a:xfrm>
          <a:prstGeom prst="rect">
            <a:avLst/>
          </a:prstGeom>
        </p:spPr>
        <p:txBody>
          <a:bodyPr lIns="91425" tIns="91425" rIns="91425" bIns="91425" anchor="ctr" anchorCtr="0">
            <a:noAutofit/>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565085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p:cSld name="Title + 2 columns">
    <p:spTree>
      <p:nvGrpSpPr>
        <p:cNvPr id="1" name="Shape 81"/>
        <p:cNvGrpSpPr/>
        <p:nvPr/>
      </p:nvGrpSpPr>
      <p:grpSpPr>
        <a:xfrm>
          <a:off x="0" y="0"/>
          <a:ext cx="0" cy="0"/>
          <a:chOff x="0" y="0"/>
          <a:chExt cx="0" cy="0"/>
        </a:xfrm>
      </p:grpSpPr>
      <p:grpSp>
        <p:nvGrpSpPr>
          <p:cNvPr id="82" name="Shape 82"/>
          <p:cNvGrpSpPr/>
          <p:nvPr/>
        </p:nvGrpSpPr>
        <p:grpSpPr>
          <a:xfrm>
            <a:off x="-4" y="53"/>
            <a:ext cx="9429907" cy="1769752"/>
            <a:chOff x="-3" y="40"/>
            <a:chExt cx="7072430" cy="1327314"/>
          </a:xfrm>
        </p:grpSpPr>
        <p:sp>
          <p:nvSpPr>
            <p:cNvPr id="83" name="Shape 83"/>
            <p:cNvSpPr/>
            <p:nvPr/>
          </p:nvSpPr>
          <p:spPr>
            <a:xfrm>
              <a:off x="6292649" y="126425"/>
              <a:ext cx="779700" cy="259800"/>
            </a:xfrm>
            <a:prstGeom prst="triangle">
              <a:avLst>
                <a:gd name="adj" fmla="val 32425"/>
              </a:avLst>
            </a:prstGeom>
            <a:solidFill>
              <a:srgbClr val="263248"/>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grpSp>
          <p:nvGrpSpPr>
            <p:cNvPr id="84" name="Shape 84"/>
            <p:cNvGrpSpPr/>
            <p:nvPr/>
          </p:nvGrpSpPr>
          <p:grpSpPr>
            <a:xfrm rot="10800000" flipH="1">
              <a:off x="2" y="40"/>
              <a:ext cx="6756167" cy="1327314"/>
              <a:chOff x="-2168137" y="330075"/>
              <a:chExt cx="8650662" cy="1699506"/>
            </a:xfrm>
          </p:grpSpPr>
          <p:sp>
            <p:nvSpPr>
              <p:cNvPr id="85" name="Shape 85"/>
              <p:cNvSpPr/>
              <p:nvPr/>
            </p:nvSpPr>
            <p:spPr>
              <a:xfrm>
                <a:off x="-2168137" y="330081"/>
                <a:ext cx="6958200" cy="1699500"/>
              </a:xfrm>
              <a:prstGeom prst="rect">
                <a:avLst/>
              </a:prstGeom>
              <a:solidFill>
                <a:srgbClr val="C7D3E6"/>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sp>
            <p:nvSpPr>
              <p:cNvPr id="86" name="Shape 86"/>
              <p:cNvSpPr/>
              <p:nvPr/>
            </p:nvSpPr>
            <p:spPr>
              <a:xfrm>
                <a:off x="4783024" y="330075"/>
                <a:ext cx="1699500" cy="1699500"/>
              </a:xfrm>
              <a:prstGeom prst="rtTriangle">
                <a:avLst/>
              </a:prstGeom>
              <a:solidFill>
                <a:srgbClr val="C7D3E6"/>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grpSp>
        <p:grpSp>
          <p:nvGrpSpPr>
            <p:cNvPr id="87" name="Shape 87"/>
            <p:cNvGrpSpPr/>
            <p:nvPr/>
          </p:nvGrpSpPr>
          <p:grpSpPr>
            <a:xfrm rot="10800000" flipH="1">
              <a:off x="-3" y="381007"/>
              <a:ext cx="7072430" cy="771743"/>
              <a:chOff x="-9092084" y="330075"/>
              <a:chExt cx="15574609" cy="1699501"/>
            </a:xfrm>
          </p:grpSpPr>
          <p:sp>
            <p:nvSpPr>
              <p:cNvPr id="88" name="Shape 88"/>
              <p:cNvSpPr/>
              <p:nvPr/>
            </p:nvSpPr>
            <p:spPr>
              <a:xfrm>
                <a:off x="-9092084" y="330076"/>
                <a:ext cx="13882200" cy="1699500"/>
              </a:xfrm>
              <a:prstGeom prst="rect">
                <a:avLst/>
              </a:prstGeom>
              <a:solidFill>
                <a:srgbClr val="3F5378"/>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sp>
            <p:nvSpPr>
              <p:cNvPr id="89" name="Shape 89"/>
              <p:cNvSpPr/>
              <p:nvPr/>
            </p:nvSpPr>
            <p:spPr>
              <a:xfrm>
                <a:off x="4783024" y="330075"/>
                <a:ext cx="1699500" cy="1699500"/>
              </a:xfrm>
              <a:prstGeom prst="rtTriangle">
                <a:avLst/>
              </a:prstGeom>
              <a:solidFill>
                <a:srgbClr val="3F5378"/>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grpSp>
      </p:grpSp>
      <p:grpSp>
        <p:nvGrpSpPr>
          <p:cNvPr id="90" name="Shape 90"/>
          <p:cNvGrpSpPr/>
          <p:nvPr/>
        </p:nvGrpSpPr>
        <p:grpSpPr>
          <a:xfrm>
            <a:off x="9262456" y="5963629"/>
            <a:ext cx="2937105" cy="894392"/>
            <a:chOff x="5575241" y="4472722"/>
            <a:chExt cx="2202829" cy="670794"/>
          </a:xfrm>
        </p:grpSpPr>
        <p:sp>
          <p:nvSpPr>
            <p:cNvPr id="91" name="Shape 91"/>
            <p:cNvSpPr/>
            <p:nvPr/>
          </p:nvSpPr>
          <p:spPr>
            <a:xfrm rot="10800000">
              <a:off x="5575241" y="4948333"/>
              <a:ext cx="394200" cy="131400"/>
            </a:xfrm>
            <a:prstGeom prst="triangle">
              <a:avLst>
                <a:gd name="adj" fmla="val 32425"/>
              </a:avLst>
            </a:prstGeom>
            <a:solidFill>
              <a:srgbClr val="D26F00"/>
            </a:solidFill>
            <a:ln>
              <a:noFill/>
            </a:ln>
          </p:spPr>
          <p:txBody>
            <a:bodyPr lIns="91425" tIns="91425" rIns="91425" bIns="91425" anchor="ctr" anchorCtr="0">
              <a:noAutofit/>
            </a:bodyPr>
            <a:lstStyle/>
            <a:p>
              <a:pPr lvl="0">
                <a:spcBef>
                  <a:spcPts val="0"/>
                </a:spcBef>
                <a:buNone/>
              </a:pPr>
              <a:endParaRPr sz="2400"/>
            </a:p>
          </p:txBody>
        </p:sp>
        <p:grpSp>
          <p:nvGrpSpPr>
            <p:cNvPr id="92" name="Shape 92"/>
            <p:cNvGrpSpPr/>
            <p:nvPr/>
          </p:nvGrpSpPr>
          <p:grpSpPr>
            <a:xfrm flipH="1">
              <a:off x="5734850" y="4472722"/>
              <a:ext cx="2040836" cy="670794"/>
              <a:chOff x="1297953" y="330075"/>
              <a:chExt cx="5169293" cy="1699505"/>
            </a:xfrm>
          </p:grpSpPr>
          <p:sp>
            <p:nvSpPr>
              <p:cNvPr id="93" name="Shape 93"/>
              <p:cNvSpPr/>
              <p:nvPr/>
            </p:nvSpPr>
            <p:spPr>
              <a:xfrm>
                <a:off x="1297953" y="330080"/>
                <a:ext cx="3476700" cy="1699500"/>
              </a:xfrm>
              <a:prstGeom prst="rect">
                <a:avLst/>
              </a:prstGeom>
              <a:solidFill>
                <a:srgbClr val="C7D3E6"/>
              </a:solidFill>
              <a:ln>
                <a:noFill/>
              </a:ln>
            </p:spPr>
            <p:txBody>
              <a:bodyPr lIns="91425" tIns="91425" rIns="91425" bIns="91425" anchor="ctr" anchorCtr="0">
                <a:noAutofit/>
              </a:bodyPr>
              <a:lstStyle/>
              <a:p>
                <a:pPr lvl="0" rtl="0">
                  <a:spcBef>
                    <a:spcPts val="0"/>
                  </a:spcBef>
                  <a:buNone/>
                </a:pPr>
                <a:endParaRPr sz="2400"/>
              </a:p>
            </p:txBody>
          </p:sp>
          <p:sp>
            <p:nvSpPr>
              <p:cNvPr id="94" name="Shape 94"/>
              <p:cNvSpPr/>
              <p:nvPr/>
            </p:nvSpPr>
            <p:spPr>
              <a:xfrm>
                <a:off x="4767747" y="330075"/>
                <a:ext cx="1699500" cy="1699500"/>
              </a:xfrm>
              <a:prstGeom prst="rtTriangle">
                <a:avLst/>
              </a:prstGeom>
              <a:solidFill>
                <a:srgbClr val="C7D3E6"/>
              </a:solidFill>
              <a:ln>
                <a:noFill/>
              </a:ln>
            </p:spPr>
            <p:txBody>
              <a:bodyPr lIns="91425" tIns="91425" rIns="91425" bIns="91425" anchor="ctr" anchorCtr="0">
                <a:noAutofit/>
              </a:bodyPr>
              <a:lstStyle/>
              <a:p>
                <a:pPr lvl="0">
                  <a:spcBef>
                    <a:spcPts val="0"/>
                  </a:spcBef>
                  <a:buNone/>
                </a:pPr>
                <a:endParaRPr sz="2400"/>
              </a:p>
            </p:txBody>
          </p:sp>
        </p:grpSp>
        <p:grpSp>
          <p:nvGrpSpPr>
            <p:cNvPr id="95" name="Shape 95"/>
            <p:cNvGrpSpPr/>
            <p:nvPr/>
          </p:nvGrpSpPr>
          <p:grpSpPr>
            <a:xfrm flipH="1">
              <a:off x="5578208" y="4646737"/>
              <a:ext cx="2199862" cy="304562"/>
              <a:chOff x="-5827152" y="330075"/>
              <a:chExt cx="12276018" cy="1699568"/>
            </a:xfrm>
          </p:grpSpPr>
          <p:sp>
            <p:nvSpPr>
              <p:cNvPr id="96" name="Shape 96"/>
              <p:cNvSpPr/>
              <p:nvPr/>
            </p:nvSpPr>
            <p:spPr>
              <a:xfrm>
                <a:off x="-5827152" y="330143"/>
                <a:ext cx="10612200" cy="1699500"/>
              </a:xfrm>
              <a:prstGeom prst="rect">
                <a:avLst/>
              </a:prstGeom>
              <a:solidFill>
                <a:srgbClr val="FF9800"/>
              </a:solidFill>
              <a:ln>
                <a:noFill/>
              </a:ln>
            </p:spPr>
            <p:txBody>
              <a:bodyPr lIns="91425" tIns="91425" rIns="91425" bIns="91425" anchor="ctr" anchorCtr="0">
                <a:noAutofit/>
              </a:bodyPr>
              <a:lstStyle/>
              <a:p>
                <a:pPr lvl="0" rtl="0">
                  <a:spcBef>
                    <a:spcPts val="0"/>
                  </a:spcBef>
                  <a:buNone/>
                </a:pPr>
                <a:endParaRPr sz="2400"/>
              </a:p>
            </p:txBody>
          </p:sp>
          <p:sp>
            <p:nvSpPr>
              <p:cNvPr id="97" name="Shape 97"/>
              <p:cNvSpPr/>
              <p:nvPr/>
            </p:nvSpPr>
            <p:spPr>
              <a:xfrm>
                <a:off x="4749365" y="330075"/>
                <a:ext cx="1699500" cy="1699500"/>
              </a:xfrm>
              <a:prstGeom prst="rtTriangle">
                <a:avLst/>
              </a:prstGeom>
              <a:solidFill>
                <a:srgbClr val="FF9800"/>
              </a:solidFill>
              <a:ln>
                <a:noFill/>
              </a:ln>
            </p:spPr>
            <p:txBody>
              <a:bodyPr lIns="91425" tIns="91425" rIns="91425" bIns="91425" anchor="ctr" anchorCtr="0">
                <a:noAutofit/>
              </a:bodyPr>
              <a:lstStyle/>
              <a:p>
                <a:pPr lvl="0">
                  <a:spcBef>
                    <a:spcPts val="0"/>
                  </a:spcBef>
                  <a:buNone/>
                </a:pPr>
                <a:endParaRPr sz="2400"/>
              </a:p>
            </p:txBody>
          </p:sp>
        </p:grpSp>
      </p:grpSp>
      <p:sp>
        <p:nvSpPr>
          <p:cNvPr id="98" name="Shape 98"/>
          <p:cNvSpPr txBox="1">
            <a:spLocks noGrp="1"/>
          </p:cNvSpPr>
          <p:nvPr>
            <p:ph type="title"/>
          </p:nvPr>
        </p:nvSpPr>
        <p:spPr>
          <a:xfrm>
            <a:off x="1085700" y="523433"/>
            <a:ext cx="7011200" cy="1021600"/>
          </a:xfrm>
          <a:prstGeom prst="rect">
            <a:avLst/>
          </a:prstGeom>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fr-FR"/>
              <a:t>Modifiez le style du titre</a:t>
            </a:r>
            <a:endParaRPr/>
          </a:p>
        </p:txBody>
      </p:sp>
      <p:sp>
        <p:nvSpPr>
          <p:cNvPr id="99" name="Shape 99"/>
          <p:cNvSpPr txBox="1">
            <a:spLocks noGrp="1"/>
          </p:cNvSpPr>
          <p:nvPr>
            <p:ph type="body" idx="1"/>
          </p:nvPr>
        </p:nvSpPr>
        <p:spPr>
          <a:xfrm>
            <a:off x="1085700" y="2050649"/>
            <a:ext cx="4504400" cy="3632400"/>
          </a:xfrm>
          <a:prstGeom prst="rect">
            <a:avLst/>
          </a:prstGeom>
        </p:spPr>
        <p:txBody>
          <a:bodyPr lIns="91425" tIns="91425" rIns="91425" bIns="91425" anchor="t" anchorCtr="0"/>
          <a:lstStyle>
            <a:lvl1pPr lvl="0">
              <a:spcBef>
                <a:spcPts val="0"/>
              </a:spcBef>
              <a:buSzPct val="100000"/>
              <a:defRPr sz="2667"/>
            </a:lvl1pPr>
            <a:lvl2pPr lvl="1">
              <a:spcBef>
                <a:spcPts val="0"/>
              </a:spcBef>
              <a:buSzPct val="100000"/>
              <a:defRPr sz="2667"/>
            </a:lvl2pPr>
            <a:lvl3pPr lvl="2">
              <a:spcBef>
                <a:spcPts val="0"/>
              </a:spcBef>
              <a:buSzPct val="100000"/>
              <a:defRPr sz="2667"/>
            </a:lvl3pPr>
            <a:lvl4pPr lvl="3">
              <a:spcBef>
                <a:spcPts val="0"/>
              </a:spcBef>
              <a:buSzPct val="100000"/>
              <a:defRPr sz="2667"/>
            </a:lvl4pPr>
            <a:lvl5pPr lvl="4">
              <a:spcBef>
                <a:spcPts val="0"/>
              </a:spcBef>
              <a:buSzPct val="100000"/>
              <a:defRPr sz="2667"/>
            </a:lvl5pPr>
            <a:lvl6pPr lvl="5">
              <a:spcBef>
                <a:spcPts val="0"/>
              </a:spcBef>
              <a:buSzPct val="100000"/>
              <a:defRPr sz="2667"/>
            </a:lvl6pPr>
            <a:lvl7pPr lvl="6">
              <a:spcBef>
                <a:spcPts val="0"/>
              </a:spcBef>
              <a:buSzPct val="100000"/>
              <a:defRPr sz="2667"/>
            </a:lvl7pPr>
            <a:lvl8pPr lvl="7">
              <a:spcBef>
                <a:spcPts val="0"/>
              </a:spcBef>
              <a:buSzPct val="100000"/>
              <a:defRPr sz="2667"/>
            </a:lvl8pPr>
            <a:lvl9pPr lvl="8">
              <a:spcBef>
                <a:spcPts val="0"/>
              </a:spcBef>
              <a:buSzPct val="100000"/>
              <a:defRPr sz="2667"/>
            </a:lvl9pPr>
          </a:lstStyle>
          <a:p>
            <a:pPr lvl="0"/>
            <a:r>
              <a:rPr lang="fr-FR"/>
              <a:t>Modifier les styles du texte du masque</a:t>
            </a:r>
          </a:p>
        </p:txBody>
      </p:sp>
      <p:sp>
        <p:nvSpPr>
          <p:cNvPr id="100" name="Shape 100"/>
          <p:cNvSpPr txBox="1">
            <a:spLocks noGrp="1"/>
          </p:cNvSpPr>
          <p:nvPr>
            <p:ph type="body" idx="2"/>
          </p:nvPr>
        </p:nvSpPr>
        <p:spPr>
          <a:xfrm>
            <a:off x="5861498" y="2050649"/>
            <a:ext cx="4504399" cy="3632400"/>
          </a:xfrm>
          <a:prstGeom prst="rect">
            <a:avLst/>
          </a:prstGeom>
        </p:spPr>
        <p:txBody>
          <a:bodyPr lIns="91425" tIns="91425" rIns="91425" bIns="91425" anchor="t" anchorCtr="0"/>
          <a:lstStyle>
            <a:lvl1pPr lvl="0">
              <a:spcBef>
                <a:spcPts val="0"/>
              </a:spcBef>
              <a:buSzPct val="100000"/>
              <a:defRPr sz="2667"/>
            </a:lvl1pPr>
            <a:lvl2pPr lvl="1">
              <a:spcBef>
                <a:spcPts val="0"/>
              </a:spcBef>
              <a:buSzPct val="100000"/>
              <a:defRPr sz="2667"/>
            </a:lvl2pPr>
            <a:lvl3pPr lvl="2">
              <a:spcBef>
                <a:spcPts val="0"/>
              </a:spcBef>
              <a:buSzPct val="100000"/>
              <a:defRPr sz="2667"/>
            </a:lvl3pPr>
            <a:lvl4pPr lvl="3">
              <a:spcBef>
                <a:spcPts val="0"/>
              </a:spcBef>
              <a:buSzPct val="100000"/>
              <a:defRPr sz="2667"/>
            </a:lvl4pPr>
            <a:lvl5pPr lvl="4">
              <a:spcBef>
                <a:spcPts val="0"/>
              </a:spcBef>
              <a:buSzPct val="100000"/>
              <a:defRPr sz="2667"/>
            </a:lvl5pPr>
            <a:lvl6pPr lvl="5">
              <a:spcBef>
                <a:spcPts val="0"/>
              </a:spcBef>
              <a:buSzPct val="100000"/>
              <a:defRPr sz="2667"/>
            </a:lvl6pPr>
            <a:lvl7pPr lvl="6">
              <a:spcBef>
                <a:spcPts val="0"/>
              </a:spcBef>
              <a:buSzPct val="100000"/>
              <a:defRPr sz="2667"/>
            </a:lvl7pPr>
            <a:lvl8pPr lvl="7">
              <a:spcBef>
                <a:spcPts val="0"/>
              </a:spcBef>
              <a:buSzPct val="100000"/>
              <a:defRPr sz="2667"/>
            </a:lvl8pPr>
            <a:lvl9pPr lvl="8">
              <a:spcBef>
                <a:spcPts val="0"/>
              </a:spcBef>
              <a:buSzPct val="100000"/>
              <a:defRPr sz="2667"/>
            </a:lvl9pPr>
          </a:lstStyle>
          <a:p>
            <a:pPr lvl="0"/>
            <a:r>
              <a:rPr lang="fr-FR"/>
              <a:t>Modifier les styles du texte du masque</a:t>
            </a:r>
          </a:p>
        </p:txBody>
      </p:sp>
      <p:sp>
        <p:nvSpPr>
          <p:cNvPr id="101" name="Shape 101"/>
          <p:cNvSpPr txBox="1">
            <a:spLocks noGrp="1"/>
          </p:cNvSpPr>
          <p:nvPr>
            <p:ph type="sldNum" idx="12"/>
          </p:nvPr>
        </p:nvSpPr>
        <p:spPr>
          <a:xfrm>
            <a:off x="10157333" y="6182000"/>
            <a:ext cx="1983200" cy="420800"/>
          </a:xfrm>
          <a:prstGeom prst="rect">
            <a:avLst/>
          </a:prstGeom>
        </p:spPr>
        <p:txBody>
          <a:bodyPr lIns="91425" tIns="91425" rIns="91425" bIns="91425" anchor="ctr" anchorCtr="0">
            <a:noAutofit/>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194803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102"/>
        <p:cNvGrpSpPr/>
        <p:nvPr/>
      </p:nvGrpSpPr>
      <p:grpSpPr>
        <a:xfrm>
          <a:off x="0" y="0"/>
          <a:ext cx="0" cy="0"/>
          <a:chOff x="0" y="0"/>
          <a:chExt cx="0" cy="0"/>
        </a:xfrm>
      </p:grpSpPr>
      <p:grpSp>
        <p:nvGrpSpPr>
          <p:cNvPr id="103" name="Shape 103"/>
          <p:cNvGrpSpPr/>
          <p:nvPr/>
        </p:nvGrpSpPr>
        <p:grpSpPr>
          <a:xfrm>
            <a:off x="-4" y="53"/>
            <a:ext cx="9429907" cy="1769752"/>
            <a:chOff x="-3" y="40"/>
            <a:chExt cx="7072430" cy="1327314"/>
          </a:xfrm>
        </p:grpSpPr>
        <p:sp>
          <p:nvSpPr>
            <p:cNvPr id="104" name="Shape 104"/>
            <p:cNvSpPr/>
            <p:nvPr/>
          </p:nvSpPr>
          <p:spPr>
            <a:xfrm>
              <a:off x="6292649" y="126425"/>
              <a:ext cx="779700" cy="259800"/>
            </a:xfrm>
            <a:prstGeom prst="triangle">
              <a:avLst>
                <a:gd name="adj" fmla="val 32425"/>
              </a:avLst>
            </a:prstGeom>
            <a:solidFill>
              <a:srgbClr val="263248"/>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grpSp>
          <p:nvGrpSpPr>
            <p:cNvPr id="105" name="Shape 105"/>
            <p:cNvGrpSpPr/>
            <p:nvPr/>
          </p:nvGrpSpPr>
          <p:grpSpPr>
            <a:xfrm rot="10800000" flipH="1">
              <a:off x="2" y="40"/>
              <a:ext cx="6756167" cy="1327314"/>
              <a:chOff x="-2168137" y="330075"/>
              <a:chExt cx="8650662" cy="1699506"/>
            </a:xfrm>
          </p:grpSpPr>
          <p:sp>
            <p:nvSpPr>
              <p:cNvPr id="106" name="Shape 106"/>
              <p:cNvSpPr/>
              <p:nvPr/>
            </p:nvSpPr>
            <p:spPr>
              <a:xfrm>
                <a:off x="-2168137" y="330081"/>
                <a:ext cx="6958200" cy="1699500"/>
              </a:xfrm>
              <a:prstGeom prst="rect">
                <a:avLst/>
              </a:prstGeom>
              <a:solidFill>
                <a:srgbClr val="C7D3E6"/>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sp>
            <p:nvSpPr>
              <p:cNvPr id="107" name="Shape 107"/>
              <p:cNvSpPr/>
              <p:nvPr/>
            </p:nvSpPr>
            <p:spPr>
              <a:xfrm>
                <a:off x="4783024" y="330075"/>
                <a:ext cx="1699500" cy="1699500"/>
              </a:xfrm>
              <a:prstGeom prst="rtTriangle">
                <a:avLst/>
              </a:prstGeom>
              <a:solidFill>
                <a:srgbClr val="C7D3E6"/>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grpSp>
        <p:grpSp>
          <p:nvGrpSpPr>
            <p:cNvPr id="108" name="Shape 108"/>
            <p:cNvGrpSpPr/>
            <p:nvPr/>
          </p:nvGrpSpPr>
          <p:grpSpPr>
            <a:xfrm rot="10800000" flipH="1">
              <a:off x="-3" y="381007"/>
              <a:ext cx="7072430" cy="771743"/>
              <a:chOff x="-9092084" y="330075"/>
              <a:chExt cx="15574609" cy="1699501"/>
            </a:xfrm>
          </p:grpSpPr>
          <p:sp>
            <p:nvSpPr>
              <p:cNvPr id="109" name="Shape 109"/>
              <p:cNvSpPr/>
              <p:nvPr/>
            </p:nvSpPr>
            <p:spPr>
              <a:xfrm>
                <a:off x="-9092084" y="330076"/>
                <a:ext cx="13882200" cy="1699500"/>
              </a:xfrm>
              <a:prstGeom prst="rect">
                <a:avLst/>
              </a:prstGeom>
              <a:solidFill>
                <a:srgbClr val="3F5378"/>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sp>
            <p:nvSpPr>
              <p:cNvPr id="110" name="Shape 110"/>
              <p:cNvSpPr/>
              <p:nvPr/>
            </p:nvSpPr>
            <p:spPr>
              <a:xfrm>
                <a:off x="4783024" y="330075"/>
                <a:ext cx="1699500" cy="1699500"/>
              </a:xfrm>
              <a:prstGeom prst="rtTriangle">
                <a:avLst/>
              </a:prstGeom>
              <a:solidFill>
                <a:srgbClr val="3F5378"/>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grpSp>
      </p:grpSp>
      <p:grpSp>
        <p:nvGrpSpPr>
          <p:cNvPr id="111" name="Shape 111"/>
          <p:cNvGrpSpPr/>
          <p:nvPr/>
        </p:nvGrpSpPr>
        <p:grpSpPr>
          <a:xfrm>
            <a:off x="9262456" y="5963629"/>
            <a:ext cx="2937105" cy="894392"/>
            <a:chOff x="5575241" y="4472722"/>
            <a:chExt cx="2202829" cy="670794"/>
          </a:xfrm>
        </p:grpSpPr>
        <p:sp>
          <p:nvSpPr>
            <p:cNvPr id="112" name="Shape 112"/>
            <p:cNvSpPr/>
            <p:nvPr/>
          </p:nvSpPr>
          <p:spPr>
            <a:xfrm rot="10800000">
              <a:off x="5575241" y="4948333"/>
              <a:ext cx="394200" cy="131400"/>
            </a:xfrm>
            <a:prstGeom prst="triangle">
              <a:avLst>
                <a:gd name="adj" fmla="val 32425"/>
              </a:avLst>
            </a:prstGeom>
            <a:solidFill>
              <a:srgbClr val="D26F00"/>
            </a:solidFill>
            <a:ln>
              <a:noFill/>
            </a:ln>
          </p:spPr>
          <p:txBody>
            <a:bodyPr lIns="91425" tIns="91425" rIns="91425" bIns="91425" anchor="ctr" anchorCtr="0">
              <a:noAutofit/>
            </a:bodyPr>
            <a:lstStyle/>
            <a:p>
              <a:pPr lvl="0">
                <a:spcBef>
                  <a:spcPts val="0"/>
                </a:spcBef>
                <a:buNone/>
              </a:pPr>
              <a:endParaRPr sz="2400"/>
            </a:p>
          </p:txBody>
        </p:sp>
        <p:grpSp>
          <p:nvGrpSpPr>
            <p:cNvPr id="113" name="Shape 113"/>
            <p:cNvGrpSpPr/>
            <p:nvPr/>
          </p:nvGrpSpPr>
          <p:grpSpPr>
            <a:xfrm flipH="1">
              <a:off x="5734850" y="4472722"/>
              <a:ext cx="2040836" cy="670794"/>
              <a:chOff x="1297953" y="330075"/>
              <a:chExt cx="5169293" cy="1699505"/>
            </a:xfrm>
          </p:grpSpPr>
          <p:sp>
            <p:nvSpPr>
              <p:cNvPr id="114" name="Shape 114"/>
              <p:cNvSpPr/>
              <p:nvPr/>
            </p:nvSpPr>
            <p:spPr>
              <a:xfrm>
                <a:off x="1297953" y="330080"/>
                <a:ext cx="3476700" cy="1699500"/>
              </a:xfrm>
              <a:prstGeom prst="rect">
                <a:avLst/>
              </a:prstGeom>
              <a:solidFill>
                <a:srgbClr val="C7D3E6"/>
              </a:solidFill>
              <a:ln>
                <a:noFill/>
              </a:ln>
            </p:spPr>
            <p:txBody>
              <a:bodyPr lIns="91425" tIns="91425" rIns="91425" bIns="91425" anchor="ctr" anchorCtr="0">
                <a:noAutofit/>
              </a:bodyPr>
              <a:lstStyle/>
              <a:p>
                <a:pPr lvl="0" rtl="0">
                  <a:spcBef>
                    <a:spcPts val="0"/>
                  </a:spcBef>
                  <a:buNone/>
                </a:pPr>
                <a:endParaRPr sz="2400"/>
              </a:p>
            </p:txBody>
          </p:sp>
          <p:sp>
            <p:nvSpPr>
              <p:cNvPr id="115" name="Shape 115"/>
              <p:cNvSpPr/>
              <p:nvPr/>
            </p:nvSpPr>
            <p:spPr>
              <a:xfrm>
                <a:off x="4767747" y="330075"/>
                <a:ext cx="1699500" cy="1699500"/>
              </a:xfrm>
              <a:prstGeom prst="rtTriangle">
                <a:avLst/>
              </a:prstGeom>
              <a:solidFill>
                <a:srgbClr val="C7D3E6"/>
              </a:solidFill>
              <a:ln>
                <a:noFill/>
              </a:ln>
            </p:spPr>
            <p:txBody>
              <a:bodyPr lIns="91425" tIns="91425" rIns="91425" bIns="91425" anchor="ctr" anchorCtr="0">
                <a:noAutofit/>
              </a:bodyPr>
              <a:lstStyle/>
              <a:p>
                <a:pPr lvl="0">
                  <a:spcBef>
                    <a:spcPts val="0"/>
                  </a:spcBef>
                  <a:buNone/>
                </a:pPr>
                <a:endParaRPr sz="2400"/>
              </a:p>
            </p:txBody>
          </p:sp>
        </p:grpSp>
        <p:grpSp>
          <p:nvGrpSpPr>
            <p:cNvPr id="116" name="Shape 116"/>
            <p:cNvGrpSpPr/>
            <p:nvPr/>
          </p:nvGrpSpPr>
          <p:grpSpPr>
            <a:xfrm flipH="1">
              <a:off x="5578208" y="4646737"/>
              <a:ext cx="2199862" cy="304562"/>
              <a:chOff x="-5827152" y="330075"/>
              <a:chExt cx="12276018" cy="1699568"/>
            </a:xfrm>
          </p:grpSpPr>
          <p:sp>
            <p:nvSpPr>
              <p:cNvPr id="117" name="Shape 117"/>
              <p:cNvSpPr/>
              <p:nvPr/>
            </p:nvSpPr>
            <p:spPr>
              <a:xfrm>
                <a:off x="-5827152" y="330143"/>
                <a:ext cx="10612200" cy="1699500"/>
              </a:xfrm>
              <a:prstGeom prst="rect">
                <a:avLst/>
              </a:prstGeom>
              <a:solidFill>
                <a:srgbClr val="FF9800"/>
              </a:solidFill>
              <a:ln>
                <a:noFill/>
              </a:ln>
            </p:spPr>
            <p:txBody>
              <a:bodyPr lIns="91425" tIns="91425" rIns="91425" bIns="91425" anchor="ctr" anchorCtr="0">
                <a:noAutofit/>
              </a:bodyPr>
              <a:lstStyle/>
              <a:p>
                <a:pPr lvl="0" rtl="0">
                  <a:spcBef>
                    <a:spcPts val="0"/>
                  </a:spcBef>
                  <a:buNone/>
                </a:pPr>
                <a:endParaRPr sz="2400"/>
              </a:p>
            </p:txBody>
          </p:sp>
          <p:sp>
            <p:nvSpPr>
              <p:cNvPr id="118" name="Shape 118"/>
              <p:cNvSpPr/>
              <p:nvPr/>
            </p:nvSpPr>
            <p:spPr>
              <a:xfrm>
                <a:off x="4749365" y="330075"/>
                <a:ext cx="1699500" cy="1699500"/>
              </a:xfrm>
              <a:prstGeom prst="rtTriangle">
                <a:avLst/>
              </a:prstGeom>
              <a:solidFill>
                <a:srgbClr val="FF9800"/>
              </a:solidFill>
              <a:ln>
                <a:noFill/>
              </a:ln>
            </p:spPr>
            <p:txBody>
              <a:bodyPr lIns="91425" tIns="91425" rIns="91425" bIns="91425" anchor="ctr" anchorCtr="0">
                <a:noAutofit/>
              </a:bodyPr>
              <a:lstStyle/>
              <a:p>
                <a:pPr lvl="0">
                  <a:spcBef>
                    <a:spcPts val="0"/>
                  </a:spcBef>
                  <a:buNone/>
                </a:pPr>
                <a:endParaRPr sz="2400"/>
              </a:p>
            </p:txBody>
          </p:sp>
        </p:grpSp>
      </p:grpSp>
      <p:sp>
        <p:nvSpPr>
          <p:cNvPr id="119" name="Shape 119"/>
          <p:cNvSpPr txBox="1">
            <a:spLocks noGrp="1"/>
          </p:cNvSpPr>
          <p:nvPr>
            <p:ph type="title"/>
          </p:nvPr>
        </p:nvSpPr>
        <p:spPr>
          <a:xfrm>
            <a:off x="1085700" y="523433"/>
            <a:ext cx="7011200" cy="1021600"/>
          </a:xfrm>
          <a:prstGeom prst="rect">
            <a:avLst/>
          </a:prstGeom>
        </p:spPr>
        <p:txBody>
          <a:bodyPr lIns="91425" tIns="91425" rIns="91425" bIns="91425" anchor="ctr"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r>
              <a:rPr lang="fr-FR"/>
              <a:t>Modifiez le style du titre</a:t>
            </a:r>
            <a:endParaRPr/>
          </a:p>
        </p:txBody>
      </p:sp>
      <p:sp>
        <p:nvSpPr>
          <p:cNvPr id="120" name="Shape 120"/>
          <p:cNvSpPr txBox="1">
            <a:spLocks noGrp="1"/>
          </p:cNvSpPr>
          <p:nvPr>
            <p:ph type="body" idx="1"/>
          </p:nvPr>
        </p:nvSpPr>
        <p:spPr>
          <a:xfrm>
            <a:off x="1160600" y="2060100"/>
            <a:ext cx="2997200" cy="3613200"/>
          </a:xfrm>
          <a:prstGeom prst="rect">
            <a:avLst/>
          </a:prstGeom>
        </p:spPr>
        <p:txBody>
          <a:bodyPr lIns="91425" tIns="91425" rIns="91425" bIns="91425" anchor="t"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pPr lvl="0"/>
            <a:r>
              <a:rPr lang="fr-FR"/>
              <a:t>Modifier les styles du texte du masque</a:t>
            </a:r>
          </a:p>
        </p:txBody>
      </p:sp>
      <p:sp>
        <p:nvSpPr>
          <p:cNvPr id="121" name="Shape 121"/>
          <p:cNvSpPr txBox="1">
            <a:spLocks noGrp="1"/>
          </p:cNvSpPr>
          <p:nvPr>
            <p:ph type="body" idx="2"/>
          </p:nvPr>
        </p:nvSpPr>
        <p:spPr>
          <a:xfrm>
            <a:off x="4311516" y="2060100"/>
            <a:ext cx="2997200" cy="3613200"/>
          </a:xfrm>
          <a:prstGeom prst="rect">
            <a:avLst/>
          </a:prstGeom>
        </p:spPr>
        <p:txBody>
          <a:bodyPr lIns="91425" tIns="91425" rIns="91425" bIns="91425" anchor="t"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pPr lvl="0"/>
            <a:r>
              <a:rPr lang="fr-FR"/>
              <a:t>Modifier les styles du texte du masque</a:t>
            </a:r>
          </a:p>
        </p:txBody>
      </p:sp>
      <p:sp>
        <p:nvSpPr>
          <p:cNvPr id="122" name="Shape 122"/>
          <p:cNvSpPr txBox="1">
            <a:spLocks noGrp="1"/>
          </p:cNvSpPr>
          <p:nvPr>
            <p:ph type="body" idx="3"/>
          </p:nvPr>
        </p:nvSpPr>
        <p:spPr>
          <a:xfrm>
            <a:off x="7387532" y="2060100"/>
            <a:ext cx="2997200" cy="3613200"/>
          </a:xfrm>
          <a:prstGeom prst="rect">
            <a:avLst/>
          </a:prstGeom>
        </p:spPr>
        <p:txBody>
          <a:bodyPr lIns="91425" tIns="91425" rIns="91425" bIns="91425" anchor="t"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pPr lvl="0"/>
            <a:r>
              <a:rPr lang="fr-FR"/>
              <a:t>Modifier les styles du texte du masque</a:t>
            </a:r>
          </a:p>
        </p:txBody>
      </p:sp>
      <p:sp>
        <p:nvSpPr>
          <p:cNvPr id="123" name="Shape 123"/>
          <p:cNvSpPr txBox="1">
            <a:spLocks noGrp="1"/>
          </p:cNvSpPr>
          <p:nvPr>
            <p:ph type="sldNum" idx="12"/>
          </p:nvPr>
        </p:nvSpPr>
        <p:spPr>
          <a:xfrm>
            <a:off x="10157333" y="6182000"/>
            <a:ext cx="1983200" cy="420800"/>
          </a:xfrm>
          <a:prstGeom prst="rect">
            <a:avLst/>
          </a:prstGeom>
        </p:spPr>
        <p:txBody>
          <a:bodyPr lIns="91425" tIns="91425" rIns="91425" bIns="91425" anchor="ctr" anchorCtr="0">
            <a:noAutofit/>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915588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re seul">
    <p:spTree>
      <p:nvGrpSpPr>
        <p:cNvPr id="1" name="Shape 124"/>
        <p:cNvGrpSpPr/>
        <p:nvPr/>
      </p:nvGrpSpPr>
      <p:grpSpPr>
        <a:xfrm>
          <a:off x="0" y="0"/>
          <a:ext cx="0" cy="0"/>
          <a:chOff x="0" y="0"/>
          <a:chExt cx="0" cy="0"/>
        </a:xfrm>
      </p:grpSpPr>
      <p:grpSp>
        <p:nvGrpSpPr>
          <p:cNvPr id="125" name="Shape 125"/>
          <p:cNvGrpSpPr/>
          <p:nvPr/>
        </p:nvGrpSpPr>
        <p:grpSpPr>
          <a:xfrm>
            <a:off x="-4" y="53"/>
            <a:ext cx="9429907" cy="1769752"/>
            <a:chOff x="-3" y="40"/>
            <a:chExt cx="7072430" cy="1327314"/>
          </a:xfrm>
        </p:grpSpPr>
        <p:sp>
          <p:nvSpPr>
            <p:cNvPr id="126" name="Shape 126"/>
            <p:cNvSpPr/>
            <p:nvPr/>
          </p:nvSpPr>
          <p:spPr>
            <a:xfrm>
              <a:off x="6292649" y="126425"/>
              <a:ext cx="779700" cy="259800"/>
            </a:xfrm>
            <a:prstGeom prst="triangle">
              <a:avLst>
                <a:gd name="adj" fmla="val 32425"/>
              </a:avLst>
            </a:prstGeom>
            <a:solidFill>
              <a:srgbClr val="263248"/>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grpSp>
          <p:nvGrpSpPr>
            <p:cNvPr id="127" name="Shape 127"/>
            <p:cNvGrpSpPr/>
            <p:nvPr/>
          </p:nvGrpSpPr>
          <p:grpSpPr>
            <a:xfrm rot="10800000" flipH="1">
              <a:off x="2" y="40"/>
              <a:ext cx="6756167" cy="1327314"/>
              <a:chOff x="-2168137" y="330075"/>
              <a:chExt cx="8650662" cy="1699506"/>
            </a:xfrm>
          </p:grpSpPr>
          <p:sp>
            <p:nvSpPr>
              <p:cNvPr id="128" name="Shape 128"/>
              <p:cNvSpPr/>
              <p:nvPr/>
            </p:nvSpPr>
            <p:spPr>
              <a:xfrm>
                <a:off x="-2168137" y="330081"/>
                <a:ext cx="6958200" cy="1699500"/>
              </a:xfrm>
              <a:prstGeom prst="rect">
                <a:avLst/>
              </a:prstGeom>
              <a:solidFill>
                <a:srgbClr val="C7D3E6"/>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sp>
            <p:nvSpPr>
              <p:cNvPr id="129" name="Shape 129"/>
              <p:cNvSpPr/>
              <p:nvPr/>
            </p:nvSpPr>
            <p:spPr>
              <a:xfrm>
                <a:off x="4783024" y="330075"/>
                <a:ext cx="1699500" cy="1699500"/>
              </a:xfrm>
              <a:prstGeom prst="rtTriangle">
                <a:avLst/>
              </a:prstGeom>
              <a:solidFill>
                <a:srgbClr val="C7D3E6"/>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grpSp>
        <p:grpSp>
          <p:nvGrpSpPr>
            <p:cNvPr id="130" name="Shape 130"/>
            <p:cNvGrpSpPr/>
            <p:nvPr/>
          </p:nvGrpSpPr>
          <p:grpSpPr>
            <a:xfrm rot="10800000" flipH="1">
              <a:off x="-3" y="381007"/>
              <a:ext cx="7072430" cy="771743"/>
              <a:chOff x="-9092084" y="330075"/>
              <a:chExt cx="15574609" cy="1699501"/>
            </a:xfrm>
          </p:grpSpPr>
          <p:sp>
            <p:nvSpPr>
              <p:cNvPr id="131" name="Shape 131"/>
              <p:cNvSpPr/>
              <p:nvPr/>
            </p:nvSpPr>
            <p:spPr>
              <a:xfrm>
                <a:off x="-9092084" y="330076"/>
                <a:ext cx="13882200" cy="1699500"/>
              </a:xfrm>
              <a:prstGeom prst="rect">
                <a:avLst/>
              </a:prstGeom>
              <a:solidFill>
                <a:srgbClr val="3F5378"/>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sp>
            <p:nvSpPr>
              <p:cNvPr id="132" name="Shape 132"/>
              <p:cNvSpPr/>
              <p:nvPr/>
            </p:nvSpPr>
            <p:spPr>
              <a:xfrm>
                <a:off x="4783024" y="330075"/>
                <a:ext cx="1699500" cy="1699500"/>
              </a:xfrm>
              <a:prstGeom prst="rtTriangle">
                <a:avLst/>
              </a:prstGeom>
              <a:solidFill>
                <a:srgbClr val="3F5378"/>
              </a:solidFill>
              <a:ln>
                <a:noFill/>
              </a:ln>
            </p:spPr>
            <p:txBody>
              <a:bodyPr lIns="91425" tIns="91425" rIns="91425" bIns="91425" anchor="ctr" anchorCtr="0">
                <a:noAutofit/>
              </a:bodyPr>
              <a:lstStyle/>
              <a:p>
                <a:pPr lvl="0" rtl="0">
                  <a:spcBef>
                    <a:spcPts val="0"/>
                  </a:spcBef>
                  <a:buNone/>
                </a:pPr>
                <a:endParaRPr sz="2400">
                  <a:latin typeface="Arvo"/>
                  <a:ea typeface="Arvo"/>
                  <a:cs typeface="Arvo"/>
                  <a:sym typeface="Arvo"/>
                </a:endParaRPr>
              </a:p>
            </p:txBody>
          </p:sp>
        </p:grpSp>
      </p:grpSp>
      <p:grpSp>
        <p:nvGrpSpPr>
          <p:cNvPr id="133" name="Shape 133"/>
          <p:cNvGrpSpPr/>
          <p:nvPr/>
        </p:nvGrpSpPr>
        <p:grpSpPr>
          <a:xfrm>
            <a:off x="9262456" y="5963629"/>
            <a:ext cx="2937105" cy="894392"/>
            <a:chOff x="5575241" y="4472722"/>
            <a:chExt cx="2202829" cy="670794"/>
          </a:xfrm>
        </p:grpSpPr>
        <p:sp>
          <p:nvSpPr>
            <p:cNvPr id="134" name="Shape 134"/>
            <p:cNvSpPr/>
            <p:nvPr/>
          </p:nvSpPr>
          <p:spPr>
            <a:xfrm rot="10800000">
              <a:off x="5575241" y="4948333"/>
              <a:ext cx="394200" cy="131400"/>
            </a:xfrm>
            <a:prstGeom prst="triangle">
              <a:avLst>
                <a:gd name="adj" fmla="val 32425"/>
              </a:avLst>
            </a:prstGeom>
            <a:solidFill>
              <a:srgbClr val="D26F00"/>
            </a:solidFill>
            <a:ln>
              <a:noFill/>
            </a:ln>
          </p:spPr>
          <p:txBody>
            <a:bodyPr lIns="91425" tIns="91425" rIns="91425" bIns="91425" anchor="ctr" anchorCtr="0">
              <a:noAutofit/>
            </a:bodyPr>
            <a:lstStyle/>
            <a:p>
              <a:pPr lvl="0">
                <a:spcBef>
                  <a:spcPts val="0"/>
                </a:spcBef>
                <a:buNone/>
              </a:pPr>
              <a:endParaRPr sz="2400"/>
            </a:p>
          </p:txBody>
        </p:sp>
        <p:grpSp>
          <p:nvGrpSpPr>
            <p:cNvPr id="135" name="Shape 135"/>
            <p:cNvGrpSpPr/>
            <p:nvPr/>
          </p:nvGrpSpPr>
          <p:grpSpPr>
            <a:xfrm flipH="1">
              <a:off x="5734850" y="4472722"/>
              <a:ext cx="2040836" cy="670794"/>
              <a:chOff x="1297953" y="330075"/>
              <a:chExt cx="5169293" cy="1699505"/>
            </a:xfrm>
          </p:grpSpPr>
          <p:sp>
            <p:nvSpPr>
              <p:cNvPr id="136" name="Shape 136"/>
              <p:cNvSpPr/>
              <p:nvPr/>
            </p:nvSpPr>
            <p:spPr>
              <a:xfrm>
                <a:off x="1297953" y="330080"/>
                <a:ext cx="3476700" cy="1699500"/>
              </a:xfrm>
              <a:prstGeom prst="rect">
                <a:avLst/>
              </a:prstGeom>
              <a:solidFill>
                <a:srgbClr val="C7D3E6"/>
              </a:solidFill>
              <a:ln>
                <a:noFill/>
              </a:ln>
            </p:spPr>
            <p:txBody>
              <a:bodyPr lIns="91425" tIns="91425" rIns="91425" bIns="91425" anchor="ctr" anchorCtr="0">
                <a:noAutofit/>
              </a:bodyPr>
              <a:lstStyle/>
              <a:p>
                <a:pPr lvl="0" rtl="0">
                  <a:spcBef>
                    <a:spcPts val="0"/>
                  </a:spcBef>
                  <a:buNone/>
                </a:pPr>
                <a:endParaRPr sz="2400"/>
              </a:p>
            </p:txBody>
          </p:sp>
          <p:sp>
            <p:nvSpPr>
              <p:cNvPr id="137" name="Shape 137"/>
              <p:cNvSpPr/>
              <p:nvPr/>
            </p:nvSpPr>
            <p:spPr>
              <a:xfrm>
                <a:off x="4767747" y="330075"/>
                <a:ext cx="1699500" cy="1699500"/>
              </a:xfrm>
              <a:prstGeom prst="rtTriangle">
                <a:avLst/>
              </a:prstGeom>
              <a:solidFill>
                <a:srgbClr val="C7D3E6"/>
              </a:solidFill>
              <a:ln>
                <a:noFill/>
              </a:ln>
            </p:spPr>
            <p:txBody>
              <a:bodyPr lIns="91425" tIns="91425" rIns="91425" bIns="91425" anchor="ctr" anchorCtr="0">
                <a:noAutofit/>
              </a:bodyPr>
              <a:lstStyle/>
              <a:p>
                <a:pPr lvl="0">
                  <a:spcBef>
                    <a:spcPts val="0"/>
                  </a:spcBef>
                  <a:buNone/>
                </a:pPr>
                <a:endParaRPr sz="2400"/>
              </a:p>
            </p:txBody>
          </p:sp>
        </p:grpSp>
        <p:grpSp>
          <p:nvGrpSpPr>
            <p:cNvPr id="138" name="Shape 138"/>
            <p:cNvGrpSpPr/>
            <p:nvPr/>
          </p:nvGrpSpPr>
          <p:grpSpPr>
            <a:xfrm flipH="1">
              <a:off x="5578208" y="4646737"/>
              <a:ext cx="2199862" cy="304562"/>
              <a:chOff x="-5827152" y="330075"/>
              <a:chExt cx="12276018" cy="1699568"/>
            </a:xfrm>
          </p:grpSpPr>
          <p:sp>
            <p:nvSpPr>
              <p:cNvPr id="139" name="Shape 139"/>
              <p:cNvSpPr/>
              <p:nvPr/>
            </p:nvSpPr>
            <p:spPr>
              <a:xfrm>
                <a:off x="-5827152" y="330143"/>
                <a:ext cx="10612200" cy="1699500"/>
              </a:xfrm>
              <a:prstGeom prst="rect">
                <a:avLst/>
              </a:prstGeom>
              <a:solidFill>
                <a:srgbClr val="FF9800"/>
              </a:solidFill>
              <a:ln>
                <a:noFill/>
              </a:ln>
            </p:spPr>
            <p:txBody>
              <a:bodyPr lIns="91425" tIns="91425" rIns="91425" bIns="91425" anchor="ctr" anchorCtr="0">
                <a:noAutofit/>
              </a:bodyPr>
              <a:lstStyle/>
              <a:p>
                <a:pPr lvl="0" rtl="0">
                  <a:spcBef>
                    <a:spcPts val="0"/>
                  </a:spcBef>
                  <a:buNone/>
                </a:pPr>
                <a:endParaRPr sz="2400"/>
              </a:p>
            </p:txBody>
          </p:sp>
          <p:sp>
            <p:nvSpPr>
              <p:cNvPr id="140" name="Shape 140"/>
              <p:cNvSpPr/>
              <p:nvPr/>
            </p:nvSpPr>
            <p:spPr>
              <a:xfrm>
                <a:off x="4749365" y="330075"/>
                <a:ext cx="1699500" cy="1699500"/>
              </a:xfrm>
              <a:prstGeom prst="rtTriangle">
                <a:avLst/>
              </a:prstGeom>
              <a:solidFill>
                <a:srgbClr val="FF9800"/>
              </a:solidFill>
              <a:ln>
                <a:noFill/>
              </a:ln>
            </p:spPr>
            <p:txBody>
              <a:bodyPr lIns="91425" tIns="91425" rIns="91425" bIns="91425" anchor="ctr" anchorCtr="0">
                <a:noAutofit/>
              </a:bodyPr>
              <a:lstStyle/>
              <a:p>
                <a:pPr lvl="0">
                  <a:spcBef>
                    <a:spcPts val="0"/>
                  </a:spcBef>
                  <a:buNone/>
                </a:pPr>
                <a:endParaRPr sz="2400"/>
              </a:p>
            </p:txBody>
          </p:sp>
        </p:grpSp>
      </p:grpSp>
      <p:sp>
        <p:nvSpPr>
          <p:cNvPr id="141" name="Shape 141"/>
          <p:cNvSpPr txBox="1">
            <a:spLocks noGrp="1"/>
          </p:cNvSpPr>
          <p:nvPr>
            <p:ph type="title"/>
          </p:nvPr>
        </p:nvSpPr>
        <p:spPr>
          <a:xfrm>
            <a:off x="1085700" y="523433"/>
            <a:ext cx="7011200" cy="1021600"/>
          </a:xfrm>
          <a:prstGeom prst="rect">
            <a:avLst/>
          </a:prstGeom>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fr-FR"/>
              <a:t>Modifiez le style du titre</a:t>
            </a:r>
            <a:endParaRPr/>
          </a:p>
        </p:txBody>
      </p:sp>
      <p:sp>
        <p:nvSpPr>
          <p:cNvPr id="142" name="Shape 142"/>
          <p:cNvSpPr txBox="1">
            <a:spLocks noGrp="1"/>
          </p:cNvSpPr>
          <p:nvPr>
            <p:ph type="sldNum" idx="12"/>
          </p:nvPr>
        </p:nvSpPr>
        <p:spPr>
          <a:xfrm>
            <a:off x="10157333" y="6182000"/>
            <a:ext cx="1983200" cy="420800"/>
          </a:xfrm>
          <a:prstGeom prst="rect">
            <a:avLst/>
          </a:prstGeom>
        </p:spPr>
        <p:txBody>
          <a:bodyPr lIns="91425" tIns="91425" rIns="91425" bIns="91425" anchor="ctr" anchorCtr="0">
            <a:noAutofit/>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05605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aption">
    <p:spTree>
      <p:nvGrpSpPr>
        <p:cNvPr id="1" name="Shape 143"/>
        <p:cNvGrpSpPr/>
        <p:nvPr/>
      </p:nvGrpSpPr>
      <p:grpSpPr>
        <a:xfrm>
          <a:off x="0" y="0"/>
          <a:ext cx="0" cy="0"/>
          <a:chOff x="0" y="0"/>
          <a:chExt cx="0" cy="0"/>
        </a:xfrm>
      </p:grpSpPr>
      <p:grpSp>
        <p:nvGrpSpPr>
          <p:cNvPr id="144" name="Shape 144"/>
          <p:cNvGrpSpPr/>
          <p:nvPr/>
        </p:nvGrpSpPr>
        <p:grpSpPr>
          <a:xfrm>
            <a:off x="3288183" y="5963629"/>
            <a:ext cx="8915767" cy="894392"/>
            <a:chOff x="5589287" y="4472722"/>
            <a:chExt cx="6686825" cy="670794"/>
          </a:xfrm>
        </p:grpSpPr>
        <p:sp>
          <p:nvSpPr>
            <p:cNvPr id="145" name="Shape 145"/>
            <p:cNvSpPr/>
            <p:nvPr/>
          </p:nvSpPr>
          <p:spPr>
            <a:xfrm rot="10800000">
              <a:off x="5589287" y="4948333"/>
              <a:ext cx="394200" cy="131400"/>
            </a:xfrm>
            <a:prstGeom prst="triangle">
              <a:avLst>
                <a:gd name="adj" fmla="val 32425"/>
              </a:avLst>
            </a:prstGeom>
            <a:solidFill>
              <a:srgbClr val="D26F00"/>
            </a:solidFill>
            <a:ln>
              <a:noFill/>
            </a:ln>
          </p:spPr>
          <p:txBody>
            <a:bodyPr lIns="91425" tIns="91425" rIns="91425" bIns="91425" anchor="ctr" anchorCtr="0">
              <a:noAutofit/>
            </a:bodyPr>
            <a:lstStyle/>
            <a:p>
              <a:pPr lvl="0">
                <a:spcBef>
                  <a:spcPts val="0"/>
                </a:spcBef>
                <a:buNone/>
              </a:pPr>
              <a:endParaRPr sz="2400"/>
            </a:p>
          </p:txBody>
        </p:sp>
        <p:grpSp>
          <p:nvGrpSpPr>
            <p:cNvPr id="146" name="Shape 146"/>
            <p:cNvGrpSpPr/>
            <p:nvPr/>
          </p:nvGrpSpPr>
          <p:grpSpPr>
            <a:xfrm flipH="1">
              <a:off x="5748896" y="4472722"/>
              <a:ext cx="6527216" cy="670794"/>
              <a:chOff x="-10101301" y="330075"/>
              <a:chExt cx="16532971" cy="1699505"/>
            </a:xfrm>
          </p:grpSpPr>
          <p:sp>
            <p:nvSpPr>
              <p:cNvPr id="147" name="Shape 147"/>
              <p:cNvSpPr/>
              <p:nvPr/>
            </p:nvSpPr>
            <p:spPr>
              <a:xfrm>
                <a:off x="-10101301" y="330080"/>
                <a:ext cx="14846400" cy="1699500"/>
              </a:xfrm>
              <a:prstGeom prst="rect">
                <a:avLst/>
              </a:prstGeom>
              <a:solidFill>
                <a:srgbClr val="C7D3E6"/>
              </a:solidFill>
              <a:ln>
                <a:noFill/>
              </a:ln>
            </p:spPr>
            <p:txBody>
              <a:bodyPr lIns="91425" tIns="91425" rIns="91425" bIns="91425" anchor="ctr" anchorCtr="0">
                <a:noAutofit/>
              </a:bodyPr>
              <a:lstStyle/>
              <a:p>
                <a:pPr lvl="0" rtl="0">
                  <a:spcBef>
                    <a:spcPts val="0"/>
                  </a:spcBef>
                  <a:buNone/>
                </a:pPr>
                <a:endParaRPr sz="2400"/>
              </a:p>
            </p:txBody>
          </p:sp>
          <p:sp>
            <p:nvSpPr>
              <p:cNvPr id="148" name="Shape 148"/>
              <p:cNvSpPr/>
              <p:nvPr/>
            </p:nvSpPr>
            <p:spPr>
              <a:xfrm>
                <a:off x="4732169" y="330075"/>
                <a:ext cx="1699500" cy="1699500"/>
              </a:xfrm>
              <a:prstGeom prst="rtTriangle">
                <a:avLst/>
              </a:prstGeom>
              <a:solidFill>
                <a:srgbClr val="C7D3E6"/>
              </a:solidFill>
              <a:ln>
                <a:noFill/>
              </a:ln>
            </p:spPr>
            <p:txBody>
              <a:bodyPr lIns="91425" tIns="91425" rIns="91425" bIns="91425" anchor="ctr" anchorCtr="0">
                <a:noAutofit/>
              </a:bodyPr>
              <a:lstStyle/>
              <a:p>
                <a:pPr lvl="0">
                  <a:spcBef>
                    <a:spcPts val="0"/>
                  </a:spcBef>
                  <a:buNone/>
                </a:pPr>
                <a:endParaRPr sz="2400"/>
              </a:p>
            </p:txBody>
          </p:sp>
        </p:grpSp>
        <p:grpSp>
          <p:nvGrpSpPr>
            <p:cNvPr id="149" name="Shape 149"/>
            <p:cNvGrpSpPr/>
            <p:nvPr/>
          </p:nvGrpSpPr>
          <p:grpSpPr>
            <a:xfrm flipH="1">
              <a:off x="5592254" y="4646737"/>
              <a:ext cx="6682918" cy="304562"/>
              <a:chOff x="-30922586" y="330075"/>
              <a:chExt cx="37293070" cy="1699568"/>
            </a:xfrm>
          </p:grpSpPr>
          <p:sp>
            <p:nvSpPr>
              <p:cNvPr id="150" name="Shape 150"/>
              <p:cNvSpPr/>
              <p:nvPr/>
            </p:nvSpPr>
            <p:spPr>
              <a:xfrm>
                <a:off x="-30922586" y="330143"/>
                <a:ext cx="35588100" cy="1699500"/>
              </a:xfrm>
              <a:prstGeom prst="rect">
                <a:avLst/>
              </a:prstGeom>
              <a:solidFill>
                <a:srgbClr val="FF9800"/>
              </a:solidFill>
              <a:ln>
                <a:noFill/>
              </a:ln>
            </p:spPr>
            <p:txBody>
              <a:bodyPr lIns="91425" tIns="91425" rIns="91425" bIns="91425" anchor="ctr" anchorCtr="0">
                <a:noAutofit/>
              </a:bodyPr>
              <a:lstStyle/>
              <a:p>
                <a:pPr lvl="0" rtl="0">
                  <a:spcBef>
                    <a:spcPts val="0"/>
                  </a:spcBef>
                  <a:buNone/>
                </a:pPr>
                <a:endParaRPr sz="2400"/>
              </a:p>
            </p:txBody>
          </p:sp>
          <p:sp>
            <p:nvSpPr>
              <p:cNvPr id="151" name="Shape 151"/>
              <p:cNvSpPr/>
              <p:nvPr/>
            </p:nvSpPr>
            <p:spPr>
              <a:xfrm>
                <a:off x="4670983" y="330075"/>
                <a:ext cx="1699500" cy="1699500"/>
              </a:xfrm>
              <a:prstGeom prst="rtTriangle">
                <a:avLst/>
              </a:prstGeom>
              <a:solidFill>
                <a:srgbClr val="FF9800"/>
              </a:solidFill>
              <a:ln>
                <a:noFill/>
              </a:ln>
            </p:spPr>
            <p:txBody>
              <a:bodyPr lIns="91425" tIns="91425" rIns="91425" bIns="91425" anchor="ctr" anchorCtr="0">
                <a:noAutofit/>
              </a:bodyPr>
              <a:lstStyle/>
              <a:p>
                <a:pPr lvl="0">
                  <a:spcBef>
                    <a:spcPts val="0"/>
                  </a:spcBef>
                  <a:buNone/>
                </a:pPr>
                <a:endParaRPr sz="2400"/>
              </a:p>
            </p:txBody>
          </p:sp>
        </p:grpSp>
      </p:grpSp>
      <p:sp>
        <p:nvSpPr>
          <p:cNvPr id="152" name="Shape 152"/>
          <p:cNvSpPr txBox="1">
            <a:spLocks noGrp="1"/>
          </p:cNvSpPr>
          <p:nvPr>
            <p:ph type="body" idx="1"/>
          </p:nvPr>
        </p:nvSpPr>
        <p:spPr>
          <a:xfrm>
            <a:off x="3577067" y="6182000"/>
            <a:ext cx="8005600" cy="420800"/>
          </a:xfrm>
          <a:prstGeom prst="rect">
            <a:avLst/>
          </a:prstGeom>
        </p:spPr>
        <p:txBody>
          <a:bodyPr lIns="91425" tIns="91425" rIns="91425" bIns="91425" anchor="ctr" anchorCtr="0"/>
          <a:lstStyle>
            <a:lvl1pPr lvl="0">
              <a:spcBef>
                <a:spcPts val="0"/>
              </a:spcBef>
              <a:spcAft>
                <a:spcPts val="0"/>
              </a:spcAft>
              <a:buSzPct val="100000"/>
              <a:buNone/>
              <a:defRPr sz="1733"/>
            </a:lvl1pPr>
          </a:lstStyle>
          <a:p>
            <a:pPr lvl="0"/>
            <a:r>
              <a:rPr lang="fr-FR"/>
              <a:t>Modifier les styles du texte du masque</a:t>
            </a:r>
          </a:p>
        </p:txBody>
      </p:sp>
      <p:sp>
        <p:nvSpPr>
          <p:cNvPr id="153" name="Shape 153"/>
          <p:cNvSpPr txBox="1">
            <a:spLocks noGrp="1"/>
          </p:cNvSpPr>
          <p:nvPr>
            <p:ph type="sldNum" idx="12"/>
          </p:nvPr>
        </p:nvSpPr>
        <p:spPr>
          <a:xfrm>
            <a:off x="10157333" y="6182000"/>
            <a:ext cx="1983200" cy="420800"/>
          </a:xfrm>
          <a:prstGeom prst="rect">
            <a:avLst/>
          </a:prstGeom>
        </p:spPr>
        <p:txBody>
          <a:bodyPr lIns="91425" tIns="91425" rIns="91425" bIns="91425" anchor="ctr" anchorCtr="0">
            <a:noAutofit/>
          </a:bodyPr>
          <a:lstStyle/>
          <a:p>
            <a:fld id="{D57F1E4F-1CFF-5643-939E-02111984F565}" type="slidenum">
              <a:rPr lang="en-US" smtClean="0"/>
              <a:t>‹#›</a:t>
            </a:fld>
            <a:endParaRPr lang="en-US" dirty="0"/>
          </a:p>
        </p:txBody>
      </p:sp>
      <p:grpSp>
        <p:nvGrpSpPr>
          <p:cNvPr id="154" name="Shape 154"/>
          <p:cNvGrpSpPr/>
          <p:nvPr/>
        </p:nvGrpSpPr>
        <p:grpSpPr>
          <a:xfrm rot="10800000">
            <a:off x="-10" y="-3"/>
            <a:ext cx="2937105" cy="894392"/>
            <a:chOff x="5575241" y="4472722"/>
            <a:chExt cx="2202829" cy="670794"/>
          </a:xfrm>
        </p:grpSpPr>
        <p:sp>
          <p:nvSpPr>
            <p:cNvPr id="155" name="Shape 155"/>
            <p:cNvSpPr/>
            <p:nvPr/>
          </p:nvSpPr>
          <p:spPr>
            <a:xfrm rot="10800000">
              <a:off x="5575241" y="4948333"/>
              <a:ext cx="394200" cy="131400"/>
            </a:xfrm>
            <a:prstGeom prst="triangle">
              <a:avLst>
                <a:gd name="adj" fmla="val 32425"/>
              </a:avLst>
            </a:prstGeom>
            <a:solidFill>
              <a:srgbClr val="263248"/>
            </a:solidFill>
            <a:ln>
              <a:noFill/>
            </a:ln>
          </p:spPr>
          <p:txBody>
            <a:bodyPr lIns="91425" tIns="91425" rIns="91425" bIns="91425" anchor="ctr" anchorCtr="0">
              <a:noAutofit/>
            </a:bodyPr>
            <a:lstStyle/>
            <a:p>
              <a:pPr lvl="0">
                <a:spcBef>
                  <a:spcPts val="0"/>
                </a:spcBef>
                <a:buNone/>
              </a:pPr>
              <a:endParaRPr sz="2400"/>
            </a:p>
          </p:txBody>
        </p:sp>
        <p:grpSp>
          <p:nvGrpSpPr>
            <p:cNvPr id="156" name="Shape 156"/>
            <p:cNvGrpSpPr/>
            <p:nvPr/>
          </p:nvGrpSpPr>
          <p:grpSpPr>
            <a:xfrm flipH="1">
              <a:off x="5734850" y="4472722"/>
              <a:ext cx="2040836" cy="670794"/>
              <a:chOff x="1297953" y="330075"/>
              <a:chExt cx="5169293" cy="1699505"/>
            </a:xfrm>
          </p:grpSpPr>
          <p:sp>
            <p:nvSpPr>
              <p:cNvPr id="157" name="Shape 157"/>
              <p:cNvSpPr/>
              <p:nvPr/>
            </p:nvSpPr>
            <p:spPr>
              <a:xfrm>
                <a:off x="1297953" y="330080"/>
                <a:ext cx="3476700" cy="1699500"/>
              </a:xfrm>
              <a:prstGeom prst="rect">
                <a:avLst/>
              </a:prstGeom>
              <a:solidFill>
                <a:srgbClr val="C7D3E6"/>
              </a:solidFill>
              <a:ln>
                <a:noFill/>
              </a:ln>
            </p:spPr>
            <p:txBody>
              <a:bodyPr lIns="91425" tIns="91425" rIns="91425" bIns="91425" anchor="ctr" anchorCtr="0">
                <a:noAutofit/>
              </a:bodyPr>
              <a:lstStyle/>
              <a:p>
                <a:pPr lvl="0" rtl="0">
                  <a:spcBef>
                    <a:spcPts val="0"/>
                  </a:spcBef>
                  <a:buNone/>
                </a:pPr>
                <a:endParaRPr sz="2400"/>
              </a:p>
            </p:txBody>
          </p:sp>
          <p:sp>
            <p:nvSpPr>
              <p:cNvPr id="158" name="Shape 158"/>
              <p:cNvSpPr/>
              <p:nvPr/>
            </p:nvSpPr>
            <p:spPr>
              <a:xfrm>
                <a:off x="4767747" y="330075"/>
                <a:ext cx="1699500" cy="1699500"/>
              </a:xfrm>
              <a:prstGeom prst="rtTriangle">
                <a:avLst/>
              </a:prstGeom>
              <a:solidFill>
                <a:srgbClr val="C7D3E6"/>
              </a:solidFill>
              <a:ln>
                <a:noFill/>
              </a:ln>
            </p:spPr>
            <p:txBody>
              <a:bodyPr lIns="91425" tIns="91425" rIns="91425" bIns="91425" anchor="ctr" anchorCtr="0">
                <a:noAutofit/>
              </a:bodyPr>
              <a:lstStyle/>
              <a:p>
                <a:pPr lvl="0">
                  <a:spcBef>
                    <a:spcPts val="0"/>
                  </a:spcBef>
                  <a:buNone/>
                </a:pPr>
                <a:endParaRPr sz="2400"/>
              </a:p>
            </p:txBody>
          </p:sp>
        </p:grpSp>
        <p:grpSp>
          <p:nvGrpSpPr>
            <p:cNvPr id="159" name="Shape 159"/>
            <p:cNvGrpSpPr/>
            <p:nvPr/>
          </p:nvGrpSpPr>
          <p:grpSpPr>
            <a:xfrm flipH="1">
              <a:off x="5578208" y="4646737"/>
              <a:ext cx="2199862" cy="304562"/>
              <a:chOff x="-5827152" y="330075"/>
              <a:chExt cx="12276018" cy="1699568"/>
            </a:xfrm>
          </p:grpSpPr>
          <p:sp>
            <p:nvSpPr>
              <p:cNvPr id="160" name="Shape 160"/>
              <p:cNvSpPr/>
              <p:nvPr/>
            </p:nvSpPr>
            <p:spPr>
              <a:xfrm>
                <a:off x="-5827152" y="330143"/>
                <a:ext cx="10612200" cy="1699500"/>
              </a:xfrm>
              <a:prstGeom prst="rect">
                <a:avLst/>
              </a:prstGeom>
              <a:solidFill>
                <a:srgbClr val="3F5378"/>
              </a:solidFill>
              <a:ln>
                <a:noFill/>
              </a:ln>
            </p:spPr>
            <p:txBody>
              <a:bodyPr lIns="91425" tIns="91425" rIns="91425" bIns="91425" anchor="ctr" anchorCtr="0">
                <a:noAutofit/>
              </a:bodyPr>
              <a:lstStyle/>
              <a:p>
                <a:pPr lvl="0" rtl="0">
                  <a:spcBef>
                    <a:spcPts val="0"/>
                  </a:spcBef>
                  <a:buNone/>
                </a:pPr>
                <a:endParaRPr sz="2400"/>
              </a:p>
            </p:txBody>
          </p:sp>
          <p:sp>
            <p:nvSpPr>
              <p:cNvPr id="161" name="Shape 161"/>
              <p:cNvSpPr/>
              <p:nvPr/>
            </p:nvSpPr>
            <p:spPr>
              <a:xfrm>
                <a:off x="4749365" y="330075"/>
                <a:ext cx="1699500" cy="1699500"/>
              </a:xfrm>
              <a:prstGeom prst="rtTriangle">
                <a:avLst/>
              </a:prstGeom>
              <a:solidFill>
                <a:srgbClr val="3F5378"/>
              </a:solidFill>
              <a:ln>
                <a:noFill/>
              </a:ln>
            </p:spPr>
            <p:txBody>
              <a:bodyPr lIns="91425" tIns="91425" rIns="91425" bIns="91425" anchor="ctr" anchorCtr="0">
                <a:noAutofit/>
              </a:bodyPr>
              <a:lstStyle/>
              <a:p>
                <a:pPr lvl="0">
                  <a:spcBef>
                    <a:spcPts val="0"/>
                  </a:spcBef>
                  <a:buNone/>
                </a:pPr>
                <a:endParaRPr sz="2400"/>
              </a:p>
            </p:txBody>
          </p:sp>
        </p:grpSp>
      </p:grpSp>
    </p:spTree>
    <p:extLst>
      <p:ext uri="{BB962C8B-B14F-4D97-AF65-F5344CB8AC3E}">
        <p14:creationId xmlns:p14="http://schemas.microsoft.com/office/powerpoint/2010/main" val="5116592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62"/>
        <p:cNvGrpSpPr/>
        <p:nvPr/>
      </p:nvGrpSpPr>
      <p:grpSpPr>
        <a:xfrm>
          <a:off x="0" y="0"/>
          <a:ext cx="0" cy="0"/>
          <a:chOff x="0" y="0"/>
          <a:chExt cx="0" cy="0"/>
        </a:xfrm>
      </p:grpSpPr>
      <p:sp>
        <p:nvSpPr>
          <p:cNvPr id="163" name="Shape 163"/>
          <p:cNvSpPr txBox="1">
            <a:spLocks noGrp="1"/>
          </p:cNvSpPr>
          <p:nvPr>
            <p:ph type="sldNum" idx="12"/>
          </p:nvPr>
        </p:nvSpPr>
        <p:spPr>
          <a:xfrm>
            <a:off x="10157333" y="6182000"/>
            <a:ext cx="1983200" cy="420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grpSp>
        <p:nvGrpSpPr>
          <p:cNvPr id="164" name="Shape 164"/>
          <p:cNvGrpSpPr/>
          <p:nvPr userDrawn="1"/>
        </p:nvGrpSpPr>
        <p:grpSpPr>
          <a:xfrm>
            <a:off x="9262456" y="5963629"/>
            <a:ext cx="2937105" cy="894392"/>
            <a:chOff x="5575241" y="4472722"/>
            <a:chExt cx="2202829" cy="670794"/>
          </a:xfrm>
        </p:grpSpPr>
        <p:sp>
          <p:nvSpPr>
            <p:cNvPr id="165" name="Shape 165"/>
            <p:cNvSpPr/>
            <p:nvPr/>
          </p:nvSpPr>
          <p:spPr>
            <a:xfrm rot="10800000">
              <a:off x="5575241" y="4948333"/>
              <a:ext cx="394200" cy="131400"/>
            </a:xfrm>
            <a:prstGeom prst="triangle">
              <a:avLst>
                <a:gd name="adj" fmla="val 32425"/>
              </a:avLst>
            </a:prstGeom>
            <a:solidFill>
              <a:srgbClr val="D26F00"/>
            </a:solidFill>
            <a:ln>
              <a:noFill/>
            </a:ln>
          </p:spPr>
          <p:txBody>
            <a:bodyPr lIns="91425" tIns="91425" rIns="91425" bIns="91425" anchor="ctr" anchorCtr="0">
              <a:noAutofit/>
            </a:bodyPr>
            <a:lstStyle/>
            <a:p>
              <a:pPr lvl="0">
                <a:spcBef>
                  <a:spcPts val="0"/>
                </a:spcBef>
                <a:buNone/>
              </a:pPr>
              <a:endParaRPr sz="1867"/>
            </a:p>
          </p:txBody>
        </p:sp>
        <p:grpSp>
          <p:nvGrpSpPr>
            <p:cNvPr id="166" name="Shape 166"/>
            <p:cNvGrpSpPr/>
            <p:nvPr/>
          </p:nvGrpSpPr>
          <p:grpSpPr>
            <a:xfrm flipH="1">
              <a:off x="5734850" y="4472722"/>
              <a:ext cx="2040836" cy="670794"/>
              <a:chOff x="1297953" y="330075"/>
              <a:chExt cx="5169293" cy="1699505"/>
            </a:xfrm>
          </p:grpSpPr>
          <p:sp>
            <p:nvSpPr>
              <p:cNvPr id="167" name="Shape 167"/>
              <p:cNvSpPr/>
              <p:nvPr/>
            </p:nvSpPr>
            <p:spPr>
              <a:xfrm>
                <a:off x="1297953" y="330080"/>
                <a:ext cx="3476700" cy="1699500"/>
              </a:xfrm>
              <a:prstGeom prst="rect">
                <a:avLst/>
              </a:prstGeom>
              <a:solidFill>
                <a:srgbClr val="C7D3E6"/>
              </a:solidFill>
              <a:ln>
                <a:noFill/>
              </a:ln>
            </p:spPr>
            <p:txBody>
              <a:bodyPr lIns="91425" tIns="91425" rIns="91425" bIns="91425" anchor="ctr" anchorCtr="0">
                <a:noAutofit/>
              </a:bodyPr>
              <a:lstStyle/>
              <a:p>
                <a:pPr lvl="0" rtl="0">
                  <a:spcBef>
                    <a:spcPts val="0"/>
                  </a:spcBef>
                  <a:buNone/>
                </a:pPr>
                <a:endParaRPr sz="1867"/>
              </a:p>
            </p:txBody>
          </p:sp>
          <p:sp>
            <p:nvSpPr>
              <p:cNvPr id="168" name="Shape 168"/>
              <p:cNvSpPr/>
              <p:nvPr/>
            </p:nvSpPr>
            <p:spPr>
              <a:xfrm>
                <a:off x="4767747" y="330075"/>
                <a:ext cx="1699500" cy="1699500"/>
              </a:xfrm>
              <a:prstGeom prst="rtTriangle">
                <a:avLst/>
              </a:prstGeom>
              <a:solidFill>
                <a:srgbClr val="C7D3E6"/>
              </a:solidFill>
              <a:ln>
                <a:noFill/>
              </a:ln>
            </p:spPr>
            <p:txBody>
              <a:bodyPr lIns="91425" tIns="91425" rIns="91425" bIns="91425" anchor="ctr" anchorCtr="0">
                <a:noAutofit/>
              </a:bodyPr>
              <a:lstStyle/>
              <a:p>
                <a:pPr lvl="0">
                  <a:spcBef>
                    <a:spcPts val="0"/>
                  </a:spcBef>
                  <a:buNone/>
                </a:pPr>
                <a:endParaRPr sz="1867"/>
              </a:p>
            </p:txBody>
          </p:sp>
        </p:grpSp>
        <p:grpSp>
          <p:nvGrpSpPr>
            <p:cNvPr id="169" name="Shape 169"/>
            <p:cNvGrpSpPr/>
            <p:nvPr/>
          </p:nvGrpSpPr>
          <p:grpSpPr>
            <a:xfrm flipH="1">
              <a:off x="5578208" y="4646737"/>
              <a:ext cx="2199862" cy="304562"/>
              <a:chOff x="-5827152" y="330075"/>
              <a:chExt cx="12276018" cy="1699568"/>
            </a:xfrm>
          </p:grpSpPr>
          <p:sp>
            <p:nvSpPr>
              <p:cNvPr id="170" name="Shape 170"/>
              <p:cNvSpPr/>
              <p:nvPr/>
            </p:nvSpPr>
            <p:spPr>
              <a:xfrm>
                <a:off x="-5827152" y="330143"/>
                <a:ext cx="10612200" cy="1699500"/>
              </a:xfrm>
              <a:prstGeom prst="rect">
                <a:avLst/>
              </a:prstGeom>
              <a:solidFill>
                <a:srgbClr val="FF9800"/>
              </a:solidFill>
              <a:ln>
                <a:noFill/>
              </a:ln>
            </p:spPr>
            <p:txBody>
              <a:bodyPr lIns="91425" tIns="91425" rIns="91425" bIns="91425" anchor="ctr" anchorCtr="0">
                <a:noAutofit/>
              </a:bodyPr>
              <a:lstStyle/>
              <a:p>
                <a:pPr lvl="0" rtl="0">
                  <a:spcBef>
                    <a:spcPts val="0"/>
                  </a:spcBef>
                  <a:buNone/>
                </a:pPr>
                <a:endParaRPr sz="1867"/>
              </a:p>
            </p:txBody>
          </p:sp>
          <p:sp>
            <p:nvSpPr>
              <p:cNvPr id="171" name="Shape 171"/>
              <p:cNvSpPr/>
              <p:nvPr/>
            </p:nvSpPr>
            <p:spPr>
              <a:xfrm>
                <a:off x="4749365" y="330075"/>
                <a:ext cx="1699500" cy="1699500"/>
              </a:xfrm>
              <a:prstGeom prst="rtTriangle">
                <a:avLst/>
              </a:prstGeom>
              <a:solidFill>
                <a:srgbClr val="FF9800"/>
              </a:solidFill>
              <a:ln>
                <a:noFill/>
              </a:ln>
            </p:spPr>
            <p:txBody>
              <a:bodyPr lIns="91425" tIns="91425" rIns="91425" bIns="91425" anchor="ctr" anchorCtr="0">
                <a:noAutofit/>
              </a:bodyPr>
              <a:lstStyle/>
              <a:p>
                <a:pPr lvl="0">
                  <a:spcBef>
                    <a:spcPts val="0"/>
                  </a:spcBef>
                  <a:buNone/>
                </a:pPr>
                <a:endParaRPr sz="1867"/>
              </a:p>
            </p:txBody>
          </p:sp>
        </p:grpSp>
      </p:grpSp>
      <p:grpSp>
        <p:nvGrpSpPr>
          <p:cNvPr id="172" name="Shape 172"/>
          <p:cNvGrpSpPr/>
          <p:nvPr userDrawn="1"/>
        </p:nvGrpSpPr>
        <p:grpSpPr>
          <a:xfrm rot="10800000">
            <a:off x="-10" y="-3"/>
            <a:ext cx="2937105" cy="894392"/>
            <a:chOff x="5575241" y="4472722"/>
            <a:chExt cx="2202829" cy="670794"/>
          </a:xfrm>
        </p:grpSpPr>
        <p:sp>
          <p:nvSpPr>
            <p:cNvPr id="173" name="Shape 173"/>
            <p:cNvSpPr/>
            <p:nvPr/>
          </p:nvSpPr>
          <p:spPr>
            <a:xfrm rot="10800000">
              <a:off x="5575241" y="4948333"/>
              <a:ext cx="394200" cy="131400"/>
            </a:xfrm>
            <a:prstGeom prst="triangle">
              <a:avLst>
                <a:gd name="adj" fmla="val 32425"/>
              </a:avLst>
            </a:prstGeom>
            <a:solidFill>
              <a:srgbClr val="263248"/>
            </a:solidFill>
            <a:ln>
              <a:noFill/>
            </a:ln>
          </p:spPr>
          <p:txBody>
            <a:bodyPr lIns="91425" tIns="91425" rIns="91425" bIns="91425" anchor="ctr" anchorCtr="0">
              <a:noAutofit/>
            </a:bodyPr>
            <a:lstStyle/>
            <a:p>
              <a:pPr lvl="0">
                <a:spcBef>
                  <a:spcPts val="0"/>
                </a:spcBef>
                <a:buNone/>
              </a:pPr>
              <a:endParaRPr sz="1867"/>
            </a:p>
          </p:txBody>
        </p:sp>
        <p:grpSp>
          <p:nvGrpSpPr>
            <p:cNvPr id="174" name="Shape 174"/>
            <p:cNvGrpSpPr/>
            <p:nvPr/>
          </p:nvGrpSpPr>
          <p:grpSpPr>
            <a:xfrm flipH="1">
              <a:off x="5734850" y="4472722"/>
              <a:ext cx="2040836" cy="670794"/>
              <a:chOff x="1297953" y="330075"/>
              <a:chExt cx="5169293" cy="1699505"/>
            </a:xfrm>
          </p:grpSpPr>
          <p:sp>
            <p:nvSpPr>
              <p:cNvPr id="175" name="Shape 175"/>
              <p:cNvSpPr/>
              <p:nvPr/>
            </p:nvSpPr>
            <p:spPr>
              <a:xfrm>
                <a:off x="1297953" y="330080"/>
                <a:ext cx="3476700" cy="1699500"/>
              </a:xfrm>
              <a:prstGeom prst="rect">
                <a:avLst/>
              </a:prstGeom>
              <a:solidFill>
                <a:srgbClr val="C7D3E6"/>
              </a:solidFill>
              <a:ln>
                <a:noFill/>
              </a:ln>
            </p:spPr>
            <p:txBody>
              <a:bodyPr lIns="91425" tIns="91425" rIns="91425" bIns="91425" anchor="ctr" anchorCtr="0">
                <a:noAutofit/>
              </a:bodyPr>
              <a:lstStyle/>
              <a:p>
                <a:pPr lvl="0" rtl="0">
                  <a:spcBef>
                    <a:spcPts val="0"/>
                  </a:spcBef>
                  <a:buNone/>
                </a:pPr>
                <a:endParaRPr sz="1867"/>
              </a:p>
            </p:txBody>
          </p:sp>
          <p:sp>
            <p:nvSpPr>
              <p:cNvPr id="176" name="Shape 176"/>
              <p:cNvSpPr/>
              <p:nvPr/>
            </p:nvSpPr>
            <p:spPr>
              <a:xfrm>
                <a:off x="4767747" y="330075"/>
                <a:ext cx="1699500" cy="1699500"/>
              </a:xfrm>
              <a:prstGeom prst="rtTriangle">
                <a:avLst/>
              </a:prstGeom>
              <a:solidFill>
                <a:srgbClr val="C7D3E6"/>
              </a:solidFill>
              <a:ln>
                <a:noFill/>
              </a:ln>
            </p:spPr>
            <p:txBody>
              <a:bodyPr lIns="91425" tIns="91425" rIns="91425" bIns="91425" anchor="ctr" anchorCtr="0">
                <a:noAutofit/>
              </a:bodyPr>
              <a:lstStyle/>
              <a:p>
                <a:pPr lvl="0">
                  <a:spcBef>
                    <a:spcPts val="0"/>
                  </a:spcBef>
                  <a:buNone/>
                </a:pPr>
                <a:endParaRPr sz="1867"/>
              </a:p>
            </p:txBody>
          </p:sp>
        </p:grpSp>
        <p:grpSp>
          <p:nvGrpSpPr>
            <p:cNvPr id="177" name="Shape 177"/>
            <p:cNvGrpSpPr/>
            <p:nvPr/>
          </p:nvGrpSpPr>
          <p:grpSpPr>
            <a:xfrm flipH="1">
              <a:off x="5578208" y="4646737"/>
              <a:ext cx="2199862" cy="304562"/>
              <a:chOff x="-5827152" y="330075"/>
              <a:chExt cx="12276018" cy="1699568"/>
            </a:xfrm>
          </p:grpSpPr>
          <p:sp>
            <p:nvSpPr>
              <p:cNvPr id="178" name="Shape 178"/>
              <p:cNvSpPr/>
              <p:nvPr/>
            </p:nvSpPr>
            <p:spPr>
              <a:xfrm>
                <a:off x="-5827152" y="330143"/>
                <a:ext cx="10612200" cy="1699500"/>
              </a:xfrm>
              <a:prstGeom prst="rect">
                <a:avLst/>
              </a:prstGeom>
              <a:solidFill>
                <a:srgbClr val="3F5378"/>
              </a:solidFill>
              <a:ln>
                <a:noFill/>
              </a:ln>
            </p:spPr>
            <p:txBody>
              <a:bodyPr lIns="91425" tIns="91425" rIns="91425" bIns="91425" anchor="ctr" anchorCtr="0">
                <a:noAutofit/>
              </a:bodyPr>
              <a:lstStyle/>
              <a:p>
                <a:pPr lvl="0" rtl="0">
                  <a:spcBef>
                    <a:spcPts val="0"/>
                  </a:spcBef>
                  <a:buNone/>
                </a:pPr>
                <a:endParaRPr sz="1867"/>
              </a:p>
            </p:txBody>
          </p:sp>
          <p:sp>
            <p:nvSpPr>
              <p:cNvPr id="179" name="Shape 179"/>
              <p:cNvSpPr/>
              <p:nvPr/>
            </p:nvSpPr>
            <p:spPr>
              <a:xfrm>
                <a:off x="4749365" y="330075"/>
                <a:ext cx="1699500" cy="1699500"/>
              </a:xfrm>
              <a:prstGeom prst="rtTriangle">
                <a:avLst/>
              </a:prstGeom>
              <a:solidFill>
                <a:srgbClr val="3F5378"/>
              </a:solidFill>
              <a:ln>
                <a:noFill/>
              </a:ln>
            </p:spPr>
            <p:txBody>
              <a:bodyPr lIns="91425" tIns="91425" rIns="91425" bIns="91425" anchor="ctr" anchorCtr="0">
                <a:noAutofit/>
              </a:bodyPr>
              <a:lstStyle/>
              <a:p>
                <a:pPr lvl="0">
                  <a:spcBef>
                    <a:spcPts val="0"/>
                  </a:spcBef>
                  <a:buNone/>
                </a:pPr>
                <a:endParaRPr sz="1867"/>
              </a:p>
            </p:txBody>
          </p:sp>
        </p:grpSp>
      </p:grpSp>
    </p:spTree>
    <p:extLst>
      <p:ext uri="{BB962C8B-B14F-4D97-AF65-F5344CB8AC3E}">
        <p14:creationId xmlns:p14="http://schemas.microsoft.com/office/powerpoint/2010/main" val="9595933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ubtitle">
    <p:spTree>
      <p:nvGrpSpPr>
        <p:cNvPr id="1" name="Shape 23"/>
        <p:cNvGrpSpPr/>
        <p:nvPr/>
      </p:nvGrpSpPr>
      <p:grpSpPr>
        <a:xfrm>
          <a:off x="0" y="0"/>
          <a:ext cx="0" cy="0"/>
          <a:chOff x="0" y="0"/>
          <a:chExt cx="0" cy="0"/>
        </a:xfrm>
      </p:grpSpPr>
      <p:sp>
        <p:nvSpPr>
          <p:cNvPr id="24" name="Shape 24"/>
          <p:cNvSpPr/>
          <p:nvPr/>
        </p:nvSpPr>
        <p:spPr>
          <a:xfrm>
            <a:off x="7596284" y="3514024"/>
            <a:ext cx="1185600" cy="395200"/>
          </a:xfrm>
          <a:prstGeom prst="triangle">
            <a:avLst>
              <a:gd name="adj" fmla="val 32425"/>
            </a:avLst>
          </a:prstGeom>
          <a:solidFill>
            <a:srgbClr val="263248"/>
          </a:solidFill>
          <a:ln>
            <a:noFill/>
          </a:ln>
        </p:spPr>
        <p:txBody>
          <a:bodyPr lIns="121900" tIns="121900" rIns="121900" bIns="121900" anchor="ctr" anchorCtr="0">
            <a:noAutofit/>
          </a:bodyPr>
          <a:lstStyle/>
          <a:p>
            <a:pPr lvl="0" rtl="0">
              <a:spcBef>
                <a:spcPts val="0"/>
              </a:spcBef>
              <a:buNone/>
            </a:pPr>
            <a:endParaRPr sz="1867">
              <a:latin typeface="Arvo"/>
              <a:ea typeface="Arvo"/>
              <a:cs typeface="Arvo"/>
              <a:sym typeface="Arvo"/>
            </a:endParaRPr>
          </a:p>
        </p:txBody>
      </p:sp>
      <p:grpSp>
        <p:nvGrpSpPr>
          <p:cNvPr id="25" name="Shape 25"/>
          <p:cNvGrpSpPr/>
          <p:nvPr/>
        </p:nvGrpSpPr>
        <p:grpSpPr>
          <a:xfrm>
            <a:off x="0" y="-9451"/>
            <a:ext cx="11548531" cy="6867451"/>
            <a:chOff x="0" y="-7088"/>
            <a:chExt cx="8661398" cy="5150588"/>
          </a:xfrm>
        </p:grpSpPr>
        <p:sp>
          <p:nvSpPr>
            <p:cNvPr id="26" name="Shape 26"/>
            <p:cNvSpPr/>
            <p:nvPr/>
          </p:nvSpPr>
          <p:spPr>
            <a:xfrm>
              <a:off x="0" y="0"/>
              <a:ext cx="3525000" cy="5143500"/>
            </a:xfrm>
            <a:prstGeom prst="rect">
              <a:avLst/>
            </a:prstGeom>
            <a:solidFill>
              <a:srgbClr val="C7D3E6"/>
            </a:solidFill>
            <a:ln>
              <a:noFill/>
            </a:ln>
          </p:spPr>
          <p:txBody>
            <a:bodyPr lIns="91425" tIns="91425" rIns="91425" bIns="91425" anchor="ctr" anchorCtr="0">
              <a:noAutofit/>
            </a:bodyPr>
            <a:lstStyle/>
            <a:p>
              <a:pPr lvl="0">
                <a:spcBef>
                  <a:spcPts val="0"/>
                </a:spcBef>
                <a:buNone/>
              </a:pPr>
              <a:endParaRPr sz="1867"/>
            </a:p>
          </p:txBody>
        </p:sp>
        <p:sp>
          <p:nvSpPr>
            <p:cNvPr id="27" name="Shape 27"/>
            <p:cNvSpPr/>
            <p:nvPr/>
          </p:nvSpPr>
          <p:spPr>
            <a:xfrm rot="10800000" flipH="1">
              <a:off x="3517898" y="-7088"/>
              <a:ext cx="5143500" cy="5143500"/>
            </a:xfrm>
            <a:prstGeom prst="rtTriangle">
              <a:avLst/>
            </a:prstGeom>
            <a:solidFill>
              <a:srgbClr val="C7D3E6"/>
            </a:solidFill>
            <a:ln>
              <a:noFill/>
            </a:ln>
          </p:spPr>
          <p:txBody>
            <a:bodyPr lIns="91425" tIns="91425" rIns="91425" bIns="91425" anchor="ctr" anchorCtr="0">
              <a:noAutofit/>
            </a:bodyPr>
            <a:lstStyle/>
            <a:p>
              <a:pPr lvl="0" rtl="0">
                <a:spcBef>
                  <a:spcPts val="0"/>
                </a:spcBef>
                <a:buNone/>
              </a:pPr>
              <a:endParaRPr sz="1867">
                <a:latin typeface="Arvo"/>
                <a:ea typeface="Arvo"/>
                <a:cs typeface="Arvo"/>
                <a:sym typeface="Arvo"/>
              </a:endParaRPr>
            </a:p>
          </p:txBody>
        </p:sp>
      </p:grpSp>
      <p:grpSp>
        <p:nvGrpSpPr>
          <p:cNvPr id="28" name="Shape 28"/>
          <p:cNvGrpSpPr/>
          <p:nvPr/>
        </p:nvGrpSpPr>
        <p:grpSpPr>
          <a:xfrm rot="10800000" flipH="1">
            <a:off x="-1" y="3899767"/>
            <a:ext cx="8785448" cy="2703023"/>
            <a:chOff x="-9894851" y="-4493254"/>
            <a:chExt cx="21200407" cy="6522739"/>
          </a:xfrm>
        </p:grpSpPr>
        <p:sp>
          <p:nvSpPr>
            <p:cNvPr id="29" name="Shape 29"/>
            <p:cNvSpPr/>
            <p:nvPr/>
          </p:nvSpPr>
          <p:spPr>
            <a:xfrm>
              <a:off x="-9894851" y="-4493114"/>
              <a:ext cx="14685300" cy="6522600"/>
            </a:xfrm>
            <a:prstGeom prst="rect">
              <a:avLst/>
            </a:prstGeom>
            <a:solidFill>
              <a:srgbClr val="3F5378"/>
            </a:solidFill>
            <a:ln>
              <a:noFill/>
            </a:ln>
          </p:spPr>
          <p:txBody>
            <a:bodyPr lIns="91425" tIns="91425" rIns="91425" bIns="91425" anchor="ctr" anchorCtr="0">
              <a:noAutofit/>
            </a:bodyPr>
            <a:lstStyle/>
            <a:p>
              <a:pPr lvl="0" rtl="0">
                <a:spcBef>
                  <a:spcPts val="0"/>
                </a:spcBef>
                <a:buNone/>
              </a:pPr>
              <a:endParaRPr sz="1867">
                <a:latin typeface="Arvo"/>
                <a:ea typeface="Arvo"/>
                <a:cs typeface="Arvo"/>
                <a:sym typeface="Arvo"/>
              </a:endParaRPr>
            </a:p>
          </p:txBody>
        </p:sp>
        <p:sp>
          <p:nvSpPr>
            <p:cNvPr id="30" name="Shape 30"/>
            <p:cNvSpPr/>
            <p:nvPr/>
          </p:nvSpPr>
          <p:spPr>
            <a:xfrm>
              <a:off x="4782955" y="-4493254"/>
              <a:ext cx="6522599" cy="6522600"/>
            </a:xfrm>
            <a:prstGeom prst="rtTriangle">
              <a:avLst/>
            </a:prstGeom>
            <a:solidFill>
              <a:srgbClr val="3F5378"/>
            </a:solidFill>
            <a:ln>
              <a:noFill/>
            </a:ln>
          </p:spPr>
          <p:txBody>
            <a:bodyPr lIns="91425" tIns="91425" rIns="91425" bIns="91425" anchor="ctr" anchorCtr="0">
              <a:noAutofit/>
            </a:bodyPr>
            <a:lstStyle/>
            <a:p>
              <a:pPr lvl="0" rtl="0">
                <a:spcBef>
                  <a:spcPts val="0"/>
                </a:spcBef>
                <a:buNone/>
              </a:pPr>
              <a:endParaRPr sz="1867">
                <a:latin typeface="Arvo"/>
                <a:ea typeface="Arvo"/>
                <a:cs typeface="Arvo"/>
                <a:sym typeface="Arvo"/>
              </a:endParaRPr>
            </a:p>
          </p:txBody>
        </p:sp>
      </p:grpSp>
      <p:grpSp>
        <p:nvGrpSpPr>
          <p:cNvPr id="31" name="Shape 31"/>
          <p:cNvGrpSpPr/>
          <p:nvPr/>
        </p:nvGrpSpPr>
        <p:grpSpPr>
          <a:xfrm>
            <a:off x="9262456" y="5963629"/>
            <a:ext cx="2937105" cy="894392"/>
            <a:chOff x="5575241" y="4472722"/>
            <a:chExt cx="2202829" cy="670794"/>
          </a:xfrm>
        </p:grpSpPr>
        <p:sp>
          <p:nvSpPr>
            <p:cNvPr id="32" name="Shape 32"/>
            <p:cNvSpPr/>
            <p:nvPr/>
          </p:nvSpPr>
          <p:spPr>
            <a:xfrm rot="10800000">
              <a:off x="5575241" y="4948333"/>
              <a:ext cx="394200" cy="131400"/>
            </a:xfrm>
            <a:prstGeom prst="triangle">
              <a:avLst>
                <a:gd name="adj" fmla="val 32425"/>
              </a:avLst>
            </a:prstGeom>
            <a:solidFill>
              <a:srgbClr val="D26F00"/>
            </a:solidFill>
            <a:ln>
              <a:noFill/>
            </a:ln>
          </p:spPr>
          <p:txBody>
            <a:bodyPr lIns="91425" tIns="91425" rIns="91425" bIns="91425" anchor="ctr" anchorCtr="0">
              <a:noAutofit/>
            </a:bodyPr>
            <a:lstStyle/>
            <a:p>
              <a:pPr lvl="0">
                <a:spcBef>
                  <a:spcPts val="0"/>
                </a:spcBef>
                <a:buNone/>
              </a:pPr>
              <a:endParaRPr sz="1867"/>
            </a:p>
          </p:txBody>
        </p:sp>
        <p:grpSp>
          <p:nvGrpSpPr>
            <p:cNvPr id="33" name="Shape 33"/>
            <p:cNvGrpSpPr/>
            <p:nvPr/>
          </p:nvGrpSpPr>
          <p:grpSpPr>
            <a:xfrm flipH="1">
              <a:off x="5734850" y="4472722"/>
              <a:ext cx="2040836" cy="670794"/>
              <a:chOff x="1297953" y="330075"/>
              <a:chExt cx="5169293" cy="1699505"/>
            </a:xfrm>
          </p:grpSpPr>
          <p:sp>
            <p:nvSpPr>
              <p:cNvPr id="34" name="Shape 34"/>
              <p:cNvSpPr/>
              <p:nvPr/>
            </p:nvSpPr>
            <p:spPr>
              <a:xfrm>
                <a:off x="1297953" y="330080"/>
                <a:ext cx="3476700" cy="1699500"/>
              </a:xfrm>
              <a:prstGeom prst="rect">
                <a:avLst/>
              </a:prstGeom>
              <a:solidFill>
                <a:srgbClr val="C7D3E6"/>
              </a:solidFill>
              <a:ln>
                <a:noFill/>
              </a:ln>
            </p:spPr>
            <p:txBody>
              <a:bodyPr lIns="91425" tIns="91425" rIns="91425" bIns="91425" anchor="ctr" anchorCtr="0">
                <a:noAutofit/>
              </a:bodyPr>
              <a:lstStyle/>
              <a:p>
                <a:pPr lvl="0" rtl="0">
                  <a:spcBef>
                    <a:spcPts val="0"/>
                  </a:spcBef>
                  <a:buNone/>
                </a:pPr>
                <a:endParaRPr sz="1867"/>
              </a:p>
            </p:txBody>
          </p:sp>
          <p:sp>
            <p:nvSpPr>
              <p:cNvPr id="35" name="Shape 35"/>
              <p:cNvSpPr/>
              <p:nvPr/>
            </p:nvSpPr>
            <p:spPr>
              <a:xfrm>
                <a:off x="4767747" y="330075"/>
                <a:ext cx="1699500" cy="1699500"/>
              </a:xfrm>
              <a:prstGeom prst="rtTriangle">
                <a:avLst/>
              </a:prstGeom>
              <a:solidFill>
                <a:srgbClr val="C7D3E6"/>
              </a:solidFill>
              <a:ln>
                <a:noFill/>
              </a:ln>
            </p:spPr>
            <p:txBody>
              <a:bodyPr lIns="91425" tIns="91425" rIns="91425" bIns="91425" anchor="ctr" anchorCtr="0">
                <a:noAutofit/>
              </a:bodyPr>
              <a:lstStyle/>
              <a:p>
                <a:pPr lvl="0">
                  <a:spcBef>
                    <a:spcPts val="0"/>
                  </a:spcBef>
                  <a:buNone/>
                </a:pPr>
                <a:endParaRPr sz="1867"/>
              </a:p>
            </p:txBody>
          </p:sp>
        </p:grpSp>
        <p:grpSp>
          <p:nvGrpSpPr>
            <p:cNvPr id="36" name="Shape 36"/>
            <p:cNvGrpSpPr/>
            <p:nvPr/>
          </p:nvGrpSpPr>
          <p:grpSpPr>
            <a:xfrm flipH="1">
              <a:off x="5578208" y="4646737"/>
              <a:ext cx="2199862" cy="304562"/>
              <a:chOff x="-5827152" y="330075"/>
              <a:chExt cx="12276018" cy="1699568"/>
            </a:xfrm>
          </p:grpSpPr>
          <p:sp>
            <p:nvSpPr>
              <p:cNvPr id="37" name="Shape 37"/>
              <p:cNvSpPr/>
              <p:nvPr/>
            </p:nvSpPr>
            <p:spPr>
              <a:xfrm>
                <a:off x="-5827152" y="330143"/>
                <a:ext cx="10612200" cy="1699500"/>
              </a:xfrm>
              <a:prstGeom prst="rect">
                <a:avLst/>
              </a:prstGeom>
              <a:solidFill>
                <a:srgbClr val="FF9800"/>
              </a:solidFill>
              <a:ln>
                <a:noFill/>
              </a:ln>
            </p:spPr>
            <p:txBody>
              <a:bodyPr lIns="91425" tIns="91425" rIns="91425" bIns="91425" anchor="ctr" anchorCtr="0">
                <a:noAutofit/>
              </a:bodyPr>
              <a:lstStyle/>
              <a:p>
                <a:pPr lvl="0" rtl="0">
                  <a:spcBef>
                    <a:spcPts val="0"/>
                  </a:spcBef>
                  <a:buNone/>
                </a:pPr>
                <a:endParaRPr sz="1867"/>
              </a:p>
            </p:txBody>
          </p:sp>
          <p:sp>
            <p:nvSpPr>
              <p:cNvPr id="38" name="Shape 38"/>
              <p:cNvSpPr/>
              <p:nvPr/>
            </p:nvSpPr>
            <p:spPr>
              <a:xfrm>
                <a:off x="4749365" y="330075"/>
                <a:ext cx="1699500" cy="1699500"/>
              </a:xfrm>
              <a:prstGeom prst="rtTriangle">
                <a:avLst/>
              </a:prstGeom>
              <a:solidFill>
                <a:srgbClr val="FF9800"/>
              </a:solidFill>
              <a:ln>
                <a:noFill/>
              </a:ln>
            </p:spPr>
            <p:txBody>
              <a:bodyPr lIns="91425" tIns="91425" rIns="91425" bIns="91425" anchor="ctr" anchorCtr="0">
                <a:noAutofit/>
              </a:bodyPr>
              <a:lstStyle/>
              <a:p>
                <a:pPr lvl="0">
                  <a:spcBef>
                    <a:spcPts val="0"/>
                  </a:spcBef>
                  <a:buNone/>
                </a:pPr>
                <a:endParaRPr sz="1867"/>
              </a:p>
            </p:txBody>
          </p:sp>
        </p:grpSp>
      </p:grpSp>
      <p:sp>
        <p:nvSpPr>
          <p:cNvPr id="39" name="Shape 39"/>
          <p:cNvSpPr txBox="1">
            <a:spLocks noGrp="1"/>
          </p:cNvSpPr>
          <p:nvPr>
            <p:ph type="ctrTitle"/>
          </p:nvPr>
        </p:nvSpPr>
        <p:spPr>
          <a:xfrm>
            <a:off x="618033" y="3828197"/>
            <a:ext cx="5459200" cy="1546400"/>
          </a:xfrm>
          <a:prstGeom prst="rect">
            <a:avLst/>
          </a:prstGeom>
        </p:spPr>
        <p:txBody>
          <a:bodyPr lIns="91425" tIns="91425" rIns="91425" bIns="91425" anchor="b" anchorCtr="0"/>
          <a:lstStyle>
            <a:lvl1pPr lvl="0" rtl="0">
              <a:spcBef>
                <a:spcPts val="0"/>
              </a:spcBef>
              <a:buSzPct val="100000"/>
              <a:defRPr sz="4000"/>
            </a:lvl1pPr>
            <a:lvl2pPr lvl="1" rtl="0">
              <a:spcBef>
                <a:spcPts val="0"/>
              </a:spcBef>
              <a:buSzPct val="100000"/>
              <a:defRPr sz="4000"/>
            </a:lvl2pPr>
            <a:lvl3pPr lvl="2" rtl="0">
              <a:spcBef>
                <a:spcPts val="0"/>
              </a:spcBef>
              <a:buSzPct val="100000"/>
              <a:defRPr sz="4000"/>
            </a:lvl3pPr>
            <a:lvl4pPr lvl="3" rtl="0">
              <a:spcBef>
                <a:spcPts val="0"/>
              </a:spcBef>
              <a:buSzPct val="100000"/>
              <a:defRPr sz="4000"/>
            </a:lvl4pPr>
            <a:lvl5pPr lvl="4" rtl="0">
              <a:spcBef>
                <a:spcPts val="0"/>
              </a:spcBef>
              <a:buSzPct val="100000"/>
              <a:defRPr sz="4000"/>
            </a:lvl5pPr>
            <a:lvl6pPr lvl="5" rtl="0">
              <a:spcBef>
                <a:spcPts val="0"/>
              </a:spcBef>
              <a:buSzPct val="100000"/>
              <a:defRPr sz="4000"/>
            </a:lvl6pPr>
            <a:lvl7pPr lvl="6" rtl="0">
              <a:spcBef>
                <a:spcPts val="0"/>
              </a:spcBef>
              <a:buSzPct val="100000"/>
              <a:defRPr sz="4000"/>
            </a:lvl7pPr>
            <a:lvl8pPr lvl="7" rtl="0">
              <a:spcBef>
                <a:spcPts val="0"/>
              </a:spcBef>
              <a:buSzPct val="100000"/>
              <a:defRPr sz="4000"/>
            </a:lvl8pPr>
            <a:lvl9pPr lvl="8" rtl="0">
              <a:spcBef>
                <a:spcPts val="0"/>
              </a:spcBef>
              <a:buSzPct val="100000"/>
              <a:defRPr sz="4000"/>
            </a:lvl9pPr>
          </a:lstStyle>
          <a:p>
            <a:endParaRPr/>
          </a:p>
        </p:txBody>
      </p:sp>
      <p:sp>
        <p:nvSpPr>
          <p:cNvPr id="40" name="Shape 40"/>
          <p:cNvSpPr txBox="1">
            <a:spLocks noGrp="1"/>
          </p:cNvSpPr>
          <p:nvPr>
            <p:ph type="subTitle" idx="1"/>
          </p:nvPr>
        </p:nvSpPr>
        <p:spPr>
          <a:xfrm>
            <a:off x="618033" y="5300597"/>
            <a:ext cx="5459200" cy="1046400"/>
          </a:xfrm>
          <a:prstGeom prst="rect">
            <a:avLst/>
          </a:prstGeom>
        </p:spPr>
        <p:txBody>
          <a:bodyPr lIns="91425" tIns="91425" rIns="91425" bIns="91425" anchor="t" anchorCtr="0"/>
          <a:lstStyle>
            <a:lvl1pPr lvl="0" rtl="0">
              <a:spcBef>
                <a:spcPts val="0"/>
              </a:spcBef>
              <a:buClr>
                <a:srgbClr val="FF9800"/>
              </a:buClr>
              <a:buSzPct val="100000"/>
              <a:buNone/>
              <a:defRPr sz="2667">
                <a:solidFill>
                  <a:srgbClr val="FF9800"/>
                </a:solidFill>
              </a:defRPr>
            </a:lvl1pPr>
            <a:lvl2pPr lvl="1" rtl="0">
              <a:spcBef>
                <a:spcPts val="0"/>
              </a:spcBef>
              <a:buClr>
                <a:srgbClr val="FF9800"/>
              </a:buClr>
              <a:buSzPct val="100000"/>
              <a:buNone/>
              <a:defRPr sz="2667">
                <a:solidFill>
                  <a:srgbClr val="FF9800"/>
                </a:solidFill>
              </a:defRPr>
            </a:lvl2pPr>
            <a:lvl3pPr lvl="2" rtl="0">
              <a:spcBef>
                <a:spcPts val="0"/>
              </a:spcBef>
              <a:buClr>
                <a:srgbClr val="FF9800"/>
              </a:buClr>
              <a:buSzPct val="100000"/>
              <a:buNone/>
              <a:defRPr sz="2667">
                <a:solidFill>
                  <a:srgbClr val="FF9800"/>
                </a:solidFill>
              </a:defRPr>
            </a:lvl3pPr>
            <a:lvl4pPr lvl="3" rtl="0">
              <a:spcBef>
                <a:spcPts val="0"/>
              </a:spcBef>
              <a:buClr>
                <a:srgbClr val="FF9800"/>
              </a:buClr>
              <a:buSzPct val="100000"/>
              <a:buNone/>
              <a:defRPr sz="2667">
                <a:solidFill>
                  <a:srgbClr val="FF9800"/>
                </a:solidFill>
              </a:defRPr>
            </a:lvl4pPr>
            <a:lvl5pPr lvl="4" rtl="0">
              <a:spcBef>
                <a:spcPts val="0"/>
              </a:spcBef>
              <a:buClr>
                <a:srgbClr val="FF9800"/>
              </a:buClr>
              <a:buSzPct val="100000"/>
              <a:buNone/>
              <a:defRPr sz="2667">
                <a:solidFill>
                  <a:srgbClr val="FF9800"/>
                </a:solidFill>
              </a:defRPr>
            </a:lvl5pPr>
            <a:lvl6pPr lvl="5" rtl="0">
              <a:spcBef>
                <a:spcPts val="0"/>
              </a:spcBef>
              <a:buClr>
                <a:srgbClr val="FF9800"/>
              </a:buClr>
              <a:buSzPct val="100000"/>
              <a:buNone/>
              <a:defRPr sz="2667">
                <a:solidFill>
                  <a:srgbClr val="FF9800"/>
                </a:solidFill>
              </a:defRPr>
            </a:lvl6pPr>
            <a:lvl7pPr lvl="6" rtl="0">
              <a:spcBef>
                <a:spcPts val="0"/>
              </a:spcBef>
              <a:buClr>
                <a:srgbClr val="FF9800"/>
              </a:buClr>
              <a:buSzPct val="100000"/>
              <a:buNone/>
              <a:defRPr sz="2667">
                <a:solidFill>
                  <a:srgbClr val="FF9800"/>
                </a:solidFill>
              </a:defRPr>
            </a:lvl7pPr>
            <a:lvl8pPr lvl="7" rtl="0">
              <a:spcBef>
                <a:spcPts val="0"/>
              </a:spcBef>
              <a:buClr>
                <a:srgbClr val="FF9800"/>
              </a:buClr>
              <a:buSzPct val="100000"/>
              <a:buNone/>
              <a:defRPr sz="2667">
                <a:solidFill>
                  <a:srgbClr val="FF9800"/>
                </a:solidFill>
              </a:defRPr>
            </a:lvl8pPr>
            <a:lvl9pPr lvl="8" rtl="0">
              <a:spcBef>
                <a:spcPts val="0"/>
              </a:spcBef>
              <a:buClr>
                <a:srgbClr val="FF9800"/>
              </a:buClr>
              <a:buSzPct val="100000"/>
              <a:buNone/>
              <a:defRPr sz="2667">
                <a:solidFill>
                  <a:srgbClr val="FF9800"/>
                </a:solidFill>
              </a:defRPr>
            </a:lvl9pPr>
          </a:lstStyle>
          <a:p>
            <a:endParaRPr/>
          </a:p>
        </p:txBody>
      </p:sp>
      <p:sp>
        <p:nvSpPr>
          <p:cNvPr id="41" name="Shape 41"/>
          <p:cNvSpPr txBox="1">
            <a:spLocks noGrp="1"/>
          </p:cNvSpPr>
          <p:nvPr>
            <p:ph type="sldNum" idx="12"/>
          </p:nvPr>
        </p:nvSpPr>
        <p:spPr>
          <a:xfrm>
            <a:off x="10157333" y="6182000"/>
            <a:ext cx="1983200" cy="420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5247219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1085700" y="523433"/>
            <a:ext cx="7011200" cy="1021600"/>
          </a:xfrm>
          <a:prstGeom prst="rect">
            <a:avLst/>
          </a:prstGeom>
          <a:noFill/>
          <a:ln>
            <a:noFill/>
          </a:ln>
        </p:spPr>
        <p:txBody>
          <a:bodyPr lIns="91425" tIns="91425" rIns="91425" bIns="91425" anchor="ctr" anchorCtr="0"/>
          <a:lstStyle>
            <a:lvl1pPr lvl="0">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endParaRPr/>
          </a:p>
        </p:txBody>
      </p:sp>
      <p:sp>
        <p:nvSpPr>
          <p:cNvPr id="7" name="Shape 7"/>
          <p:cNvSpPr txBox="1">
            <a:spLocks noGrp="1"/>
          </p:cNvSpPr>
          <p:nvPr>
            <p:ph type="body" idx="1"/>
          </p:nvPr>
        </p:nvSpPr>
        <p:spPr>
          <a:xfrm>
            <a:off x="1085700" y="1769800"/>
            <a:ext cx="8176800" cy="4194000"/>
          </a:xfrm>
          <a:prstGeom prst="rect">
            <a:avLst/>
          </a:prstGeom>
          <a:noFill/>
          <a:ln>
            <a:noFill/>
          </a:ln>
        </p:spPr>
        <p:txBody>
          <a:bodyPr lIns="91425" tIns="91425" rIns="91425" bIns="91425" anchor="ctr" anchorCtr="0"/>
          <a:lstStyle>
            <a:lvl1pPr lvl="0">
              <a:spcBef>
                <a:spcPts val="600"/>
              </a:spcBef>
              <a:spcAft>
                <a:spcPts val="1000"/>
              </a:spcAft>
              <a:buClr>
                <a:srgbClr val="C7D3E6"/>
              </a:buClr>
              <a:buSzPct val="100000"/>
              <a:buFont typeface="Roboto Condensed Light"/>
              <a:buChar char="▰"/>
              <a:defRPr sz="2400">
                <a:solidFill>
                  <a:srgbClr val="263248"/>
                </a:solidFill>
                <a:latin typeface="Roboto Condensed Light"/>
                <a:ea typeface="Roboto Condensed Light"/>
                <a:cs typeface="Roboto Condensed Light"/>
                <a:sym typeface="Roboto Condensed Light"/>
              </a:defRPr>
            </a:lvl1pPr>
            <a:lvl2pPr lvl="1">
              <a:spcBef>
                <a:spcPts val="480"/>
              </a:spcBef>
              <a:spcAft>
                <a:spcPts val="1000"/>
              </a:spcAft>
              <a:buClr>
                <a:srgbClr val="C7D3E6"/>
              </a:buClr>
              <a:buSzPct val="100000"/>
              <a:buFont typeface="Roboto Condensed Light"/>
              <a:buChar char="▻"/>
              <a:defRPr sz="2400">
                <a:solidFill>
                  <a:srgbClr val="263248"/>
                </a:solidFill>
                <a:latin typeface="Roboto Condensed Light"/>
                <a:ea typeface="Roboto Condensed Light"/>
                <a:cs typeface="Roboto Condensed Light"/>
                <a:sym typeface="Roboto Condensed Light"/>
              </a:defRPr>
            </a:lvl2pPr>
            <a:lvl3pPr lvl="2">
              <a:spcBef>
                <a:spcPts val="480"/>
              </a:spcBef>
              <a:spcAft>
                <a:spcPts val="1000"/>
              </a:spcAft>
              <a:buClr>
                <a:srgbClr val="C7D3E6"/>
              </a:buClr>
              <a:buSzPct val="100000"/>
              <a:buFont typeface="Roboto Condensed Light"/>
              <a:buChar char="▻"/>
              <a:defRPr sz="2400">
                <a:solidFill>
                  <a:srgbClr val="263248"/>
                </a:solidFill>
                <a:latin typeface="Roboto Condensed Light"/>
                <a:ea typeface="Roboto Condensed Light"/>
                <a:cs typeface="Roboto Condensed Light"/>
                <a:sym typeface="Roboto Condensed Light"/>
              </a:defRPr>
            </a:lvl3pPr>
            <a:lvl4pPr lvl="3">
              <a:spcBef>
                <a:spcPts val="360"/>
              </a:spcBef>
              <a:spcAft>
                <a:spcPts val="1000"/>
              </a:spcAft>
              <a:buClr>
                <a:srgbClr val="C7D3E6"/>
              </a:buClr>
              <a:buSzPct val="100000"/>
              <a:buFont typeface="Roboto Condensed Light"/>
              <a:buChar char="▻"/>
              <a:defRPr sz="2400">
                <a:solidFill>
                  <a:srgbClr val="263248"/>
                </a:solidFill>
                <a:latin typeface="Roboto Condensed Light"/>
                <a:ea typeface="Roboto Condensed Light"/>
                <a:cs typeface="Roboto Condensed Light"/>
                <a:sym typeface="Roboto Condensed Light"/>
              </a:defRPr>
            </a:lvl4pPr>
            <a:lvl5pPr lvl="4">
              <a:spcBef>
                <a:spcPts val="360"/>
              </a:spcBef>
              <a:spcAft>
                <a:spcPts val="1000"/>
              </a:spcAft>
              <a:buClr>
                <a:srgbClr val="C7D3E6"/>
              </a:buClr>
              <a:buSzPct val="100000"/>
              <a:buFont typeface="Roboto Condensed Light"/>
              <a:buChar char="▻"/>
              <a:defRPr sz="2400">
                <a:solidFill>
                  <a:srgbClr val="263248"/>
                </a:solidFill>
                <a:latin typeface="Roboto Condensed Light"/>
                <a:ea typeface="Roboto Condensed Light"/>
                <a:cs typeface="Roboto Condensed Light"/>
                <a:sym typeface="Roboto Condensed Light"/>
              </a:defRPr>
            </a:lvl5pPr>
            <a:lvl6pPr lvl="5">
              <a:spcBef>
                <a:spcPts val="360"/>
              </a:spcBef>
              <a:spcAft>
                <a:spcPts val="1000"/>
              </a:spcAft>
              <a:buClr>
                <a:srgbClr val="C7D3E6"/>
              </a:buClr>
              <a:buSzPct val="100000"/>
              <a:buFont typeface="Roboto Condensed Light"/>
              <a:buChar char="▻"/>
              <a:defRPr sz="2400">
                <a:solidFill>
                  <a:srgbClr val="263248"/>
                </a:solidFill>
                <a:latin typeface="Roboto Condensed Light"/>
                <a:ea typeface="Roboto Condensed Light"/>
                <a:cs typeface="Roboto Condensed Light"/>
                <a:sym typeface="Roboto Condensed Light"/>
              </a:defRPr>
            </a:lvl6pPr>
            <a:lvl7pPr lvl="6">
              <a:spcBef>
                <a:spcPts val="360"/>
              </a:spcBef>
              <a:spcAft>
                <a:spcPts val="1000"/>
              </a:spcAft>
              <a:buClr>
                <a:srgbClr val="C7D3E6"/>
              </a:buClr>
              <a:buSzPct val="100000"/>
              <a:buFont typeface="Roboto Condensed Light"/>
              <a:buChar char="▻"/>
              <a:defRPr sz="2400">
                <a:solidFill>
                  <a:srgbClr val="263248"/>
                </a:solidFill>
                <a:latin typeface="Roboto Condensed Light"/>
                <a:ea typeface="Roboto Condensed Light"/>
                <a:cs typeface="Roboto Condensed Light"/>
                <a:sym typeface="Roboto Condensed Light"/>
              </a:defRPr>
            </a:lvl7pPr>
            <a:lvl8pPr lvl="7">
              <a:spcBef>
                <a:spcPts val="360"/>
              </a:spcBef>
              <a:spcAft>
                <a:spcPts val="1000"/>
              </a:spcAft>
              <a:buClr>
                <a:srgbClr val="C7D3E6"/>
              </a:buClr>
              <a:buSzPct val="100000"/>
              <a:buFont typeface="Roboto Condensed Light"/>
              <a:buChar char="▻"/>
              <a:defRPr sz="2400">
                <a:solidFill>
                  <a:srgbClr val="263248"/>
                </a:solidFill>
                <a:latin typeface="Roboto Condensed Light"/>
                <a:ea typeface="Roboto Condensed Light"/>
                <a:cs typeface="Roboto Condensed Light"/>
                <a:sym typeface="Roboto Condensed Light"/>
              </a:defRPr>
            </a:lvl8pPr>
            <a:lvl9pPr lvl="8">
              <a:spcBef>
                <a:spcPts val="360"/>
              </a:spcBef>
              <a:spcAft>
                <a:spcPts val="1000"/>
              </a:spcAft>
              <a:buClr>
                <a:srgbClr val="C7D3E6"/>
              </a:buClr>
              <a:buSzPct val="100000"/>
              <a:buFont typeface="Roboto Condensed Light"/>
              <a:buChar char="▻"/>
              <a:defRPr sz="2400">
                <a:solidFill>
                  <a:srgbClr val="263248"/>
                </a:solidFill>
                <a:latin typeface="Roboto Condensed Light"/>
                <a:ea typeface="Roboto Condensed Light"/>
                <a:cs typeface="Roboto Condensed Light"/>
                <a:sym typeface="Roboto Condensed Light"/>
              </a:defRPr>
            </a:lvl9pPr>
          </a:lstStyle>
          <a:p>
            <a:endParaRPr/>
          </a:p>
        </p:txBody>
      </p:sp>
      <p:sp>
        <p:nvSpPr>
          <p:cNvPr id="8" name="Shape 8"/>
          <p:cNvSpPr txBox="1">
            <a:spLocks noGrp="1"/>
          </p:cNvSpPr>
          <p:nvPr>
            <p:ph type="sldNum" idx="12"/>
          </p:nvPr>
        </p:nvSpPr>
        <p:spPr>
          <a:xfrm>
            <a:off x="10157333" y="6182000"/>
            <a:ext cx="1983200" cy="420800"/>
          </a:xfrm>
          <a:prstGeom prst="rect">
            <a:avLst/>
          </a:prstGeom>
          <a:noFill/>
          <a:ln>
            <a:noFill/>
          </a:ln>
        </p:spPr>
        <p:txBody>
          <a:bodyPr lIns="91425" tIns="91425" rIns="91425" bIns="91425" anchor="ctr" anchorCtr="0">
            <a:noAutofit/>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04541013"/>
      </p:ext>
    </p:extLst>
  </p:cSld>
  <p:clrMap bg1="lt1" tx1="dk1" bg2="dk2" tx2="lt2" accent1="accent1" accent2="accent2" accent3="accent3" accent4="accent4" accent5="accent5" accent6="accent6" hlink="hlink" folHlink="folHlink"/>
  <p:sldLayoutIdLst>
    <p:sldLayoutId id="2147483762" r:id="rId1"/>
    <p:sldLayoutId id="2147483765" r:id="rId2"/>
    <p:sldLayoutId id="2147483766" r:id="rId3"/>
    <p:sldLayoutId id="2147483767" r:id="rId4"/>
    <p:sldLayoutId id="2147483768" r:id="rId5"/>
    <p:sldLayoutId id="2147483769" r:id="rId6"/>
    <p:sldLayoutId id="2147483773" r:id="rId7"/>
    <p:sldLayoutId id="2147483774" r:id="rId8"/>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18" Type="http://schemas.openxmlformats.org/officeDocument/2006/relationships/diagramData" Target="../diagrams/data4.xml"/><Relationship Id="rId26" Type="http://schemas.openxmlformats.org/officeDocument/2006/relationships/diagramColors" Target="../diagrams/colors5.xml"/><Relationship Id="rId3" Type="http://schemas.openxmlformats.org/officeDocument/2006/relationships/diagramData" Target="../diagrams/data1.xml"/><Relationship Id="rId21" Type="http://schemas.openxmlformats.org/officeDocument/2006/relationships/diagramColors" Target="../diagrams/colors4.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5" Type="http://schemas.openxmlformats.org/officeDocument/2006/relationships/diagramQuickStyle" Target="../diagrams/quickStyle5.xml"/><Relationship Id="rId2" Type="http://schemas.openxmlformats.org/officeDocument/2006/relationships/notesSlide" Target="../notesSlides/notesSlide4.xml"/><Relationship Id="rId16" Type="http://schemas.openxmlformats.org/officeDocument/2006/relationships/diagramColors" Target="../diagrams/colors3.xml"/><Relationship Id="rId20" Type="http://schemas.openxmlformats.org/officeDocument/2006/relationships/diagramQuickStyle" Target="../diagrams/quickStyle4.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24" Type="http://schemas.openxmlformats.org/officeDocument/2006/relationships/diagramLayout" Target="../diagrams/layout5.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23" Type="http://schemas.openxmlformats.org/officeDocument/2006/relationships/diagramData" Target="../diagrams/data5.xml"/><Relationship Id="rId10" Type="http://schemas.openxmlformats.org/officeDocument/2006/relationships/diagramQuickStyle" Target="../diagrams/quickStyle2.xml"/><Relationship Id="rId19" Type="http://schemas.openxmlformats.org/officeDocument/2006/relationships/diagramLayout" Target="../diagrams/layout4.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 Id="rId22" Type="http://schemas.microsoft.com/office/2007/relationships/diagramDrawing" Target="../diagrams/drawing4.xml"/><Relationship Id="rId27" Type="http://schemas.microsoft.com/office/2007/relationships/diagramDrawing" Target="../diagrams/drawing5.xml"/></Relationships>
</file>

<file path=ppt/slides/_rels/slide5.xml.rels><?xml version="1.0" encoding="UTF-8" standalone="yes"?>
<Relationships xmlns="http://schemas.openxmlformats.org/package/2006/relationships"><Relationship Id="rId3" Type="http://schemas.openxmlformats.org/officeDocument/2006/relationships/image" Target="../media/image7.jfi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7.jfif"/><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microsoft.com/office/2007/relationships/diagramDrawing" Target="../diagrams/drawing7.xml"/><Relationship Id="rId13" Type="http://schemas.microsoft.com/office/2007/relationships/diagramDrawing" Target="../diagrams/drawing8.xml"/><Relationship Id="rId18" Type="http://schemas.microsoft.com/office/2007/relationships/diagramDrawing" Target="../diagrams/drawing9.xml"/><Relationship Id="rId26" Type="http://schemas.openxmlformats.org/officeDocument/2006/relationships/diagramQuickStyle" Target="../diagrams/quickStyle11.xml"/><Relationship Id="rId3" Type="http://schemas.openxmlformats.org/officeDocument/2006/relationships/image" Target="../media/image45.png"/><Relationship Id="rId21" Type="http://schemas.openxmlformats.org/officeDocument/2006/relationships/diagramQuickStyle" Target="../diagrams/quickStyle10.xml"/><Relationship Id="rId7" Type="http://schemas.openxmlformats.org/officeDocument/2006/relationships/diagramColors" Target="../diagrams/colors7.xml"/><Relationship Id="rId12" Type="http://schemas.openxmlformats.org/officeDocument/2006/relationships/diagramColors" Target="../diagrams/colors8.xml"/><Relationship Id="rId17" Type="http://schemas.openxmlformats.org/officeDocument/2006/relationships/diagramColors" Target="../diagrams/colors9.xml"/><Relationship Id="rId25" Type="http://schemas.openxmlformats.org/officeDocument/2006/relationships/diagramLayout" Target="../diagrams/layout11.xml"/><Relationship Id="rId2" Type="http://schemas.openxmlformats.org/officeDocument/2006/relationships/notesSlide" Target="../notesSlides/notesSlide24.xml"/><Relationship Id="rId16" Type="http://schemas.openxmlformats.org/officeDocument/2006/relationships/diagramQuickStyle" Target="../diagrams/quickStyle9.xml"/><Relationship Id="rId20" Type="http://schemas.openxmlformats.org/officeDocument/2006/relationships/diagramLayout" Target="../diagrams/layout10.xml"/><Relationship Id="rId1" Type="http://schemas.openxmlformats.org/officeDocument/2006/relationships/slideLayout" Target="../slideLayouts/slideLayout7.xml"/><Relationship Id="rId6" Type="http://schemas.openxmlformats.org/officeDocument/2006/relationships/diagramQuickStyle" Target="../diagrams/quickStyle7.xml"/><Relationship Id="rId11" Type="http://schemas.openxmlformats.org/officeDocument/2006/relationships/diagramQuickStyle" Target="../diagrams/quickStyle8.xml"/><Relationship Id="rId24" Type="http://schemas.openxmlformats.org/officeDocument/2006/relationships/diagramData" Target="../diagrams/data11.xml"/><Relationship Id="rId5" Type="http://schemas.openxmlformats.org/officeDocument/2006/relationships/diagramLayout" Target="../diagrams/layout7.xml"/><Relationship Id="rId15" Type="http://schemas.openxmlformats.org/officeDocument/2006/relationships/diagramLayout" Target="../diagrams/layout9.xml"/><Relationship Id="rId23" Type="http://schemas.microsoft.com/office/2007/relationships/diagramDrawing" Target="../diagrams/drawing10.xml"/><Relationship Id="rId28" Type="http://schemas.microsoft.com/office/2007/relationships/diagramDrawing" Target="../diagrams/drawing11.xml"/><Relationship Id="rId10" Type="http://schemas.openxmlformats.org/officeDocument/2006/relationships/diagramLayout" Target="../diagrams/layout8.xml"/><Relationship Id="rId19" Type="http://schemas.openxmlformats.org/officeDocument/2006/relationships/diagramData" Target="../diagrams/data10.xml"/><Relationship Id="rId4" Type="http://schemas.openxmlformats.org/officeDocument/2006/relationships/diagramData" Target="../diagrams/data7.xml"/><Relationship Id="rId9" Type="http://schemas.openxmlformats.org/officeDocument/2006/relationships/diagramData" Target="../diagrams/data8.xml"/><Relationship Id="rId14" Type="http://schemas.openxmlformats.org/officeDocument/2006/relationships/diagramData" Target="../diagrams/data9.xml"/><Relationship Id="rId22" Type="http://schemas.openxmlformats.org/officeDocument/2006/relationships/diagramColors" Target="../diagrams/colors10.xml"/><Relationship Id="rId27" Type="http://schemas.openxmlformats.org/officeDocument/2006/relationships/diagramColors" Target="../diagrams/colors11.xml"/></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2295602" y="1447539"/>
            <a:ext cx="7157200" cy="3949200"/>
          </a:xfrm>
        </p:spPr>
        <p:txBody>
          <a:bodyPr/>
          <a:lstStyle/>
          <a:p>
            <a:pPr algn="ctr"/>
            <a:r>
              <a:rPr lang="en-GB" sz="3200" dirty="0">
                <a:latin typeface="Times New Roman" panose="02020603050405020304" pitchFamily="18" charset="0"/>
                <a:cs typeface="Times New Roman" panose="02020603050405020304" pitchFamily="18" charset="0"/>
              </a:rPr>
              <a:t>Master Thesis Defense</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1600" dirty="0">
                <a:latin typeface="Times New Roman" panose="02020603050405020304" pitchFamily="18" charset="0"/>
                <a:cs typeface="Times New Roman" panose="02020603050405020304" pitchFamily="18" charset="0"/>
              </a:rPr>
              <a:t>in Computer Engineering</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1700" dirty="0">
                <a:latin typeface="Times New Roman" panose="02020603050405020304" pitchFamily="18" charset="0"/>
                <a:cs typeface="Times New Roman" panose="02020603050405020304" pitchFamily="18" charset="0"/>
              </a:rPr>
              <a:t>Title:</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500" i="1" dirty="0">
                <a:solidFill>
                  <a:srgbClr val="002060"/>
                </a:solidFill>
                <a:latin typeface="Times New Roman" panose="02020603050405020304" pitchFamily="18" charset="0"/>
                <a:cs typeface="Times New Roman" panose="02020603050405020304" pitchFamily="18" charset="0"/>
              </a:rPr>
              <a:t>Transformer-based Approach For Hand Gesture Recognition Through EMG Signals</a:t>
            </a:r>
          </a:p>
        </p:txBody>
      </p:sp>
      <p:sp>
        <p:nvSpPr>
          <p:cNvPr id="5" name="ZoneTexte 4"/>
          <p:cNvSpPr txBox="1"/>
          <p:nvPr/>
        </p:nvSpPr>
        <p:spPr>
          <a:xfrm>
            <a:off x="3614509" y="307177"/>
            <a:ext cx="4519386" cy="1089594"/>
          </a:xfrm>
          <a:prstGeom prst="rect">
            <a:avLst/>
          </a:prstGeom>
          <a:noFill/>
        </p:spPr>
        <p:txBody>
          <a:bodyPr wrap="square" rtlCol="0">
            <a:spAutoFit/>
          </a:bodyPr>
          <a:lstStyle/>
          <a:p>
            <a:pPr lvl="0" algn="ctr" rtl="1">
              <a:lnSpc>
                <a:spcPct val="150000"/>
              </a:lnSpc>
            </a:pPr>
            <a:r>
              <a:rPr lang="en-GB" sz="1500" b="1" kern="1200" dirty="0">
                <a:latin typeface="Times New Roman Bold"/>
                <a:ea typeface="Times New Roman Bold"/>
                <a:cs typeface="Times New Roman Bold"/>
                <a:sym typeface="Times New Roman Bold"/>
              </a:rPr>
              <a:t>People’s Democratic Republic of Algeria Ministry of Higher Education and Scientific Research University </a:t>
            </a:r>
            <a:r>
              <a:rPr lang="en-GB" sz="1500" b="1" kern="1200" dirty="0" err="1">
                <a:latin typeface="Times New Roman Bold"/>
                <a:ea typeface="Times New Roman Bold"/>
                <a:cs typeface="Times New Roman Bold"/>
                <a:sym typeface="Times New Roman Bold"/>
              </a:rPr>
              <a:t>M’Hamed</a:t>
            </a:r>
            <a:r>
              <a:rPr lang="en-GB" sz="1500" b="1" kern="1200" dirty="0">
                <a:latin typeface="Times New Roman Bold"/>
                <a:ea typeface="Times New Roman Bold"/>
                <a:cs typeface="Times New Roman Bold"/>
                <a:sym typeface="Times New Roman Bold"/>
              </a:rPr>
              <a:t> BOUGARA – </a:t>
            </a:r>
            <a:r>
              <a:rPr lang="en-GB" sz="1500" b="1" kern="1200" dirty="0" err="1">
                <a:latin typeface="Times New Roman Bold"/>
                <a:ea typeface="Times New Roman Bold"/>
                <a:cs typeface="Times New Roman Bold"/>
                <a:sym typeface="Times New Roman Bold"/>
              </a:rPr>
              <a:t>Boumerdes</a:t>
            </a:r>
            <a:endParaRPr lang="en-US" sz="1500" b="1" kern="1200" dirty="0">
              <a:latin typeface="Times New Roman Bold"/>
              <a:ea typeface="Times New Roman Bold"/>
              <a:cs typeface="Times New Roman Bold"/>
              <a:sym typeface="Times New Roman Bold"/>
            </a:endParaRPr>
          </a:p>
        </p:txBody>
      </p:sp>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0617" y="377870"/>
            <a:ext cx="1943394" cy="1378597"/>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p:cNvSpPr txBox="1"/>
          <p:nvPr/>
        </p:nvSpPr>
        <p:spPr>
          <a:xfrm>
            <a:off x="1083112" y="4956988"/>
            <a:ext cx="4934857" cy="981038"/>
          </a:xfrm>
          <a:prstGeom prst="rect">
            <a:avLst/>
          </a:prstGeom>
          <a:noFill/>
          <a:effectLst/>
        </p:spPr>
        <p:txBody>
          <a:bodyPr wrap="square" rtlCol="0">
            <a:spAutoFit/>
          </a:bodyPr>
          <a:lstStyle/>
          <a:p>
            <a:pPr>
              <a:lnSpc>
                <a:spcPct val="150000"/>
              </a:lnSpc>
            </a:pPr>
            <a:r>
              <a:rPr lang="fr-FR" sz="1650" b="1" dirty="0">
                <a:solidFill>
                  <a:schemeClr val="tx1"/>
                </a:solidFill>
                <a:latin typeface="Times New Roman" panose="02020603050405020304" pitchFamily="18" charset="0"/>
                <a:ea typeface="Roboto Condensed" panose="020B0604020202020204" charset="0"/>
                <a:cs typeface="Times New Roman" panose="02020603050405020304" pitchFamily="18" charset="0"/>
              </a:rPr>
              <a:t>Presented By:</a:t>
            </a:r>
          </a:p>
          <a:p>
            <a:r>
              <a:rPr lang="fr-FR" sz="1650" b="1" dirty="0">
                <a:solidFill>
                  <a:schemeClr val="tx1"/>
                </a:solidFill>
                <a:latin typeface="Times New Roman" panose="02020603050405020304" pitchFamily="18" charset="0"/>
                <a:ea typeface="Roboto Condensed" panose="020B0604020202020204" charset="0"/>
                <a:cs typeface="Times New Roman" panose="02020603050405020304" pitchFamily="18" charset="0"/>
              </a:rPr>
              <a:t>       </a:t>
            </a:r>
            <a:r>
              <a:rPr lang="fr-FR" sz="1650" b="1" dirty="0" err="1">
                <a:solidFill>
                  <a:srgbClr val="002060"/>
                </a:solidFill>
                <a:latin typeface="Times New Roman" panose="02020603050405020304" pitchFamily="18" charset="0"/>
                <a:ea typeface="Roboto Condensed" panose="020B0604020202020204" charset="0"/>
                <a:cs typeface="Times New Roman" panose="02020603050405020304" pitchFamily="18" charset="0"/>
              </a:rPr>
              <a:t>Rayane</a:t>
            </a:r>
            <a:r>
              <a:rPr lang="fr-FR" sz="1650" b="1" dirty="0">
                <a:solidFill>
                  <a:srgbClr val="002060"/>
                </a:solidFill>
                <a:latin typeface="Times New Roman" panose="02020603050405020304" pitchFamily="18" charset="0"/>
                <a:ea typeface="Roboto Condensed" panose="020B0604020202020204" charset="0"/>
                <a:cs typeface="Times New Roman" panose="02020603050405020304" pitchFamily="18" charset="0"/>
              </a:rPr>
              <a:t> MESSALIT</a:t>
            </a:r>
          </a:p>
          <a:p>
            <a:r>
              <a:rPr lang="fr-FR" sz="1650" b="1" dirty="0">
                <a:solidFill>
                  <a:srgbClr val="002060"/>
                </a:solidFill>
                <a:latin typeface="Times New Roman" panose="02020603050405020304" pitchFamily="18" charset="0"/>
                <a:ea typeface="Roboto Condensed" panose="020B0604020202020204" charset="0"/>
                <a:cs typeface="Times New Roman" panose="02020603050405020304" pitchFamily="18" charset="0"/>
              </a:rPr>
              <a:t>       Yacine SIF</a:t>
            </a:r>
          </a:p>
        </p:txBody>
      </p:sp>
      <p:sp>
        <p:nvSpPr>
          <p:cNvPr id="9" name="ZoneTexte 8"/>
          <p:cNvSpPr txBox="1"/>
          <p:nvPr/>
        </p:nvSpPr>
        <p:spPr>
          <a:xfrm>
            <a:off x="6885462" y="4932022"/>
            <a:ext cx="4688114" cy="1007968"/>
          </a:xfrm>
          <a:prstGeom prst="rect">
            <a:avLst/>
          </a:prstGeom>
          <a:noFill/>
        </p:spPr>
        <p:txBody>
          <a:bodyPr wrap="square" rtlCol="0">
            <a:spAutoFit/>
          </a:bodyPr>
          <a:lstStyle/>
          <a:p>
            <a:pPr>
              <a:spcAft>
                <a:spcPts val="600"/>
              </a:spcAft>
            </a:pPr>
            <a:r>
              <a:rPr lang="fr-FR" sz="1650" b="1" dirty="0">
                <a:solidFill>
                  <a:schemeClr val="tx1"/>
                </a:solidFill>
                <a:latin typeface="Times New Roman" panose="02020603050405020304" pitchFamily="18" charset="0"/>
                <a:ea typeface="Roboto Condensed" panose="020B0604020202020204" charset="0"/>
                <a:cs typeface="Times New Roman" panose="02020603050405020304" pitchFamily="18" charset="0"/>
              </a:rPr>
              <a:t>Under Supervision of:</a:t>
            </a:r>
          </a:p>
          <a:p>
            <a:pPr>
              <a:spcAft>
                <a:spcPts val="600"/>
              </a:spcAft>
            </a:pPr>
            <a:r>
              <a:rPr lang="fr-FR" sz="1650" b="1" dirty="0">
                <a:solidFill>
                  <a:schemeClr val="tx1"/>
                </a:solidFill>
                <a:latin typeface="Times New Roman" panose="02020603050405020304" pitchFamily="18" charset="0"/>
                <a:ea typeface="Roboto Condensed" panose="020B0604020202020204" charset="0"/>
                <a:cs typeface="Times New Roman" panose="02020603050405020304" pitchFamily="18" charset="0"/>
              </a:rPr>
              <a:t>        </a:t>
            </a:r>
            <a:r>
              <a:rPr lang="fr-FR" sz="1650" b="1" dirty="0">
                <a:solidFill>
                  <a:srgbClr val="002060"/>
                </a:solidFill>
                <a:latin typeface="Times New Roman" panose="02020603050405020304" pitchFamily="18" charset="0"/>
                <a:ea typeface="Roboto Condensed" panose="020B0604020202020204" charset="0"/>
                <a:cs typeface="Times New Roman" panose="02020603050405020304" pitchFamily="18" charset="0"/>
              </a:rPr>
              <a:t>Dr. </a:t>
            </a:r>
            <a:r>
              <a:rPr lang="fr-FR" sz="1650" b="1" dirty="0" err="1">
                <a:solidFill>
                  <a:srgbClr val="002060"/>
                </a:solidFill>
                <a:latin typeface="Times New Roman" panose="02020603050405020304" pitchFamily="18" charset="0"/>
                <a:ea typeface="Roboto Condensed" panose="020B0604020202020204" charset="0"/>
                <a:cs typeface="Times New Roman" panose="02020603050405020304" pitchFamily="18" charset="0"/>
              </a:rPr>
              <a:t>Elhocine</a:t>
            </a:r>
            <a:r>
              <a:rPr lang="fr-FR" sz="1650" b="1" dirty="0">
                <a:solidFill>
                  <a:srgbClr val="002060"/>
                </a:solidFill>
                <a:latin typeface="Times New Roman" panose="02020603050405020304" pitchFamily="18" charset="0"/>
                <a:ea typeface="Roboto Condensed" panose="020B0604020202020204" charset="0"/>
                <a:cs typeface="Times New Roman" panose="02020603050405020304" pitchFamily="18" charset="0"/>
              </a:rPr>
              <a:t> BOUTELLAA</a:t>
            </a:r>
          </a:p>
          <a:p>
            <a:pPr>
              <a:spcAft>
                <a:spcPts val="600"/>
              </a:spcAft>
            </a:pPr>
            <a:r>
              <a:rPr lang="fr-FR" sz="1650" b="1" dirty="0">
                <a:solidFill>
                  <a:srgbClr val="002060"/>
                </a:solidFill>
                <a:latin typeface="Times New Roman" panose="02020603050405020304" pitchFamily="18" charset="0"/>
                <a:ea typeface="Roboto Condensed" panose="020B0604020202020204" charset="0"/>
                <a:cs typeface="Times New Roman" panose="02020603050405020304" pitchFamily="18" charset="0"/>
              </a:rPr>
              <a:t>        Dr. Rachid NAMANE</a:t>
            </a:r>
          </a:p>
        </p:txBody>
      </p:sp>
      <p:sp>
        <p:nvSpPr>
          <p:cNvPr id="10" name="TextBox 9"/>
          <p:cNvSpPr txBox="1"/>
          <p:nvPr/>
        </p:nvSpPr>
        <p:spPr>
          <a:xfrm>
            <a:off x="4049967" y="1382981"/>
            <a:ext cx="3648469" cy="430887"/>
          </a:xfrm>
          <a:prstGeom prst="rect">
            <a:avLst/>
          </a:prstGeom>
          <a:noFill/>
        </p:spPr>
        <p:txBody>
          <a:bodyPr wrap="square" rtlCol="0">
            <a:spAutoFit/>
          </a:bodyPr>
          <a:lstStyle/>
          <a:p>
            <a:pPr algn="ctr"/>
            <a:r>
              <a:rPr lang="en-GB" sz="1100" b="1" dirty="0">
                <a:solidFill>
                  <a:prstClr val="black"/>
                </a:solidFill>
                <a:latin typeface="Times New Roman" panose="02020603050405020304" pitchFamily="18" charset="0"/>
                <a:cs typeface="Times New Roman" panose="02020603050405020304" pitchFamily="18" charset="0"/>
              </a:rPr>
              <a:t>Institute of Electrical and Electronic Engineering</a:t>
            </a:r>
          </a:p>
          <a:p>
            <a:pPr algn="ctr"/>
            <a:r>
              <a:rPr lang="en-GB" sz="1100" b="1" dirty="0">
                <a:solidFill>
                  <a:prstClr val="black"/>
                </a:solidFill>
                <a:latin typeface="Times New Roman" panose="02020603050405020304" pitchFamily="18" charset="0"/>
                <a:cs typeface="Times New Roman" panose="02020603050405020304" pitchFamily="18" charset="0"/>
              </a:rPr>
              <a:t>Department of Electronics</a:t>
            </a:r>
          </a:p>
        </p:txBody>
      </p:sp>
      <p:sp>
        <p:nvSpPr>
          <p:cNvPr id="11" name="TextBox 10"/>
          <p:cNvSpPr txBox="1"/>
          <p:nvPr/>
        </p:nvSpPr>
        <p:spPr>
          <a:xfrm>
            <a:off x="5274127" y="6331532"/>
            <a:ext cx="1200150" cy="338554"/>
          </a:xfrm>
          <a:prstGeom prst="rect">
            <a:avLst/>
          </a:prstGeom>
          <a:noFill/>
        </p:spPr>
        <p:txBody>
          <a:bodyPr wrap="square" rtlCol="0">
            <a:spAutoFit/>
          </a:bodyPr>
          <a:lstStyle/>
          <a:p>
            <a:pPr algn="ctr"/>
            <a:r>
              <a:rPr lang="en-GB" sz="1600" b="1" dirty="0">
                <a:latin typeface="Times New Roman" panose="02020603050405020304" pitchFamily="18" charset="0"/>
                <a:cs typeface="Times New Roman" panose="02020603050405020304" pitchFamily="18" charset="0"/>
              </a:rPr>
              <a:t>2024/2025</a:t>
            </a:r>
          </a:p>
        </p:txBody>
      </p:sp>
    </p:spTree>
    <p:extLst>
      <p:ext uri="{BB962C8B-B14F-4D97-AF65-F5344CB8AC3E}">
        <p14:creationId xmlns:p14="http://schemas.microsoft.com/office/powerpoint/2010/main" val="9690566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2800" dirty="0"/>
              <a:t>Plan</a:t>
            </a:r>
          </a:p>
        </p:txBody>
      </p:sp>
      <p:sp>
        <p:nvSpPr>
          <p:cNvPr id="3" name="Espace réservé du numéro de diapositive 2"/>
          <p:cNvSpPr>
            <a:spLocks noGrp="1"/>
          </p:cNvSpPr>
          <p:nvPr>
            <p:ph type="sldNum" idx="12"/>
          </p:nvPr>
        </p:nvSpPr>
        <p:spPr/>
        <p:txBody>
          <a:bodyPr/>
          <a:lstStyle/>
          <a:p>
            <a:r>
              <a:rPr lang="en-US" sz="1800" dirty="0">
                <a:solidFill>
                  <a:srgbClr val="3F5378"/>
                </a:solidFill>
                <a:latin typeface="Roboto Condensed" panose="020B0604020202020204"/>
              </a:rPr>
              <a:t>2</a:t>
            </a:r>
          </a:p>
        </p:txBody>
      </p:sp>
      <p:sp>
        <p:nvSpPr>
          <p:cNvPr id="4" name="Shape 3452"/>
          <p:cNvSpPr/>
          <p:nvPr/>
        </p:nvSpPr>
        <p:spPr>
          <a:xfrm flipV="1">
            <a:off x="1044058" y="3060291"/>
            <a:ext cx="10034415" cy="0"/>
          </a:xfrm>
          <a:prstGeom prst="line">
            <a:avLst/>
          </a:prstGeom>
          <a:ln w="76200">
            <a:solidFill>
              <a:schemeClr val="bg1">
                <a:lumMod val="85000"/>
              </a:schemeClr>
            </a:solidFill>
            <a:miter lim="400000"/>
          </a:ln>
        </p:spPr>
        <p:txBody>
          <a:bodyPr lIns="0" tIns="0" rIns="0" bIns="0" anchor="ctr"/>
          <a:lstStyle/>
          <a:p>
            <a:pPr lvl="0">
              <a:defRPr sz="3200"/>
            </a:pPr>
            <a:endParaRPr sz="4400">
              <a:solidFill>
                <a:schemeClr val="tx1">
                  <a:lumMod val="75000"/>
                  <a:lumOff val="25000"/>
                </a:schemeClr>
              </a:solidFill>
              <a:latin typeface="+mj-lt"/>
            </a:endParaRPr>
          </a:p>
        </p:txBody>
      </p:sp>
      <p:grpSp>
        <p:nvGrpSpPr>
          <p:cNvPr id="21" name="Group 20"/>
          <p:cNvGrpSpPr/>
          <p:nvPr/>
        </p:nvGrpSpPr>
        <p:grpSpPr>
          <a:xfrm>
            <a:off x="1346531" y="2864556"/>
            <a:ext cx="1832593" cy="1889972"/>
            <a:chOff x="890827" y="2873249"/>
            <a:chExt cx="1832593" cy="1889972"/>
          </a:xfrm>
        </p:grpSpPr>
        <p:sp>
          <p:nvSpPr>
            <p:cNvPr id="5" name="Oval 2"/>
            <p:cNvSpPr/>
            <p:nvPr/>
          </p:nvSpPr>
          <p:spPr>
            <a:xfrm>
              <a:off x="1611150" y="2873249"/>
              <a:ext cx="374087" cy="374087"/>
            </a:xfrm>
            <a:prstGeom prst="ellipse">
              <a:avLst/>
            </a:prstGeom>
            <a:solidFill>
              <a:srgbClr val="3F53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1</a:t>
              </a:r>
            </a:p>
          </p:txBody>
        </p:sp>
        <p:sp>
          <p:nvSpPr>
            <p:cNvPr id="6" name="Rectangle 5"/>
            <p:cNvSpPr/>
            <p:nvPr/>
          </p:nvSpPr>
          <p:spPr>
            <a:xfrm>
              <a:off x="890827" y="4203994"/>
              <a:ext cx="1832593" cy="559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sz="1600" b="1" dirty="0">
                  <a:solidFill>
                    <a:srgbClr val="3F5378"/>
                  </a:solidFill>
                  <a:latin typeface="Roboto Condensed" panose="020B0604020202020204" charset="0"/>
                  <a:ea typeface="Roboto Condensed" panose="020B0604020202020204" charset="0"/>
                  <a:cs typeface="Open Sans" panose="020B0606030504020204" pitchFamily="34" charset="0"/>
                </a:rPr>
                <a:t>Introduction and Background</a:t>
              </a:r>
            </a:p>
          </p:txBody>
        </p:sp>
        <p:grpSp>
          <p:nvGrpSpPr>
            <p:cNvPr id="23" name="Shape 752"/>
            <p:cNvGrpSpPr/>
            <p:nvPr/>
          </p:nvGrpSpPr>
          <p:grpSpPr>
            <a:xfrm>
              <a:off x="1538043" y="3502869"/>
              <a:ext cx="538162" cy="538162"/>
              <a:chOff x="5941025" y="3634400"/>
              <a:chExt cx="467650" cy="467650"/>
            </a:xfrm>
            <a:solidFill>
              <a:schemeClr val="lt1"/>
            </a:solidFill>
          </p:grpSpPr>
          <p:sp>
            <p:nvSpPr>
              <p:cNvPr id="24" name="Shape 753"/>
              <p:cNvSpPr/>
              <p:nvPr/>
            </p:nvSpPr>
            <p:spPr>
              <a:xfrm>
                <a:off x="5941025" y="3634400"/>
                <a:ext cx="467650" cy="467650"/>
              </a:xfrm>
              <a:custGeom>
                <a:avLst/>
                <a:gdLst/>
                <a:ahLst/>
                <a:cxnLst/>
                <a:rect l="0" t="0" r="0" b="0"/>
                <a:pathLst>
                  <a:path w="18706" h="18706" fill="none" extrusionOk="0">
                    <a:moveTo>
                      <a:pt x="9353" y="1"/>
                    </a:moveTo>
                    <a:lnTo>
                      <a:pt x="9353" y="1"/>
                    </a:lnTo>
                    <a:lnTo>
                      <a:pt x="8866" y="25"/>
                    </a:lnTo>
                    <a:lnTo>
                      <a:pt x="8403" y="50"/>
                    </a:lnTo>
                    <a:lnTo>
                      <a:pt x="7940" y="123"/>
                    </a:lnTo>
                    <a:lnTo>
                      <a:pt x="7478" y="196"/>
                    </a:lnTo>
                    <a:lnTo>
                      <a:pt x="7015" y="293"/>
                    </a:lnTo>
                    <a:lnTo>
                      <a:pt x="6577" y="439"/>
                    </a:lnTo>
                    <a:lnTo>
                      <a:pt x="6138" y="585"/>
                    </a:lnTo>
                    <a:lnTo>
                      <a:pt x="5724" y="732"/>
                    </a:lnTo>
                    <a:lnTo>
                      <a:pt x="5310" y="926"/>
                    </a:lnTo>
                    <a:lnTo>
                      <a:pt x="4896" y="1146"/>
                    </a:lnTo>
                    <a:lnTo>
                      <a:pt x="4506" y="1365"/>
                    </a:lnTo>
                    <a:lnTo>
                      <a:pt x="4117" y="1608"/>
                    </a:lnTo>
                    <a:lnTo>
                      <a:pt x="3751" y="1876"/>
                    </a:lnTo>
                    <a:lnTo>
                      <a:pt x="3410" y="2144"/>
                    </a:lnTo>
                    <a:lnTo>
                      <a:pt x="3069" y="2436"/>
                    </a:lnTo>
                    <a:lnTo>
                      <a:pt x="2753" y="2753"/>
                    </a:lnTo>
                    <a:lnTo>
                      <a:pt x="2436" y="3070"/>
                    </a:lnTo>
                    <a:lnTo>
                      <a:pt x="2144" y="3411"/>
                    </a:lnTo>
                    <a:lnTo>
                      <a:pt x="1876" y="3752"/>
                    </a:lnTo>
                    <a:lnTo>
                      <a:pt x="1608" y="4117"/>
                    </a:lnTo>
                    <a:lnTo>
                      <a:pt x="1365" y="4507"/>
                    </a:lnTo>
                    <a:lnTo>
                      <a:pt x="1145" y="4896"/>
                    </a:lnTo>
                    <a:lnTo>
                      <a:pt x="926" y="5310"/>
                    </a:lnTo>
                    <a:lnTo>
                      <a:pt x="731" y="5724"/>
                    </a:lnTo>
                    <a:lnTo>
                      <a:pt x="585" y="6138"/>
                    </a:lnTo>
                    <a:lnTo>
                      <a:pt x="439" y="6577"/>
                    </a:lnTo>
                    <a:lnTo>
                      <a:pt x="293" y="7015"/>
                    </a:lnTo>
                    <a:lnTo>
                      <a:pt x="196" y="7478"/>
                    </a:lnTo>
                    <a:lnTo>
                      <a:pt x="123" y="7941"/>
                    </a:lnTo>
                    <a:lnTo>
                      <a:pt x="49" y="8403"/>
                    </a:lnTo>
                    <a:lnTo>
                      <a:pt x="25" y="8866"/>
                    </a:lnTo>
                    <a:lnTo>
                      <a:pt x="1" y="9353"/>
                    </a:lnTo>
                    <a:lnTo>
                      <a:pt x="1" y="9353"/>
                    </a:lnTo>
                    <a:lnTo>
                      <a:pt x="25" y="9840"/>
                    </a:lnTo>
                    <a:lnTo>
                      <a:pt x="49" y="10303"/>
                    </a:lnTo>
                    <a:lnTo>
                      <a:pt x="123" y="10766"/>
                    </a:lnTo>
                    <a:lnTo>
                      <a:pt x="196" y="11229"/>
                    </a:lnTo>
                    <a:lnTo>
                      <a:pt x="293" y="11691"/>
                    </a:lnTo>
                    <a:lnTo>
                      <a:pt x="439" y="12130"/>
                    </a:lnTo>
                    <a:lnTo>
                      <a:pt x="585" y="12568"/>
                    </a:lnTo>
                    <a:lnTo>
                      <a:pt x="731" y="12982"/>
                    </a:lnTo>
                    <a:lnTo>
                      <a:pt x="926" y="13396"/>
                    </a:lnTo>
                    <a:lnTo>
                      <a:pt x="1145" y="13810"/>
                    </a:lnTo>
                    <a:lnTo>
                      <a:pt x="1365" y="14200"/>
                    </a:lnTo>
                    <a:lnTo>
                      <a:pt x="1608" y="14590"/>
                    </a:lnTo>
                    <a:lnTo>
                      <a:pt x="1876" y="14955"/>
                    </a:lnTo>
                    <a:lnTo>
                      <a:pt x="2144" y="15296"/>
                    </a:lnTo>
                    <a:lnTo>
                      <a:pt x="2436" y="15637"/>
                    </a:lnTo>
                    <a:lnTo>
                      <a:pt x="2753" y="15953"/>
                    </a:lnTo>
                    <a:lnTo>
                      <a:pt x="3069" y="16270"/>
                    </a:lnTo>
                    <a:lnTo>
                      <a:pt x="3410" y="16562"/>
                    </a:lnTo>
                    <a:lnTo>
                      <a:pt x="3751" y="16830"/>
                    </a:lnTo>
                    <a:lnTo>
                      <a:pt x="4117" y="17098"/>
                    </a:lnTo>
                    <a:lnTo>
                      <a:pt x="4506" y="17342"/>
                    </a:lnTo>
                    <a:lnTo>
                      <a:pt x="4896" y="17561"/>
                    </a:lnTo>
                    <a:lnTo>
                      <a:pt x="5310" y="17780"/>
                    </a:lnTo>
                    <a:lnTo>
                      <a:pt x="5724" y="17975"/>
                    </a:lnTo>
                    <a:lnTo>
                      <a:pt x="6138" y="18121"/>
                    </a:lnTo>
                    <a:lnTo>
                      <a:pt x="6577" y="18267"/>
                    </a:lnTo>
                    <a:lnTo>
                      <a:pt x="7015" y="18413"/>
                    </a:lnTo>
                    <a:lnTo>
                      <a:pt x="7478" y="18511"/>
                    </a:lnTo>
                    <a:lnTo>
                      <a:pt x="7940" y="18584"/>
                    </a:lnTo>
                    <a:lnTo>
                      <a:pt x="8403" y="18657"/>
                    </a:lnTo>
                    <a:lnTo>
                      <a:pt x="8866" y="18681"/>
                    </a:lnTo>
                    <a:lnTo>
                      <a:pt x="9353" y="18706"/>
                    </a:lnTo>
                    <a:lnTo>
                      <a:pt x="9353" y="18706"/>
                    </a:lnTo>
                    <a:lnTo>
                      <a:pt x="9840" y="18681"/>
                    </a:lnTo>
                    <a:lnTo>
                      <a:pt x="10303" y="18657"/>
                    </a:lnTo>
                    <a:lnTo>
                      <a:pt x="10766" y="18584"/>
                    </a:lnTo>
                    <a:lnTo>
                      <a:pt x="11228" y="18511"/>
                    </a:lnTo>
                    <a:lnTo>
                      <a:pt x="11691" y="18413"/>
                    </a:lnTo>
                    <a:lnTo>
                      <a:pt x="12130" y="18267"/>
                    </a:lnTo>
                    <a:lnTo>
                      <a:pt x="12568" y="18121"/>
                    </a:lnTo>
                    <a:lnTo>
                      <a:pt x="12982" y="17975"/>
                    </a:lnTo>
                    <a:lnTo>
                      <a:pt x="13396" y="17780"/>
                    </a:lnTo>
                    <a:lnTo>
                      <a:pt x="13810" y="17561"/>
                    </a:lnTo>
                    <a:lnTo>
                      <a:pt x="14200" y="17342"/>
                    </a:lnTo>
                    <a:lnTo>
                      <a:pt x="14589" y="17098"/>
                    </a:lnTo>
                    <a:lnTo>
                      <a:pt x="14955" y="16830"/>
                    </a:lnTo>
                    <a:lnTo>
                      <a:pt x="15296" y="16562"/>
                    </a:lnTo>
                    <a:lnTo>
                      <a:pt x="15637" y="16270"/>
                    </a:lnTo>
                    <a:lnTo>
                      <a:pt x="15953" y="15953"/>
                    </a:lnTo>
                    <a:lnTo>
                      <a:pt x="16270" y="15637"/>
                    </a:lnTo>
                    <a:lnTo>
                      <a:pt x="16562" y="15296"/>
                    </a:lnTo>
                    <a:lnTo>
                      <a:pt x="16830" y="14955"/>
                    </a:lnTo>
                    <a:lnTo>
                      <a:pt x="17098" y="14590"/>
                    </a:lnTo>
                    <a:lnTo>
                      <a:pt x="17341" y="14200"/>
                    </a:lnTo>
                    <a:lnTo>
                      <a:pt x="17561" y="13810"/>
                    </a:lnTo>
                    <a:lnTo>
                      <a:pt x="17780" y="13396"/>
                    </a:lnTo>
                    <a:lnTo>
                      <a:pt x="17975" y="12982"/>
                    </a:lnTo>
                    <a:lnTo>
                      <a:pt x="18121" y="12568"/>
                    </a:lnTo>
                    <a:lnTo>
                      <a:pt x="18267" y="12130"/>
                    </a:lnTo>
                    <a:lnTo>
                      <a:pt x="18413" y="11691"/>
                    </a:lnTo>
                    <a:lnTo>
                      <a:pt x="18511" y="11229"/>
                    </a:lnTo>
                    <a:lnTo>
                      <a:pt x="18584" y="10766"/>
                    </a:lnTo>
                    <a:lnTo>
                      <a:pt x="18657" y="10303"/>
                    </a:lnTo>
                    <a:lnTo>
                      <a:pt x="18681" y="9840"/>
                    </a:lnTo>
                    <a:lnTo>
                      <a:pt x="18705" y="9353"/>
                    </a:lnTo>
                    <a:lnTo>
                      <a:pt x="18705" y="9353"/>
                    </a:lnTo>
                    <a:lnTo>
                      <a:pt x="18681" y="8866"/>
                    </a:lnTo>
                    <a:lnTo>
                      <a:pt x="18657" y="8403"/>
                    </a:lnTo>
                    <a:lnTo>
                      <a:pt x="18584" y="7941"/>
                    </a:lnTo>
                    <a:lnTo>
                      <a:pt x="18511" y="7478"/>
                    </a:lnTo>
                    <a:lnTo>
                      <a:pt x="18413" y="7015"/>
                    </a:lnTo>
                    <a:lnTo>
                      <a:pt x="18267" y="6577"/>
                    </a:lnTo>
                    <a:lnTo>
                      <a:pt x="18121" y="6138"/>
                    </a:lnTo>
                    <a:lnTo>
                      <a:pt x="17975" y="5724"/>
                    </a:lnTo>
                    <a:lnTo>
                      <a:pt x="17780" y="5310"/>
                    </a:lnTo>
                    <a:lnTo>
                      <a:pt x="17561" y="4896"/>
                    </a:lnTo>
                    <a:lnTo>
                      <a:pt x="17341" y="4507"/>
                    </a:lnTo>
                    <a:lnTo>
                      <a:pt x="17098" y="4117"/>
                    </a:lnTo>
                    <a:lnTo>
                      <a:pt x="16830" y="3752"/>
                    </a:lnTo>
                    <a:lnTo>
                      <a:pt x="16562" y="3411"/>
                    </a:lnTo>
                    <a:lnTo>
                      <a:pt x="16270" y="3070"/>
                    </a:lnTo>
                    <a:lnTo>
                      <a:pt x="15953" y="2753"/>
                    </a:lnTo>
                    <a:lnTo>
                      <a:pt x="15637" y="2436"/>
                    </a:lnTo>
                    <a:lnTo>
                      <a:pt x="15296" y="2144"/>
                    </a:lnTo>
                    <a:lnTo>
                      <a:pt x="14955" y="1876"/>
                    </a:lnTo>
                    <a:lnTo>
                      <a:pt x="14589" y="1608"/>
                    </a:lnTo>
                    <a:lnTo>
                      <a:pt x="14200" y="1365"/>
                    </a:lnTo>
                    <a:lnTo>
                      <a:pt x="13810" y="1146"/>
                    </a:lnTo>
                    <a:lnTo>
                      <a:pt x="13396" y="926"/>
                    </a:lnTo>
                    <a:lnTo>
                      <a:pt x="12982" y="732"/>
                    </a:lnTo>
                    <a:lnTo>
                      <a:pt x="12568" y="585"/>
                    </a:lnTo>
                    <a:lnTo>
                      <a:pt x="12130" y="439"/>
                    </a:lnTo>
                    <a:lnTo>
                      <a:pt x="11691" y="293"/>
                    </a:lnTo>
                    <a:lnTo>
                      <a:pt x="11228" y="196"/>
                    </a:lnTo>
                    <a:lnTo>
                      <a:pt x="10766" y="123"/>
                    </a:lnTo>
                    <a:lnTo>
                      <a:pt x="10303" y="50"/>
                    </a:lnTo>
                    <a:lnTo>
                      <a:pt x="9840" y="25"/>
                    </a:lnTo>
                    <a:lnTo>
                      <a:pt x="9353" y="1"/>
                    </a:lnTo>
                    <a:lnTo>
                      <a:pt x="9353" y="1"/>
                    </a:lnTo>
                  </a:path>
                </a:pathLst>
              </a:custGeom>
              <a:grpFill/>
              <a:ln w="0">
                <a:solidFill>
                  <a:srgbClr val="53585F"/>
                </a:solidFill>
                <a:headEnd type="none" w="med" len="med"/>
                <a:tailEnd type="none" w="med" len="med"/>
              </a:ln>
            </p:spPr>
            <p:style>
              <a:lnRef idx="1">
                <a:schemeClr val="dk1"/>
              </a:lnRef>
              <a:fillRef idx="1001">
                <a:schemeClr val="lt2"/>
              </a:fillRef>
              <a:effectRef idx="0">
                <a:schemeClr val="dk1"/>
              </a:effectRef>
              <a:fontRef idx="minor">
                <a:schemeClr val="tx1"/>
              </a:fontRef>
            </p:style>
            <p:txBody>
              <a:bodyPr lIns="91425" tIns="91425" rIns="91425" bIns="91425" anchor="ctr" anchorCtr="0">
                <a:noAutofit/>
              </a:bodyPr>
              <a:lstStyle/>
              <a:p>
                <a:pPr lvl="0">
                  <a:spcBef>
                    <a:spcPts val="0"/>
                  </a:spcBef>
                  <a:buNone/>
                </a:pPr>
                <a:endParaRPr>
                  <a:ln w="0"/>
                  <a:solidFill>
                    <a:schemeClr val="tx1"/>
                  </a:solidFill>
                  <a:effectLst>
                    <a:outerShdw blurRad="38100" dist="19050" dir="2700000" algn="tl" rotWithShape="0">
                      <a:schemeClr val="dk1">
                        <a:alpha val="40000"/>
                      </a:schemeClr>
                    </a:outerShdw>
                  </a:effectLst>
                </a:endParaRPr>
              </a:p>
            </p:txBody>
          </p:sp>
          <p:sp>
            <p:nvSpPr>
              <p:cNvPr id="25" name="Shape 754"/>
              <p:cNvSpPr/>
              <p:nvPr/>
            </p:nvSpPr>
            <p:spPr>
              <a:xfrm>
                <a:off x="6211975" y="3753150"/>
                <a:ext cx="19525" cy="18900"/>
              </a:xfrm>
              <a:custGeom>
                <a:avLst/>
                <a:gdLst/>
                <a:ahLst/>
                <a:cxnLst/>
                <a:rect l="0" t="0" r="0" b="0"/>
                <a:pathLst>
                  <a:path w="781" h="756" fill="none" extrusionOk="0">
                    <a:moveTo>
                      <a:pt x="585" y="0"/>
                    </a:moveTo>
                    <a:lnTo>
                      <a:pt x="585" y="0"/>
                    </a:lnTo>
                    <a:lnTo>
                      <a:pt x="658" y="24"/>
                    </a:lnTo>
                    <a:lnTo>
                      <a:pt x="707" y="49"/>
                    </a:lnTo>
                    <a:lnTo>
                      <a:pt x="756" y="122"/>
                    </a:lnTo>
                    <a:lnTo>
                      <a:pt x="780" y="195"/>
                    </a:lnTo>
                    <a:lnTo>
                      <a:pt x="780" y="195"/>
                    </a:lnTo>
                    <a:lnTo>
                      <a:pt x="756" y="268"/>
                    </a:lnTo>
                    <a:lnTo>
                      <a:pt x="707" y="390"/>
                    </a:lnTo>
                    <a:lnTo>
                      <a:pt x="658" y="487"/>
                    </a:lnTo>
                    <a:lnTo>
                      <a:pt x="585" y="560"/>
                    </a:lnTo>
                    <a:lnTo>
                      <a:pt x="585" y="560"/>
                    </a:lnTo>
                    <a:lnTo>
                      <a:pt x="488" y="633"/>
                    </a:lnTo>
                    <a:lnTo>
                      <a:pt x="390" y="706"/>
                    </a:lnTo>
                    <a:lnTo>
                      <a:pt x="293" y="755"/>
                    </a:lnTo>
                    <a:lnTo>
                      <a:pt x="196" y="755"/>
                    </a:lnTo>
                    <a:lnTo>
                      <a:pt x="196" y="755"/>
                    </a:lnTo>
                    <a:lnTo>
                      <a:pt x="122" y="755"/>
                    </a:lnTo>
                    <a:lnTo>
                      <a:pt x="74" y="706"/>
                    </a:lnTo>
                    <a:lnTo>
                      <a:pt x="25" y="633"/>
                    </a:lnTo>
                    <a:lnTo>
                      <a:pt x="1" y="560"/>
                    </a:lnTo>
                    <a:lnTo>
                      <a:pt x="1" y="560"/>
                    </a:lnTo>
                    <a:lnTo>
                      <a:pt x="25" y="487"/>
                    </a:lnTo>
                    <a:lnTo>
                      <a:pt x="74" y="390"/>
                    </a:lnTo>
                    <a:lnTo>
                      <a:pt x="122" y="268"/>
                    </a:lnTo>
                    <a:lnTo>
                      <a:pt x="196" y="195"/>
                    </a:lnTo>
                    <a:lnTo>
                      <a:pt x="196" y="195"/>
                    </a:lnTo>
                    <a:lnTo>
                      <a:pt x="293" y="122"/>
                    </a:lnTo>
                    <a:lnTo>
                      <a:pt x="390" y="49"/>
                    </a:lnTo>
                    <a:lnTo>
                      <a:pt x="488" y="24"/>
                    </a:lnTo>
                    <a:lnTo>
                      <a:pt x="585" y="0"/>
                    </a:lnTo>
                    <a:lnTo>
                      <a:pt x="585" y="0"/>
                    </a:lnTo>
                  </a:path>
                </a:pathLst>
              </a:custGeom>
              <a:grpFill/>
              <a:ln w="0">
                <a:solidFill>
                  <a:srgbClr val="53585F"/>
                </a:solidFill>
                <a:headEnd type="none" w="med" len="med"/>
                <a:tailEnd type="none" w="med" len="med"/>
              </a:ln>
            </p:spPr>
            <p:style>
              <a:lnRef idx="1">
                <a:schemeClr val="dk1"/>
              </a:lnRef>
              <a:fillRef idx="1001">
                <a:schemeClr val="lt2"/>
              </a:fillRef>
              <a:effectRef idx="0">
                <a:schemeClr val="dk1"/>
              </a:effectRef>
              <a:fontRef idx="minor">
                <a:schemeClr val="tx1"/>
              </a:fontRef>
            </p:style>
            <p:txBody>
              <a:bodyPr lIns="91425" tIns="91425" rIns="91425" bIns="91425" anchor="ctr" anchorCtr="0">
                <a:noAutofit/>
              </a:bodyPr>
              <a:lstStyle/>
              <a:p>
                <a:pPr lvl="0">
                  <a:spcBef>
                    <a:spcPts val="0"/>
                  </a:spcBef>
                  <a:buNone/>
                </a:pPr>
                <a:endParaRPr>
                  <a:ln w="0"/>
                  <a:solidFill>
                    <a:schemeClr val="tx1"/>
                  </a:solidFill>
                  <a:effectLst>
                    <a:outerShdw blurRad="38100" dist="19050" dir="2700000" algn="tl" rotWithShape="0">
                      <a:schemeClr val="dk1">
                        <a:alpha val="40000"/>
                      </a:schemeClr>
                    </a:outerShdw>
                  </a:effectLst>
                </a:endParaRPr>
              </a:p>
            </p:txBody>
          </p:sp>
          <p:sp>
            <p:nvSpPr>
              <p:cNvPr id="26" name="Shape 755"/>
              <p:cNvSpPr/>
              <p:nvPr/>
            </p:nvSpPr>
            <p:spPr>
              <a:xfrm>
                <a:off x="5943475" y="3695900"/>
                <a:ext cx="177800" cy="351350"/>
              </a:xfrm>
              <a:custGeom>
                <a:avLst/>
                <a:gdLst/>
                <a:ahLst/>
                <a:cxnLst/>
                <a:rect l="0" t="0" r="0" b="0"/>
                <a:pathLst>
                  <a:path w="7112" h="14054" fill="none" extrusionOk="0">
                    <a:moveTo>
                      <a:pt x="2582" y="780"/>
                    </a:moveTo>
                    <a:lnTo>
                      <a:pt x="2582" y="780"/>
                    </a:lnTo>
                    <a:lnTo>
                      <a:pt x="2752" y="780"/>
                    </a:lnTo>
                    <a:lnTo>
                      <a:pt x="2752" y="780"/>
                    </a:lnTo>
                    <a:lnTo>
                      <a:pt x="2996" y="780"/>
                    </a:lnTo>
                    <a:lnTo>
                      <a:pt x="3215" y="829"/>
                    </a:lnTo>
                    <a:lnTo>
                      <a:pt x="3386" y="878"/>
                    </a:lnTo>
                    <a:lnTo>
                      <a:pt x="3507" y="951"/>
                    </a:lnTo>
                    <a:lnTo>
                      <a:pt x="3507" y="951"/>
                    </a:lnTo>
                    <a:lnTo>
                      <a:pt x="3605" y="1024"/>
                    </a:lnTo>
                    <a:lnTo>
                      <a:pt x="3702" y="1048"/>
                    </a:lnTo>
                    <a:lnTo>
                      <a:pt x="3800" y="1024"/>
                    </a:lnTo>
                    <a:lnTo>
                      <a:pt x="3897" y="951"/>
                    </a:lnTo>
                    <a:lnTo>
                      <a:pt x="3897" y="951"/>
                    </a:lnTo>
                    <a:lnTo>
                      <a:pt x="3970" y="878"/>
                    </a:lnTo>
                    <a:lnTo>
                      <a:pt x="4092" y="829"/>
                    </a:lnTo>
                    <a:lnTo>
                      <a:pt x="4189" y="780"/>
                    </a:lnTo>
                    <a:lnTo>
                      <a:pt x="4262" y="780"/>
                    </a:lnTo>
                    <a:lnTo>
                      <a:pt x="4262" y="780"/>
                    </a:lnTo>
                    <a:lnTo>
                      <a:pt x="4384" y="731"/>
                    </a:lnTo>
                    <a:lnTo>
                      <a:pt x="4506" y="658"/>
                    </a:lnTo>
                    <a:lnTo>
                      <a:pt x="4676" y="537"/>
                    </a:lnTo>
                    <a:lnTo>
                      <a:pt x="4847" y="390"/>
                    </a:lnTo>
                    <a:lnTo>
                      <a:pt x="4847" y="390"/>
                    </a:lnTo>
                    <a:lnTo>
                      <a:pt x="5042" y="244"/>
                    </a:lnTo>
                    <a:lnTo>
                      <a:pt x="5285" y="123"/>
                    </a:lnTo>
                    <a:lnTo>
                      <a:pt x="5529" y="49"/>
                    </a:lnTo>
                    <a:lnTo>
                      <a:pt x="5797" y="1"/>
                    </a:lnTo>
                    <a:lnTo>
                      <a:pt x="5797" y="1"/>
                    </a:lnTo>
                    <a:lnTo>
                      <a:pt x="5894" y="25"/>
                    </a:lnTo>
                    <a:lnTo>
                      <a:pt x="5992" y="49"/>
                    </a:lnTo>
                    <a:lnTo>
                      <a:pt x="6040" y="74"/>
                    </a:lnTo>
                    <a:lnTo>
                      <a:pt x="6089" y="123"/>
                    </a:lnTo>
                    <a:lnTo>
                      <a:pt x="6089" y="171"/>
                    </a:lnTo>
                    <a:lnTo>
                      <a:pt x="6089" y="244"/>
                    </a:lnTo>
                    <a:lnTo>
                      <a:pt x="6040" y="317"/>
                    </a:lnTo>
                    <a:lnTo>
                      <a:pt x="5992" y="390"/>
                    </a:lnTo>
                    <a:lnTo>
                      <a:pt x="5992" y="390"/>
                    </a:lnTo>
                    <a:lnTo>
                      <a:pt x="5845" y="561"/>
                    </a:lnTo>
                    <a:lnTo>
                      <a:pt x="5772" y="707"/>
                    </a:lnTo>
                    <a:lnTo>
                      <a:pt x="5748" y="853"/>
                    </a:lnTo>
                    <a:lnTo>
                      <a:pt x="5772" y="926"/>
                    </a:lnTo>
                    <a:lnTo>
                      <a:pt x="5797" y="951"/>
                    </a:lnTo>
                    <a:lnTo>
                      <a:pt x="5797" y="951"/>
                    </a:lnTo>
                    <a:lnTo>
                      <a:pt x="5870" y="1048"/>
                    </a:lnTo>
                    <a:lnTo>
                      <a:pt x="5918" y="1145"/>
                    </a:lnTo>
                    <a:lnTo>
                      <a:pt x="5967" y="1243"/>
                    </a:lnTo>
                    <a:lnTo>
                      <a:pt x="5992" y="1340"/>
                    </a:lnTo>
                    <a:lnTo>
                      <a:pt x="5992" y="1340"/>
                    </a:lnTo>
                    <a:lnTo>
                      <a:pt x="5967" y="1438"/>
                    </a:lnTo>
                    <a:lnTo>
                      <a:pt x="5918" y="1535"/>
                    </a:lnTo>
                    <a:lnTo>
                      <a:pt x="5870" y="1633"/>
                    </a:lnTo>
                    <a:lnTo>
                      <a:pt x="5797" y="1730"/>
                    </a:lnTo>
                    <a:lnTo>
                      <a:pt x="5797" y="1730"/>
                    </a:lnTo>
                    <a:lnTo>
                      <a:pt x="5748" y="1754"/>
                    </a:lnTo>
                    <a:lnTo>
                      <a:pt x="5699" y="1754"/>
                    </a:lnTo>
                    <a:lnTo>
                      <a:pt x="5553" y="1754"/>
                    </a:lnTo>
                    <a:lnTo>
                      <a:pt x="5383" y="1657"/>
                    </a:lnTo>
                    <a:lnTo>
                      <a:pt x="5212" y="1535"/>
                    </a:lnTo>
                    <a:lnTo>
                      <a:pt x="5212" y="1535"/>
                    </a:lnTo>
                    <a:lnTo>
                      <a:pt x="5066" y="1389"/>
                    </a:lnTo>
                    <a:lnTo>
                      <a:pt x="4896" y="1316"/>
                    </a:lnTo>
                    <a:lnTo>
                      <a:pt x="4749" y="1292"/>
                    </a:lnTo>
                    <a:lnTo>
                      <a:pt x="4701" y="1316"/>
                    </a:lnTo>
                    <a:lnTo>
                      <a:pt x="4652" y="1340"/>
                    </a:lnTo>
                    <a:lnTo>
                      <a:pt x="4652" y="1340"/>
                    </a:lnTo>
                    <a:lnTo>
                      <a:pt x="4555" y="1413"/>
                    </a:lnTo>
                    <a:lnTo>
                      <a:pt x="4457" y="1486"/>
                    </a:lnTo>
                    <a:lnTo>
                      <a:pt x="4360" y="1511"/>
                    </a:lnTo>
                    <a:lnTo>
                      <a:pt x="4262" y="1535"/>
                    </a:lnTo>
                    <a:lnTo>
                      <a:pt x="4262" y="1535"/>
                    </a:lnTo>
                    <a:lnTo>
                      <a:pt x="4116" y="1559"/>
                    </a:lnTo>
                    <a:lnTo>
                      <a:pt x="4043" y="1584"/>
                    </a:lnTo>
                    <a:lnTo>
                      <a:pt x="3994" y="1633"/>
                    </a:lnTo>
                    <a:lnTo>
                      <a:pt x="3994" y="1633"/>
                    </a:lnTo>
                    <a:lnTo>
                      <a:pt x="3946" y="1657"/>
                    </a:lnTo>
                    <a:lnTo>
                      <a:pt x="3873" y="1681"/>
                    </a:lnTo>
                    <a:lnTo>
                      <a:pt x="3702" y="1730"/>
                    </a:lnTo>
                    <a:lnTo>
                      <a:pt x="3702" y="1730"/>
                    </a:lnTo>
                    <a:lnTo>
                      <a:pt x="3605" y="1730"/>
                    </a:lnTo>
                    <a:lnTo>
                      <a:pt x="3507" y="1779"/>
                    </a:lnTo>
                    <a:lnTo>
                      <a:pt x="3410" y="1827"/>
                    </a:lnTo>
                    <a:lnTo>
                      <a:pt x="3312" y="1900"/>
                    </a:lnTo>
                    <a:lnTo>
                      <a:pt x="3312" y="1900"/>
                    </a:lnTo>
                    <a:lnTo>
                      <a:pt x="3288" y="1949"/>
                    </a:lnTo>
                    <a:lnTo>
                      <a:pt x="3288" y="2022"/>
                    </a:lnTo>
                    <a:lnTo>
                      <a:pt x="3288" y="2144"/>
                    </a:lnTo>
                    <a:lnTo>
                      <a:pt x="3386" y="2314"/>
                    </a:lnTo>
                    <a:lnTo>
                      <a:pt x="3507" y="2485"/>
                    </a:lnTo>
                    <a:lnTo>
                      <a:pt x="3507" y="2485"/>
                    </a:lnTo>
                    <a:lnTo>
                      <a:pt x="3605" y="2558"/>
                    </a:lnTo>
                    <a:lnTo>
                      <a:pt x="3702" y="2582"/>
                    </a:lnTo>
                    <a:lnTo>
                      <a:pt x="3800" y="2607"/>
                    </a:lnTo>
                    <a:lnTo>
                      <a:pt x="3921" y="2607"/>
                    </a:lnTo>
                    <a:lnTo>
                      <a:pt x="4043" y="2582"/>
                    </a:lnTo>
                    <a:lnTo>
                      <a:pt x="4141" y="2534"/>
                    </a:lnTo>
                    <a:lnTo>
                      <a:pt x="4262" y="2461"/>
                    </a:lnTo>
                    <a:lnTo>
                      <a:pt x="4360" y="2388"/>
                    </a:lnTo>
                    <a:lnTo>
                      <a:pt x="4360" y="2388"/>
                    </a:lnTo>
                    <a:lnTo>
                      <a:pt x="4555" y="2193"/>
                    </a:lnTo>
                    <a:lnTo>
                      <a:pt x="4749" y="2047"/>
                    </a:lnTo>
                    <a:lnTo>
                      <a:pt x="4920" y="1949"/>
                    </a:lnTo>
                    <a:lnTo>
                      <a:pt x="5042" y="1900"/>
                    </a:lnTo>
                    <a:lnTo>
                      <a:pt x="5042" y="1900"/>
                    </a:lnTo>
                    <a:lnTo>
                      <a:pt x="5115" y="1925"/>
                    </a:lnTo>
                    <a:lnTo>
                      <a:pt x="5163" y="1974"/>
                    </a:lnTo>
                    <a:lnTo>
                      <a:pt x="5212" y="2022"/>
                    </a:lnTo>
                    <a:lnTo>
                      <a:pt x="5212" y="2095"/>
                    </a:lnTo>
                    <a:lnTo>
                      <a:pt x="5212" y="2095"/>
                    </a:lnTo>
                    <a:lnTo>
                      <a:pt x="5236" y="2168"/>
                    </a:lnTo>
                    <a:lnTo>
                      <a:pt x="5285" y="2241"/>
                    </a:lnTo>
                    <a:lnTo>
                      <a:pt x="5334" y="2266"/>
                    </a:lnTo>
                    <a:lnTo>
                      <a:pt x="5407" y="2290"/>
                    </a:lnTo>
                    <a:lnTo>
                      <a:pt x="5407" y="2290"/>
                    </a:lnTo>
                    <a:lnTo>
                      <a:pt x="5504" y="2314"/>
                    </a:lnTo>
                    <a:lnTo>
                      <a:pt x="5602" y="2339"/>
                    </a:lnTo>
                    <a:lnTo>
                      <a:pt x="5699" y="2412"/>
                    </a:lnTo>
                    <a:lnTo>
                      <a:pt x="5797" y="2485"/>
                    </a:lnTo>
                    <a:lnTo>
                      <a:pt x="5797" y="2485"/>
                    </a:lnTo>
                    <a:lnTo>
                      <a:pt x="5845" y="2558"/>
                    </a:lnTo>
                    <a:lnTo>
                      <a:pt x="5870" y="2680"/>
                    </a:lnTo>
                    <a:lnTo>
                      <a:pt x="5845" y="2777"/>
                    </a:lnTo>
                    <a:lnTo>
                      <a:pt x="5797" y="2850"/>
                    </a:lnTo>
                    <a:lnTo>
                      <a:pt x="5797" y="2850"/>
                    </a:lnTo>
                    <a:lnTo>
                      <a:pt x="5699" y="2923"/>
                    </a:lnTo>
                    <a:lnTo>
                      <a:pt x="5602" y="2996"/>
                    </a:lnTo>
                    <a:lnTo>
                      <a:pt x="5504" y="3045"/>
                    </a:lnTo>
                    <a:lnTo>
                      <a:pt x="5407" y="3045"/>
                    </a:lnTo>
                    <a:lnTo>
                      <a:pt x="5407" y="3045"/>
                    </a:lnTo>
                    <a:lnTo>
                      <a:pt x="5310" y="3069"/>
                    </a:lnTo>
                    <a:lnTo>
                      <a:pt x="5163" y="3167"/>
                    </a:lnTo>
                    <a:lnTo>
                      <a:pt x="4993" y="3289"/>
                    </a:lnTo>
                    <a:lnTo>
                      <a:pt x="4847" y="3435"/>
                    </a:lnTo>
                    <a:lnTo>
                      <a:pt x="4847" y="3435"/>
                    </a:lnTo>
                    <a:lnTo>
                      <a:pt x="4676" y="3581"/>
                    </a:lnTo>
                    <a:lnTo>
                      <a:pt x="4506" y="3703"/>
                    </a:lnTo>
                    <a:lnTo>
                      <a:pt x="4384" y="3776"/>
                    </a:lnTo>
                    <a:lnTo>
                      <a:pt x="4262" y="3800"/>
                    </a:lnTo>
                    <a:lnTo>
                      <a:pt x="4262" y="3800"/>
                    </a:lnTo>
                    <a:lnTo>
                      <a:pt x="4141" y="3849"/>
                    </a:lnTo>
                    <a:lnTo>
                      <a:pt x="3970" y="3971"/>
                    </a:lnTo>
                    <a:lnTo>
                      <a:pt x="3726" y="4165"/>
                    </a:lnTo>
                    <a:lnTo>
                      <a:pt x="3483" y="4409"/>
                    </a:lnTo>
                    <a:lnTo>
                      <a:pt x="3142" y="4750"/>
                    </a:lnTo>
                    <a:lnTo>
                      <a:pt x="3142" y="4750"/>
                    </a:lnTo>
                    <a:lnTo>
                      <a:pt x="3020" y="4847"/>
                    </a:lnTo>
                    <a:lnTo>
                      <a:pt x="2874" y="4969"/>
                    </a:lnTo>
                    <a:lnTo>
                      <a:pt x="2557" y="5164"/>
                    </a:lnTo>
                    <a:lnTo>
                      <a:pt x="2265" y="5286"/>
                    </a:lnTo>
                    <a:lnTo>
                      <a:pt x="2119" y="5310"/>
                    </a:lnTo>
                    <a:lnTo>
                      <a:pt x="1997" y="5335"/>
                    </a:lnTo>
                    <a:lnTo>
                      <a:pt x="1997" y="5335"/>
                    </a:lnTo>
                    <a:lnTo>
                      <a:pt x="1754" y="5335"/>
                    </a:lnTo>
                    <a:lnTo>
                      <a:pt x="1535" y="5383"/>
                    </a:lnTo>
                    <a:lnTo>
                      <a:pt x="1364" y="5456"/>
                    </a:lnTo>
                    <a:lnTo>
                      <a:pt x="1242" y="5529"/>
                    </a:lnTo>
                    <a:lnTo>
                      <a:pt x="1242" y="5529"/>
                    </a:lnTo>
                    <a:lnTo>
                      <a:pt x="1169" y="5602"/>
                    </a:lnTo>
                    <a:lnTo>
                      <a:pt x="1096" y="5700"/>
                    </a:lnTo>
                    <a:lnTo>
                      <a:pt x="1047" y="5797"/>
                    </a:lnTo>
                    <a:lnTo>
                      <a:pt x="1047" y="5895"/>
                    </a:lnTo>
                    <a:lnTo>
                      <a:pt x="1047" y="5895"/>
                    </a:lnTo>
                    <a:lnTo>
                      <a:pt x="1047" y="5992"/>
                    </a:lnTo>
                    <a:lnTo>
                      <a:pt x="1096" y="6090"/>
                    </a:lnTo>
                    <a:lnTo>
                      <a:pt x="1169" y="6187"/>
                    </a:lnTo>
                    <a:lnTo>
                      <a:pt x="1242" y="6284"/>
                    </a:lnTo>
                    <a:lnTo>
                      <a:pt x="1242" y="6284"/>
                    </a:lnTo>
                    <a:lnTo>
                      <a:pt x="1315" y="6357"/>
                    </a:lnTo>
                    <a:lnTo>
                      <a:pt x="1413" y="6406"/>
                    </a:lnTo>
                    <a:lnTo>
                      <a:pt x="1535" y="6455"/>
                    </a:lnTo>
                    <a:lnTo>
                      <a:pt x="1608" y="6455"/>
                    </a:lnTo>
                    <a:lnTo>
                      <a:pt x="1608" y="6455"/>
                    </a:lnTo>
                    <a:lnTo>
                      <a:pt x="1729" y="6504"/>
                    </a:lnTo>
                    <a:lnTo>
                      <a:pt x="1876" y="6601"/>
                    </a:lnTo>
                    <a:lnTo>
                      <a:pt x="2070" y="6747"/>
                    </a:lnTo>
                    <a:lnTo>
                      <a:pt x="2290" y="6942"/>
                    </a:lnTo>
                    <a:lnTo>
                      <a:pt x="2290" y="6942"/>
                    </a:lnTo>
                    <a:lnTo>
                      <a:pt x="2484" y="7137"/>
                    </a:lnTo>
                    <a:lnTo>
                      <a:pt x="2679" y="7283"/>
                    </a:lnTo>
                    <a:lnTo>
                      <a:pt x="2825" y="7380"/>
                    </a:lnTo>
                    <a:lnTo>
                      <a:pt x="2947" y="7405"/>
                    </a:lnTo>
                    <a:lnTo>
                      <a:pt x="2947" y="7405"/>
                    </a:lnTo>
                    <a:lnTo>
                      <a:pt x="3093" y="7380"/>
                    </a:lnTo>
                    <a:lnTo>
                      <a:pt x="3166" y="7356"/>
                    </a:lnTo>
                    <a:lnTo>
                      <a:pt x="3239" y="7332"/>
                    </a:lnTo>
                    <a:lnTo>
                      <a:pt x="3239" y="7332"/>
                    </a:lnTo>
                    <a:lnTo>
                      <a:pt x="3288" y="7283"/>
                    </a:lnTo>
                    <a:lnTo>
                      <a:pt x="3410" y="7259"/>
                    </a:lnTo>
                    <a:lnTo>
                      <a:pt x="3556" y="7234"/>
                    </a:lnTo>
                    <a:lnTo>
                      <a:pt x="3702" y="7234"/>
                    </a:lnTo>
                    <a:lnTo>
                      <a:pt x="3702" y="7234"/>
                    </a:lnTo>
                    <a:lnTo>
                      <a:pt x="3873" y="7234"/>
                    </a:lnTo>
                    <a:lnTo>
                      <a:pt x="4019" y="7283"/>
                    </a:lnTo>
                    <a:lnTo>
                      <a:pt x="4165" y="7332"/>
                    </a:lnTo>
                    <a:lnTo>
                      <a:pt x="4262" y="7429"/>
                    </a:lnTo>
                    <a:lnTo>
                      <a:pt x="4262" y="7429"/>
                    </a:lnTo>
                    <a:lnTo>
                      <a:pt x="4360" y="7502"/>
                    </a:lnTo>
                    <a:lnTo>
                      <a:pt x="4457" y="7551"/>
                    </a:lnTo>
                    <a:lnTo>
                      <a:pt x="4555" y="7600"/>
                    </a:lnTo>
                    <a:lnTo>
                      <a:pt x="4652" y="7600"/>
                    </a:lnTo>
                    <a:lnTo>
                      <a:pt x="4652" y="7600"/>
                    </a:lnTo>
                    <a:lnTo>
                      <a:pt x="4749" y="7648"/>
                    </a:lnTo>
                    <a:lnTo>
                      <a:pt x="4896" y="7721"/>
                    </a:lnTo>
                    <a:lnTo>
                      <a:pt x="5066" y="7843"/>
                    </a:lnTo>
                    <a:lnTo>
                      <a:pt x="5212" y="7989"/>
                    </a:lnTo>
                    <a:lnTo>
                      <a:pt x="5212" y="7989"/>
                    </a:lnTo>
                    <a:lnTo>
                      <a:pt x="5383" y="8135"/>
                    </a:lnTo>
                    <a:lnTo>
                      <a:pt x="5553" y="8257"/>
                    </a:lnTo>
                    <a:lnTo>
                      <a:pt x="5699" y="8330"/>
                    </a:lnTo>
                    <a:lnTo>
                      <a:pt x="5797" y="8355"/>
                    </a:lnTo>
                    <a:lnTo>
                      <a:pt x="5797" y="8355"/>
                    </a:lnTo>
                    <a:lnTo>
                      <a:pt x="5870" y="8379"/>
                    </a:lnTo>
                    <a:lnTo>
                      <a:pt x="5992" y="8428"/>
                    </a:lnTo>
                    <a:lnTo>
                      <a:pt x="6089" y="8476"/>
                    </a:lnTo>
                    <a:lnTo>
                      <a:pt x="6162" y="8549"/>
                    </a:lnTo>
                    <a:lnTo>
                      <a:pt x="6162" y="8549"/>
                    </a:lnTo>
                    <a:lnTo>
                      <a:pt x="6259" y="8622"/>
                    </a:lnTo>
                    <a:lnTo>
                      <a:pt x="6357" y="8695"/>
                    </a:lnTo>
                    <a:lnTo>
                      <a:pt x="6454" y="8720"/>
                    </a:lnTo>
                    <a:lnTo>
                      <a:pt x="6552" y="8744"/>
                    </a:lnTo>
                    <a:lnTo>
                      <a:pt x="6552" y="8744"/>
                    </a:lnTo>
                    <a:lnTo>
                      <a:pt x="6649" y="8769"/>
                    </a:lnTo>
                    <a:lnTo>
                      <a:pt x="6747" y="8793"/>
                    </a:lnTo>
                    <a:lnTo>
                      <a:pt x="6844" y="8866"/>
                    </a:lnTo>
                    <a:lnTo>
                      <a:pt x="6941" y="8939"/>
                    </a:lnTo>
                    <a:lnTo>
                      <a:pt x="6941" y="8939"/>
                    </a:lnTo>
                    <a:lnTo>
                      <a:pt x="7014" y="9036"/>
                    </a:lnTo>
                    <a:lnTo>
                      <a:pt x="7063" y="9134"/>
                    </a:lnTo>
                    <a:lnTo>
                      <a:pt x="7112" y="9231"/>
                    </a:lnTo>
                    <a:lnTo>
                      <a:pt x="7112" y="9304"/>
                    </a:lnTo>
                    <a:lnTo>
                      <a:pt x="7112" y="9304"/>
                    </a:lnTo>
                    <a:lnTo>
                      <a:pt x="7112" y="9402"/>
                    </a:lnTo>
                    <a:lnTo>
                      <a:pt x="7063" y="9499"/>
                    </a:lnTo>
                    <a:lnTo>
                      <a:pt x="7014" y="9597"/>
                    </a:lnTo>
                    <a:lnTo>
                      <a:pt x="6941" y="9694"/>
                    </a:lnTo>
                    <a:lnTo>
                      <a:pt x="6941" y="9694"/>
                    </a:lnTo>
                    <a:lnTo>
                      <a:pt x="6868" y="9791"/>
                    </a:lnTo>
                    <a:lnTo>
                      <a:pt x="6795" y="9889"/>
                    </a:lnTo>
                    <a:lnTo>
                      <a:pt x="6747" y="9986"/>
                    </a:lnTo>
                    <a:lnTo>
                      <a:pt x="6747" y="10084"/>
                    </a:lnTo>
                    <a:lnTo>
                      <a:pt x="6747" y="10084"/>
                    </a:lnTo>
                    <a:lnTo>
                      <a:pt x="6722" y="10181"/>
                    </a:lnTo>
                    <a:lnTo>
                      <a:pt x="6625" y="10327"/>
                    </a:lnTo>
                    <a:lnTo>
                      <a:pt x="6503" y="10473"/>
                    </a:lnTo>
                    <a:lnTo>
                      <a:pt x="6357" y="10644"/>
                    </a:lnTo>
                    <a:lnTo>
                      <a:pt x="6357" y="10644"/>
                    </a:lnTo>
                    <a:lnTo>
                      <a:pt x="6211" y="10814"/>
                    </a:lnTo>
                    <a:lnTo>
                      <a:pt x="6089" y="10961"/>
                    </a:lnTo>
                    <a:lnTo>
                      <a:pt x="6016" y="11107"/>
                    </a:lnTo>
                    <a:lnTo>
                      <a:pt x="5992" y="11204"/>
                    </a:lnTo>
                    <a:lnTo>
                      <a:pt x="5992" y="11204"/>
                    </a:lnTo>
                    <a:lnTo>
                      <a:pt x="5943" y="11326"/>
                    </a:lnTo>
                    <a:lnTo>
                      <a:pt x="5870" y="11472"/>
                    </a:lnTo>
                    <a:lnTo>
                      <a:pt x="5748" y="11618"/>
                    </a:lnTo>
                    <a:lnTo>
                      <a:pt x="5602" y="11789"/>
                    </a:lnTo>
                    <a:lnTo>
                      <a:pt x="5602" y="11789"/>
                    </a:lnTo>
                    <a:lnTo>
                      <a:pt x="5456" y="11935"/>
                    </a:lnTo>
                    <a:lnTo>
                      <a:pt x="5334" y="12105"/>
                    </a:lnTo>
                    <a:lnTo>
                      <a:pt x="5261" y="12251"/>
                    </a:lnTo>
                    <a:lnTo>
                      <a:pt x="5212" y="12349"/>
                    </a:lnTo>
                    <a:lnTo>
                      <a:pt x="5212" y="12349"/>
                    </a:lnTo>
                    <a:lnTo>
                      <a:pt x="5188" y="12446"/>
                    </a:lnTo>
                    <a:lnTo>
                      <a:pt x="5139" y="12568"/>
                    </a:lnTo>
                    <a:lnTo>
                      <a:pt x="5042" y="12714"/>
                    </a:lnTo>
                    <a:lnTo>
                      <a:pt x="4944" y="12836"/>
                    </a:lnTo>
                    <a:lnTo>
                      <a:pt x="4944" y="12836"/>
                    </a:lnTo>
                    <a:lnTo>
                      <a:pt x="4822" y="12958"/>
                    </a:lnTo>
                    <a:lnTo>
                      <a:pt x="4725" y="13079"/>
                    </a:lnTo>
                    <a:lnTo>
                      <a:pt x="4676" y="13201"/>
                    </a:lnTo>
                    <a:lnTo>
                      <a:pt x="4652" y="13299"/>
                    </a:lnTo>
                    <a:lnTo>
                      <a:pt x="4652" y="13299"/>
                    </a:lnTo>
                    <a:lnTo>
                      <a:pt x="4676" y="13469"/>
                    </a:lnTo>
                    <a:lnTo>
                      <a:pt x="4701" y="13542"/>
                    </a:lnTo>
                    <a:lnTo>
                      <a:pt x="4749" y="13591"/>
                    </a:lnTo>
                    <a:lnTo>
                      <a:pt x="4749" y="13591"/>
                    </a:lnTo>
                    <a:lnTo>
                      <a:pt x="4774" y="13640"/>
                    </a:lnTo>
                    <a:lnTo>
                      <a:pt x="4822" y="13713"/>
                    </a:lnTo>
                    <a:lnTo>
                      <a:pt x="4847" y="13883"/>
                    </a:lnTo>
                    <a:lnTo>
                      <a:pt x="4847" y="13883"/>
                    </a:lnTo>
                    <a:lnTo>
                      <a:pt x="4822" y="13956"/>
                    </a:lnTo>
                    <a:lnTo>
                      <a:pt x="4774" y="14005"/>
                    </a:lnTo>
                    <a:lnTo>
                      <a:pt x="4725" y="14054"/>
                    </a:lnTo>
                    <a:lnTo>
                      <a:pt x="4652" y="14054"/>
                    </a:lnTo>
                    <a:lnTo>
                      <a:pt x="4652" y="14054"/>
                    </a:lnTo>
                    <a:lnTo>
                      <a:pt x="4555" y="14054"/>
                    </a:lnTo>
                    <a:lnTo>
                      <a:pt x="4457" y="14005"/>
                    </a:lnTo>
                    <a:lnTo>
                      <a:pt x="4360" y="13956"/>
                    </a:lnTo>
                    <a:lnTo>
                      <a:pt x="4262" y="13883"/>
                    </a:lnTo>
                    <a:lnTo>
                      <a:pt x="4262" y="13883"/>
                    </a:lnTo>
                    <a:lnTo>
                      <a:pt x="4189" y="13761"/>
                    </a:lnTo>
                    <a:lnTo>
                      <a:pt x="4141" y="13615"/>
                    </a:lnTo>
                    <a:lnTo>
                      <a:pt x="4092" y="13469"/>
                    </a:lnTo>
                    <a:lnTo>
                      <a:pt x="4092" y="13299"/>
                    </a:lnTo>
                    <a:lnTo>
                      <a:pt x="4092" y="13299"/>
                    </a:lnTo>
                    <a:lnTo>
                      <a:pt x="4067" y="13152"/>
                    </a:lnTo>
                    <a:lnTo>
                      <a:pt x="4019" y="12982"/>
                    </a:lnTo>
                    <a:lnTo>
                      <a:pt x="3970" y="12836"/>
                    </a:lnTo>
                    <a:lnTo>
                      <a:pt x="3897" y="12738"/>
                    </a:lnTo>
                    <a:lnTo>
                      <a:pt x="3897" y="12738"/>
                    </a:lnTo>
                    <a:lnTo>
                      <a:pt x="3848" y="12690"/>
                    </a:lnTo>
                    <a:lnTo>
                      <a:pt x="3824" y="12592"/>
                    </a:lnTo>
                    <a:lnTo>
                      <a:pt x="3751" y="12349"/>
                    </a:lnTo>
                    <a:lnTo>
                      <a:pt x="3726" y="12056"/>
                    </a:lnTo>
                    <a:lnTo>
                      <a:pt x="3702" y="11716"/>
                    </a:lnTo>
                    <a:lnTo>
                      <a:pt x="3702" y="11472"/>
                    </a:lnTo>
                    <a:lnTo>
                      <a:pt x="3702" y="11472"/>
                    </a:lnTo>
                    <a:lnTo>
                      <a:pt x="3702" y="11301"/>
                    </a:lnTo>
                    <a:lnTo>
                      <a:pt x="3653" y="11107"/>
                    </a:lnTo>
                    <a:lnTo>
                      <a:pt x="3629" y="10936"/>
                    </a:lnTo>
                    <a:lnTo>
                      <a:pt x="3556" y="10741"/>
                    </a:lnTo>
                    <a:lnTo>
                      <a:pt x="3483" y="10571"/>
                    </a:lnTo>
                    <a:lnTo>
                      <a:pt x="3410" y="10425"/>
                    </a:lnTo>
                    <a:lnTo>
                      <a:pt x="3312" y="10279"/>
                    </a:lnTo>
                    <a:lnTo>
                      <a:pt x="3239" y="10181"/>
                    </a:lnTo>
                    <a:lnTo>
                      <a:pt x="3239" y="10181"/>
                    </a:lnTo>
                    <a:lnTo>
                      <a:pt x="3045" y="9962"/>
                    </a:lnTo>
                    <a:lnTo>
                      <a:pt x="2898" y="9767"/>
                    </a:lnTo>
                    <a:lnTo>
                      <a:pt x="2801" y="9621"/>
                    </a:lnTo>
                    <a:lnTo>
                      <a:pt x="2752" y="9499"/>
                    </a:lnTo>
                    <a:lnTo>
                      <a:pt x="2752" y="9499"/>
                    </a:lnTo>
                    <a:lnTo>
                      <a:pt x="2728" y="9353"/>
                    </a:lnTo>
                    <a:lnTo>
                      <a:pt x="2704" y="9280"/>
                    </a:lnTo>
                    <a:lnTo>
                      <a:pt x="2655" y="9231"/>
                    </a:lnTo>
                    <a:lnTo>
                      <a:pt x="2655" y="9231"/>
                    </a:lnTo>
                    <a:lnTo>
                      <a:pt x="2631" y="9158"/>
                    </a:lnTo>
                    <a:lnTo>
                      <a:pt x="2582" y="9036"/>
                    </a:lnTo>
                    <a:lnTo>
                      <a:pt x="2582" y="8890"/>
                    </a:lnTo>
                    <a:lnTo>
                      <a:pt x="2557" y="8744"/>
                    </a:lnTo>
                    <a:lnTo>
                      <a:pt x="2557" y="8744"/>
                    </a:lnTo>
                    <a:lnTo>
                      <a:pt x="2582" y="8598"/>
                    </a:lnTo>
                    <a:lnTo>
                      <a:pt x="2582" y="8452"/>
                    </a:lnTo>
                    <a:lnTo>
                      <a:pt x="2631" y="8330"/>
                    </a:lnTo>
                    <a:lnTo>
                      <a:pt x="2655" y="8281"/>
                    </a:lnTo>
                    <a:lnTo>
                      <a:pt x="2655" y="8281"/>
                    </a:lnTo>
                    <a:lnTo>
                      <a:pt x="2704" y="8208"/>
                    </a:lnTo>
                    <a:lnTo>
                      <a:pt x="2728" y="8160"/>
                    </a:lnTo>
                    <a:lnTo>
                      <a:pt x="2752" y="7989"/>
                    </a:lnTo>
                    <a:lnTo>
                      <a:pt x="2752" y="7989"/>
                    </a:lnTo>
                    <a:lnTo>
                      <a:pt x="2728" y="7819"/>
                    </a:lnTo>
                    <a:lnTo>
                      <a:pt x="2704" y="7746"/>
                    </a:lnTo>
                    <a:lnTo>
                      <a:pt x="2655" y="7697"/>
                    </a:lnTo>
                    <a:lnTo>
                      <a:pt x="2655" y="7697"/>
                    </a:lnTo>
                    <a:lnTo>
                      <a:pt x="2606" y="7673"/>
                    </a:lnTo>
                    <a:lnTo>
                      <a:pt x="2533" y="7624"/>
                    </a:lnTo>
                    <a:lnTo>
                      <a:pt x="2363" y="7600"/>
                    </a:lnTo>
                    <a:lnTo>
                      <a:pt x="2363" y="7600"/>
                    </a:lnTo>
                    <a:lnTo>
                      <a:pt x="2265" y="7575"/>
                    </a:lnTo>
                    <a:lnTo>
                      <a:pt x="2119" y="7502"/>
                    </a:lnTo>
                    <a:lnTo>
                      <a:pt x="1973" y="7380"/>
                    </a:lnTo>
                    <a:lnTo>
                      <a:pt x="1802" y="7234"/>
                    </a:lnTo>
                    <a:lnTo>
                      <a:pt x="1802" y="7234"/>
                    </a:lnTo>
                    <a:lnTo>
                      <a:pt x="1632" y="7088"/>
                    </a:lnTo>
                    <a:lnTo>
                      <a:pt x="1486" y="6966"/>
                    </a:lnTo>
                    <a:lnTo>
                      <a:pt x="1340" y="6869"/>
                    </a:lnTo>
                    <a:lnTo>
                      <a:pt x="1242" y="6845"/>
                    </a:lnTo>
                    <a:lnTo>
                      <a:pt x="1242" y="6845"/>
                    </a:lnTo>
                    <a:lnTo>
                      <a:pt x="1121" y="6796"/>
                    </a:lnTo>
                    <a:lnTo>
                      <a:pt x="926" y="6674"/>
                    </a:lnTo>
                    <a:lnTo>
                      <a:pt x="706" y="6504"/>
                    </a:lnTo>
                    <a:lnTo>
                      <a:pt x="463" y="6284"/>
                    </a:lnTo>
                    <a:lnTo>
                      <a:pt x="463" y="6284"/>
                    </a:lnTo>
                    <a:lnTo>
                      <a:pt x="171" y="5919"/>
                    </a:lnTo>
                    <a:lnTo>
                      <a:pt x="0" y="5700"/>
                    </a:lnTo>
                    <a:lnTo>
                      <a:pt x="0" y="5700"/>
                    </a:lnTo>
                    <a:lnTo>
                      <a:pt x="0" y="5724"/>
                    </a:lnTo>
                  </a:path>
                </a:pathLst>
              </a:custGeom>
              <a:grpFill/>
              <a:ln w="0">
                <a:solidFill>
                  <a:srgbClr val="53585F"/>
                </a:solidFill>
                <a:headEnd type="none" w="med" len="med"/>
                <a:tailEnd type="none" w="med" len="med"/>
              </a:ln>
            </p:spPr>
            <p:style>
              <a:lnRef idx="1">
                <a:schemeClr val="dk1"/>
              </a:lnRef>
              <a:fillRef idx="1001">
                <a:schemeClr val="lt2"/>
              </a:fillRef>
              <a:effectRef idx="0">
                <a:schemeClr val="dk1"/>
              </a:effectRef>
              <a:fontRef idx="minor">
                <a:schemeClr val="tx1"/>
              </a:fontRef>
            </p:style>
            <p:txBody>
              <a:bodyPr lIns="91425" tIns="91425" rIns="91425" bIns="91425" anchor="ctr" anchorCtr="0">
                <a:noAutofit/>
              </a:bodyPr>
              <a:lstStyle/>
              <a:p>
                <a:pPr lvl="0">
                  <a:spcBef>
                    <a:spcPts val="0"/>
                  </a:spcBef>
                  <a:buNone/>
                </a:pPr>
                <a:endParaRPr>
                  <a:ln w="0"/>
                  <a:solidFill>
                    <a:schemeClr val="tx1"/>
                  </a:solidFill>
                  <a:effectLst>
                    <a:outerShdw blurRad="38100" dist="19050" dir="2700000" algn="tl" rotWithShape="0">
                      <a:schemeClr val="dk1">
                        <a:alpha val="40000"/>
                      </a:schemeClr>
                    </a:outerShdw>
                  </a:effectLst>
                </a:endParaRPr>
              </a:p>
            </p:txBody>
          </p:sp>
          <p:sp>
            <p:nvSpPr>
              <p:cNvPr id="27" name="Shape 756"/>
              <p:cNvSpPr/>
              <p:nvPr/>
            </p:nvSpPr>
            <p:spPr>
              <a:xfrm>
                <a:off x="6128575" y="3695900"/>
                <a:ext cx="86475" cy="47525"/>
              </a:xfrm>
              <a:custGeom>
                <a:avLst/>
                <a:gdLst/>
                <a:ahLst/>
                <a:cxnLst/>
                <a:rect l="0" t="0" r="0" b="0"/>
                <a:pathLst>
                  <a:path w="3459" h="1901" fill="none" extrusionOk="0">
                    <a:moveTo>
                      <a:pt x="2022" y="1340"/>
                    </a:moveTo>
                    <a:lnTo>
                      <a:pt x="2022" y="1340"/>
                    </a:lnTo>
                    <a:lnTo>
                      <a:pt x="1924" y="1413"/>
                    </a:lnTo>
                    <a:lnTo>
                      <a:pt x="1827" y="1486"/>
                    </a:lnTo>
                    <a:lnTo>
                      <a:pt x="1729" y="1511"/>
                    </a:lnTo>
                    <a:lnTo>
                      <a:pt x="1632" y="1535"/>
                    </a:lnTo>
                    <a:lnTo>
                      <a:pt x="1632" y="1535"/>
                    </a:lnTo>
                    <a:lnTo>
                      <a:pt x="1559" y="1535"/>
                    </a:lnTo>
                    <a:lnTo>
                      <a:pt x="1461" y="1584"/>
                    </a:lnTo>
                    <a:lnTo>
                      <a:pt x="1340" y="1657"/>
                    </a:lnTo>
                    <a:lnTo>
                      <a:pt x="1267" y="1730"/>
                    </a:lnTo>
                    <a:lnTo>
                      <a:pt x="1267" y="1730"/>
                    </a:lnTo>
                    <a:lnTo>
                      <a:pt x="1169" y="1803"/>
                    </a:lnTo>
                    <a:lnTo>
                      <a:pt x="1072" y="1852"/>
                    </a:lnTo>
                    <a:lnTo>
                      <a:pt x="974" y="1900"/>
                    </a:lnTo>
                    <a:lnTo>
                      <a:pt x="877" y="1900"/>
                    </a:lnTo>
                    <a:lnTo>
                      <a:pt x="877" y="1900"/>
                    </a:lnTo>
                    <a:lnTo>
                      <a:pt x="779" y="1900"/>
                    </a:lnTo>
                    <a:lnTo>
                      <a:pt x="682" y="1852"/>
                    </a:lnTo>
                    <a:lnTo>
                      <a:pt x="585" y="1803"/>
                    </a:lnTo>
                    <a:lnTo>
                      <a:pt x="512" y="1730"/>
                    </a:lnTo>
                    <a:lnTo>
                      <a:pt x="512" y="1730"/>
                    </a:lnTo>
                    <a:lnTo>
                      <a:pt x="438" y="1633"/>
                    </a:lnTo>
                    <a:lnTo>
                      <a:pt x="414" y="1535"/>
                    </a:lnTo>
                    <a:lnTo>
                      <a:pt x="438" y="1438"/>
                    </a:lnTo>
                    <a:lnTo>
                      <a:pt x="512" y="1340"/>
                    </a:lnTo>
                    <a:lnTo>
                      <a:pt x="512" y="1340"/>
                    </a:lnTo>
                    <a:lnTo>
                      <a:pt x="585" y="1243"/>
                    </a:lnTo>
                    <a:lnTo>
                      <a:pt x="633" y="1145"/>
                    </a:lnTo>
                    <a:lnTo>
                      <a:pt x="682" y="1048"/>
                    </a:lnTo>
                    <a:lnTo>
                      <a:pt x="682" y="951"/>
                    </a:lnTo>
                    <a:lnTo>
                      <a:pt x="682" y="951"/>
                    </a:lnTo>
                    <a:lnTo>
                      <a:pt x="658" y="804"/>
                    </a:lnTo>
                    <a:lnTo>
                      <a:pt x="633" y="731"/>
                    </a:lnTo>
                    <a:lnTo>
                      <a:pt x="585" y="683"/>
                    </a:lnTo>
                    <a:lnTo>
                      <a:pt x="585" y="683"/>
                    </a:lnTo>
                    <a:lnTo>
                      <a:pt x="536" y="634"/>
                    </a:lnTo>
                    <a:lnTo>
                      <a:pt x="463" y="610"/>
                    </a:lnTo>
                    <a:lnTo>
                      <a:pt x="317" y="585"/>
                    </a:lnTo>
                    <a:lnTo>
                      <a:pt x="317" y="585"/>
                    </a:lnTo>
                    <a:lnTo>
                      <a:pt x="146" y="561"/>
                    </a:lnTo>
                    <a:lnTo>
                      <a:pt x="73" y="512"/>
                    </a:lnTo>
                    <a:lnTo>
                      <a:pt x="24" y="488"/>
                    </a:lnTo>
                    <a:lnTo>
                      <a:pt x="24" y="488"/>
                    </a:lnTo>
                    <a:lnTo>
                      <a:pt x="0" y="439"/>
                    </a:lnTo>
                    <a:lnTo>
                      <a:pt x="24" y="366"/>
                    </a:lnTo>
                    <a:lnTo>
                      <a:pt x="49" y="293"/>
                    </a:lnTo>
                    <a:lnTo>
                      <a:pt x="122" y="196"/>
                    </a:lnTo>
                    <a:lnTo>
                      <a:pt x="122" y="196"/>
                    </a:lnTo>
                    <a:lnTo>
                      <a:pt x="171" y="171"/>
                    </a:lnTo>
                    <a:lnTo>
                      <a:pt x="268" y="123"/>
                    </a:lnTo>
                    <a:lnTo>
                      <a:pt x="512" y="74"/>
                    </a:lnTo>
                    <a:lnTo>
                      <a:pt x="804" y="25"/>
                    </a:lnTo>
                    <a:lnTo>
                      <a:pt x="1145" y="1"/>
                    </a:lnTo>
                    <a:lnTo>
                      <a:pt x="2509" y="1"/>
                    </a:lnTo>
                    <a:lnTo>
                      <a:pt x="2509" y="1"/>
                    </a:lnTo>
                    <a:lnTo>
                      <a:pt x="2850" y="25"/>
                    </a:lnTo>
                    <a:lnTo>
                      <a:pt x="3142" y="49"/>
                    </a:lnTo>
                    <a:lnTo>
                      <a:pt x="3337" y="74"/>
                    </a:lnTo>
                    <a:lnTo>
                      <a:pt x="3434" y="98"/>
                    </a:lnTo>
                    <a:lnTo>
                      <a:pt x="3434" y="98"/>
                    </a:lnTo>
                    <a:lnTo>
                      <a:pt x="3458" y="123"/>
                    </a:lnTo>
                    <a:lnTo>
                      <a:pt x="3434" y="171"/>
                    </a:lnTo>
                    <a:lnTo>
                      <a:pt x="3361" y="317"/>
                    </a:lnTo>
                    <a:lnTo>
                      <a:pt x="3239" y="488"/>
                    </a:lnTo>
                    <a:lnTo>
                      <a:pt x="3069" y="683"/>
                    </a:lnTo>
                    <a:lnTo>
                      <a:pt x="3069" y="683"/>
                    </a:lnTo>
                    <a:lnTo>
                      <a:pt x="2874" y="853"/>
                    </a:lnTo>
                    <a:lnTo>
                      <a:pt x="2679" y="999"/>
                    </a:lnTo>
                    <a:lnTo>
                      <a:pt x="2509" y="1121"/>
                    </a:lnTo>
                    <a:lnTo>
                      <a:pt x="2411" y="1145"/>
                    </a:lnTo>
                    <a:lnTo>
                      <a:pt x="2411" y="1145"/>
                    </a:lnTo>
                    <a:lnTo>
                      <a:pt x="2314" y="1170"/>
                    </a:lnTo>
                    <a:lnTo>
                      <a:pt x="2216" y="1194"/>
                    </a:lnTo>
                    <a:lnTo>
                      <a:pt x="2119" y="1267"/>
                    </a:lnTo>
                    <a:lnTo>
                      <a:pt x="2022" y="1340"/>
                    </a:lnTo>
                    <a:lnTo>
                      <a:pt x="2022" y="1340"/>
                    </a:lnTo>
                  </a:path>
                </a:pathLst>
              </a:custGeom>
              <a:grpFill/>
              <a:ln w="0">
                <a:solidFill>
                  <a:srgbClr val="53585F"/>
                </a:solidFill>
                <a:headEnd type="none" w="med" len="med"/>
                <a:tailEnd type="none" w="med" len="med"/>
              </a:ln>
            </p:spPr>
            <p:style>
              <a:lnRef idx="1">
                <a:schemeClr val="dk1"/>
              </a:lnRef>
              <a:fillRef idx="1001">
                <a:schemeClr val="lt2"/>
              </a:fillRef>
              <a:effectRef idx="0">
                <a:schemeClr val="dk1"/>
              </a:effectRef>
              <a:fontRef idx="minor">
                <a:schemeClr val="tx1"/>
              </a:fontRef>
            </p:style>
            <p:txBody>
              <a:bodyPr lIns="91425" tIns="91425" rIns="91425" bIns="91425" anchor="ctr" anchorCtr="0">
                <a:noAutofit/>
              </a:bodyPr>
              <a:lstStyle/>
              <a:p>
                <a:pPr lvl="0">
                  <a:spcBef>
                    <a:spcPts val="0"/>
                  </a:spcBef>
                  <a:buNone/>
                </a:pPr>
                <a:endParaRPr>
                  <a:ln w="0"/>
                  <a:solidFill>
                    <a:schemeClr val="tx1"/>
                  </a:solidFill>
                  <a:effectLst>
                    <a:outerShdw blurRad="38100" dist="19050" dir="2700000" algn="tl" rotWithShape="0">
                      <a:schemeClr val="dk1">
                        <a:alpha val="40000"/>
                      </a:schemeClr>
                    </a:outerShdw>
                  </a:effectLst>
                </a:endParaRPr>
              </a:p>
            </p:txBody>
          </p:sp>
          <p:sp>
            <p:nvSpPr>
              <p:cNvPr id="28" name="Shape 757"/>
              <p:cNvSpPr/>
              <p:nvPr/>
            </p:nvSpPr>
            <p:spPr>
              <a:xfrm>
                <a:off x="6357500" y="3940075"/>
                <a:ext cx="18900" cy="34725"/>
              </a:xfrm>
              <a:custGeom>
                <a:avLst/>
                <a:gdLst/>
                <a:ahLst/>
                <a:cxnLst/>
                <a:rect l="0" t="0" r="0" b="0"/>
                <a:pathLst>
                  <a:path w="756" h="1389" fill="none" extrusionOk="0">
                    <a:moveTo>
                      <a:pt x="585" y="682"/>
                    </a:moveTo>
                    <a:lnTo>
                      <a:pt x="585" y="682"/>
                    </a:lnTo>
                    <a:lnTo>
                      <a:pt x="512" y="779"/>
                    </a:lnTo>
                    <a:lnTo>
                      <a:pt x="439" y="877"/>
                    </a:lnTo>
                    <a:lnTo>
                      <a:pt x="390" y="974"/>
                    </a:lnTo>
                    <a:lnTo>
                      <a:pt x="390" y="1072"/>
                    </a:lnTo>
                    <a:lnTo>
                      <a:pt x="390" y="1072"/>
                    </a:lnTo>
                    <a:lnTo>
                      <a:pt x="366" y="1218"/>
                    </a:lnTo>
                    <a:lnTo>
                      <a:pt x="317" y="1291"/>
                    </a:lnTo>
                    <a:lnTo>
                      <a:pt x="293" y="1364"/>
                    </a:lnTo>
                    <a:lnTo>
                      <a:pt x="293" y="1364"/>
                    </a:lnTo>
                    <a:lnTo>
                      <a:pt x="244" y="1388"/>
                    </a:lnTo>
                    <a:lnTo>
                      <a:pt x="195" y="1388"/>
                    </a:lnTo>
                    <a:lnTo>
                      <a:pt x="147" y="1388"/>
                    </a:lnTo>
                    <a:lnTo>
                      <a:pt x="98" y="1364"/>
                    </a:lnTo>
                    <a:lnTo>
                      <a:pt x="98" y="1364"/>
                    </a:lnTo>
                    <a:lnTo>
                      <a:pt x="74" y="1291"/>
                    </a:lnTo>
                    <a:lnTo>
                      <a:pt x="25" y="1169"/>
                    </a:lnTo>
                    <a:lnTo>
                      <a:pt x="25" y="1023"/>
                    </a:lnTo>
                    <a:lnTo>
                      <a:pt x="1" y="877"/>
                    </a:lnTo>
                    <a:lnTo>
                      <a:pt x="1" y="877"/>
                    </a:lnTo>
                    <a:lnTo>
                      <a:pt x="25" y="706"/>
                    </a:lnTo>
                    <a:lnTo>
                      <a:pt x="98" y="536"/>
                    </a:lnTo>
                    <a:lnTo>
                      <a:pt x="171" y="365"/>
                    </a:lnTo>
                    <a:lnTo>
                      <a:pt x="293" y="219"/>
                    </a:lnTo>
                    <a:lnTo>
                      <a:pt x="293" y="219"/>
                    </a:lnTo>
                    <a:lnTo>
                      <a:pt x="415" y="122"/>
                    </a:lnTo>
                    <a:lnTo>
                      <a:pt x="512" y="49"/>
                    </a:lnTo>
                    <a:lnTo>
                      <a:pt x="609" y="0"/>
                    </a:lnTo>
                    <a:lnTo>
                      <a:pt x="682" y="24"/>
                    </a:lnTo>
                    <a:lnTo>
                      <a:pt x="682" y="24"/>
                    </a:lnTo>
                    <a:lnTo>
                      <a:pt x="707" y="73"/>
                    </a:lnTo>
                    <a:lnTo>
                      <a:pt x="731" y="146"/>
                    </a:lnTo>
                    <a:lnTo>
                      <a:pt x="756" y="317"/>
                    </a:lnTo>
                    <a:lnTo>
                      <a:pt x="756" y="317"/>
                    </a:lnTo>
                    <a:lnTo>
                      <a:pt x="756" y="390"/>
                    </a:lnTo>
                    <a:lnTo>
                      <a:pt x="707" y="487"/>
                    </a:lnTo>
                    <a:lnTo>
                      <a:pt x="658" y="609"/>
                    </a:lnTo>
                    <a:lnTo>
                      <a:pt x="585" y="682"/>
                    </a:lnTo>
                    <a:lnTo>
                      <a:pt x="585" y="682"/>
                    </a:lnTo>
                  </a:path>
                </a:pathLst>
              </a:custGeom>
              <a:grpFill/>
              <a:ln w="0">
                <a:solidFill>
                  <a:srgbClr val="53585F"/>
                </a:solidFill>
                <a:headEnd type="none" w="med" len="med"/>
                <a:tailEnd type="none" w="med" len="med"/>
              </a:ln>
            </p:spPr>
            <p:style>
              <a:lnRef idx="1">
                <a:schemeClr val="dk1"/>
              </a:lnRef>
              <a:fillRef idx="1001">
                <a:schemeClr val="lt2"/>
              </a:fillRef>
              <a:effectRef idx="0">
                <a:schemeClr val="dk1"/>
              </a:effectRef>
              <a:fontRef idx="minor">
                <a:schemeClr val="tx1"/>
              </a:fontRef>
            </p:style>
            <p:txBody>
              <a:bodyPr lIns="91425" tIns="91425" rIns="91425" bIns="91425" anchor="ctr" anchorCtr="0">
                <a:noAutofit/>
              </a:bodyPr>
              <a:lstStyle/>
              <a:p>
                <a:pPr lvl="0">
                  <a:spcBef>
                    <a:spcPts val="0"/>
                  </a:spcBef>
                  <a:buNone/>
                </a:pPr>
                <a:endParaRPr>
                  <a:ln w="0"/>
                  <a:solidFill>
                    <a:schemeClr val="tx1"/>
                  </a:solidFill>
                  <a:effectLst>
                    <a:outerShdw blurRad="38100" dist="19050" dir="2700000" algn="tl" rotWithShape="0">
                      <a:schemeClr val="dk1">
                        <a:alpha val="40000"/>
                      </a:schemeClr>
                    </a:outerShdw>
                  </a:effectLst>
                </a:endParaRPr>
              </a:p>
            </p:txBody>
          </p:sp>
          <p:sp>
            <p:nvSpPr>
              <p:cNvPr id="29" name="Shape 758"/>
              <p:cNvSpPr/>
              <p:nvPr/>
            </p:nvSpPr>
            <p:spPr>
              <a:xfrm>
                <a:off x="6202850" y="3720875"/>
                <a:ext cx="204000" cy="278875"/>
              </a:xfrm>
              <a:custGeom>
                <a:avLst/>
                <a:gdLst/>
                <a:ahLst/>
                <a:cxnLst/>
                <a:rect l="0" t="0" r="0" b="0"/>
                <a:pathLst>
                  <a:path w="8160" h="11155" fill="none" extrusionOk="0">
                    <a:moveTo>
                      <a:pt x="8159" y="4774"/>
                    </a:moveTo>
                    <a:lnTo>
                      <a:pt x="8159" y="4774"/>
                    </a:lnTo>
                    <a:lnTo>
                      <a:pt x="7599" y="4701"/>
                    </a:lnTo>
                    <a:lnTo>
                      <a:pt x="7283" y="4652"/>
                    </a:lnTo>
                    <a:lnTo>
                      <a:pt x="7136" y="4603"/>
                    </a:lnTo>
                    <a:lnTo>
                      <a:pt x="7136" y="4603"/>
                    </a:lnTo>
                    <a:lnTo>
                      <a:pt x="7088" y="4579"/>
                    </a:lnTo>
                    <a:lnTo>
                      <a:pt x="7015" y="4555"/>
                    </a:lnTo>
                    <a:lnTo>
                      <a:pt x="6844" y="4530"/>
                    </a:lnTo>
                    <a:lnTo>
                      <a:pt x="6844" y="4530"/>
                    </a:lnTo>
                    <a:lnTo>
                      <a:pt x="6747" y="4506"/>
                    </a:lnTo>
                    <a:lnTo>
                      <a:pt x="6649" y="4457"/>
                    </a:lnTo>
                    <a:lnTo>
                      <a:pt x="6552" y="4409"/>
                    </a:lnTo>
                    <a:lnTo>
                      <a:pt x="6454" y="4336"/>
                    </a:lnTo>
                    <a:lnTo>
                      <a:pt x="6454" y="4336"/>
                    </a:lnTo>
                    <a:lnTo>
                      <a:pt x="6381" y="4262"/>
                    </a:lnTo>
                    <a:lnTo>
                      <a:pt x="6308" y="4214"/>
                    </a:lnTo>
                    <a:lnTo>
                      <a:pt x="6235" y="4214"/>
                    </a:lnTo>
                    <a:lnTo>
                      <a:pt x="6187" y="4238"/>
                    </a:lnTo>
                    <a:lnTo>
                      <a:pt x="6187" y="4238"/>
                    </a:lnTo>
                    <a:lnTo>
                      <a:pt x="6162" y="4287"/>
                    </a:lnTo>
                    <a:lnTo>
                      <a:pt x="6162" y="4360"/>
                    </a:lnTo>
                    <a:lnTo>
                      <a:pt x="6211" y="4433"/>
                    </a:lnTo>
                    <a:lnTo>
                      <a:pt x="6284" y="4530"/>
                    </a:lnTo>
                    <a:lnTo>
                      <a:pt x="6284" y="4530"/>
                    </a:lnTo>
                    <a:lnTo>
                      <a:pt x="6357" y="4603"/>
                    </a:lnTo>
                    <a:lnTo>
                      <a:pt x="6454" y="4652"/>
                    </a:lnTo>
                    <a:lnTo>
                      <a:pt x="6576" y="4701"/>
                    </a:lnTo>
                    <a:lnTo>
                      <a:pt x="6649" y="4701"/>
                    </a:lnTo>
                    <a:lnTo>
                      <a:pt x="6649" y="4701"/>
                    </a:lnTo>
                    <a:lnTo>
                      <a:pt x="6747" y="4725"/>
                    </a:lnTo>
                    <a:lnTo>
                      <a:pt x="6844" y="4774"/>
                    </a:lnTo>
                    <a:lnTo>
                      <a:pt x="6942" y="4823"/>
                    </a:lnTo>
                    <a:lnTo>
                      <a:pt x="7039" y="4896"/>
                    </a:lnTo>
                    <a:lnTo>
                      <a:pt x="7039" y="4896"/>
                    </a:lnTo>
                    <a:lnTo>
                      <a:pt x="7063" y="4944"/>
                    </a:lnTo>
                    <a:lnTo>
                      <a:pt x="7088" y="4993"/>
                    </a:lnTo>
                    <a:lnTo>
                      <a:pt x="7063" y="5139"/>
                    </a:lnTo>
                    <a:lnTo>
                      <a:pt x="6966" y="5310"/>
                    </a:lnTo>
                    <a:lnTo>
                      <a:pt x="6844" y="5480"/>
                    </a:lnTo>
                    <a:lnTo>
                      <a:pt x="6844" y="5480"/>
                    </a:lnTo>
                    <a:lnTo>
                      <a:pt x="6674" y="5626"/>
                    </a:lnTo>
                    <a:lnTo>
                      <a:pt x="6528" y="5748"/>
                    </a:lnTo>
                    <a:lnTo>
                      <a:pt x="6381" y="5821"/>
                    </a:lnTo>
                    <a:lnTo>
                      <a:pt x="6284" y="5846"/>
                    </a:lnTo>
                    <a:lnTo>
                      <a:pt x="6284" y="5846"/>
                    </a:lnTo>
                    <a:lnTo>
                      <a:pt x="6113" y="5870"/>
                    </a:lnTo>
                    <a:lnTo>
                      <a:pt x="6040" y="5894"/>
                    </a:lnTo>
                    <a:lnTo>
                      <a:pt x="5992" y="5943"/>
                    </a:lnTo>
                    <a:lnTo>
                      <a:pt x="5992" y="5943"/>
                    </a:lnTo>
                    <a:lnTo>
                      <a:pt x="5943" y="5967"/>
                    </a:lnTo>
                    <a:lnTo>
                      <a:pt x="5894" y="5992"/>
                    </a:lnTo>
                    <a:lnTo>
                      <a:pt x="5846" y="5967"/>
                    </a:lnTo>
                    <a:lnTo>
                      <a:pt x="5797" y="5943"/>
                    </a:lnTo>
                    <a:lnTo>
                      <a:pt x="5797" y="5943"/>
                    </a:lnTo>
                    <a:lnTo>
                      <a:pt x="5773" y="5894"/>
                    </a:lnTo>
                    <a:lnTo>
                      <a:pt x="5724" y="5821"/>
                    </a:lnTo>
                    <a:lnTo>
                      <a:pt x="5699" y="5651"/>
                    </a:lnTo>
                    <a:lnTo>
                      <a:pt x="5699" y="5651"/>
                    </a:lnTo>
                    <a:lnTo>
                      <a:pt x="5675" y="5553"/>
                    </a:lnTo>
                    <a:lnTo>
                      <a:pt x="5602" y="5407"/>
                    </a:lnTo>
                    <a:lnTo>
                      <a:pt x="5480" y="5261"/>
                    </a:lnTo>
                    <a:lnTo>
                      <a:pt x="5334" y="5091"/>
                    </a:lnTo>
                    <a:lnTo>
                      <a:pt x="5334" y="5091"/>
                    </a:lnTo>
                    <a:lnTo>
                      <a:pt x="5188" y="4920"/>
                    </a:lnTo>
                    <a:lnTo>
                      <a:pt x="5066" y="4774"/>
                    </a:lnTo>
                    <a:lnTo>
                      <a:pt x="4969" y="4628"/>
                    </a:lnTo>
                    <a:lnTo>
                      <a:pt x="4944" y="4530"/>
                    </a:lnTo>
                    <a:lnTo>
                      <a:pt x="4944" y="4530"/>
                    </a:lnTo>
                    <a:lnTo>
                      <a:pt x="4944" y="4457"/>
                    </a:lnTo>
                    <a:lnTo>
                      <a:pt x="4920" y="4409"/>
                    </a:lnTo>
                    <a:lnTo>
                      <a:pt x="4896" y="4409"/>
                    </a:lnTo>
                    <a:lnTo>
                      <a:pt x="4847" y="4433"/>
                    </a:lnTo>
                    <a:lnTo>
                      <a:pt x="4847" y="4433"/>
                    </a:lnTo>
                    <a:lnTo>
                      <a:pt x="4823" y="4482"/>
                    </a:lnTo>
                    <a:lnTo>
                      <a:pt x="4774" y="4555"/>
                    </a:lnTo>
                    <a:lnTo>
                      <a:pt x="4750" y="4701"/>
                    </a:lnTo>
                    <a:lnTo>
                      <a:pt x="4750" y="4701"/>
                    </a:lnTo>
                    <a:lnTo>
                      <a:pt x="4774" y="4798"/>
                    </a:lnTo>
                    <a:lnTo>
                      <a:pt x="4847" y="4920"/>
                    </a:lnTo>
                    <a:lnTo>
                      <a:pt x="4920" y="5066"/>
                    </a:lnTo>
                    <a:lnTo>
                      <a:pt x="5042" y="5188"/>
                    </a:lnTo>
                    <a:lnTo>
                      <a:pt x="5042" y="5188"/>
                    </a:lnTo>
                    <a:lnTo>
                      <a:pt x="5139" y="5310"/>
                    </a:lnTo>
                    <a:lnTo>
                      <a:pt x="5237" y="5431"/>
                    </a:lnTo>
                    <a:lnTo>
                      <a:pt x="5310" y="5553"/>
                    </a:lnTo>
                    <a:lnTo>
                      <a:pt x="5334" y="5651"/>
                    </a:lnTo>
                    <a:lnTo>
                      <a:pt x="5334" y="5651"/>
                    </a:lnTo>
                    <a:lnTo>
                      <a:pt x="5334" y="5748"/>
                    </a:lnTo>
                    <a:lnTo>
                      <a:pt x="5383" y="5846"/>
                    </a:lnTo>
                    <a:lnTo>
                      <a:pt x="5432" y="5943"/>
                    </a:lnTo>
                    <a:lnTo>
                      <a:pt x="5505" y="6040"/>
                    </a:lnTo>
                    <a:lnTo>
                      <a:pt x="5505" y="6040"/>
                    </a:lnTo>
                    <a:lnTo>
                      <a:pt x="5626" y="6113"/>
                    </a:lnTo>
                    <a:lnTo>
                      <a:pt x="5773" y="6162"/>
                    </a:lnTo>
                    <a:lnTo>
                      <a:pt x="5919" y="6211"/>
                    </a:lnTo>
                    <a:lnTo>
                      <a:pt x="6089" y="6235"/>
                    </a:lnTo>
                    <a:lnTo>
                      <a:pt x="6089" y="6235"/>
                    </a:lnTo>
                    <a:lnTo>
                      <a:pt x="6235" y="6235"/>
                    </a:lnTo>
                    <a:lnTo>
                      <a:pt x="6357" y="6284"/>
                    </a:lnTo>
                    <a:lnTo>
                      <a:pt x="6430" y="6333"/>
                    </a:lnTo>
                    <a:lnTo>
                      <a:pt x="6454" y="6381"/>
                    </a:lnTo>
                    <a:lnTo>
                      <a:pt x="6454" y="6430"/>
                    </a:lnTo>
                    <a:lnTo>
                      <a:pt x="6454" y="6430"/>
                    </a:lnTo>
                    <a:lnTo>
                      <a:pt x="6430" y="6527"/>
                    </a:lnTo>
                    <a:lnTo>
                      <a:pt x="6308" y="6722"/>
                    </a:lnTo>
                    <a:lnTo>
                      <a:pt x="6113" y="6941"/>
                    </a:lnTo>
                    <a:lnTo>
                      <a:pt x="5894" y="7185"/>
                    </a:lnTo>
                    <a:lnTo>
                      <a:pt x="5894" y="7185"/>
                    </a:lnTo>
                    <a:lnTo>
                      <a:pt x="5675" y="7429"/>
                    </a:lnTo>
                    <a:lnTo>
                      <a:pt x="5505" y="7696"/>
                    </a:lnTo>
                    <a:lnTo>
                      <a:pt x="5358" y="7940"/>
                    </a:lnTo>
                    <a:lnTo>
                      <a:pt x="5334" y="8037"/>
                    </a:lnTo>
                    <a:lnTo>
                      <a:pt x="5334" y="8135"/>
                    </a:lnTo>
                    <a:lnTo>
                      <a:pt x="5334" y="8135"/>
                    </a:lnTo>
                    <a:lnTo>
                      <a:pt x="5334" y="8281"/>
                    </a:lnTo>
                    <a:lnTo>
                      <a:pt x="5358" y="8427"/>
                    </a:lnTo>
                    <a:lnTo>
                      <a:pt x="5383" y="8525"/>
                    </a:lnTo>
                    <a:lnTo>
                      <a:pt x="5432" y="8598"/>
                    </a:lnTo>
                    <a:lnTo>
                      <a:pt x="5432" y="8598"/>
                    </a:lnTo>
                    <a:lnTo>
                      <a:pt x="5456" y="8646"/>
                    </a:lnTo>
                    <a:lnTo>
                      <a:pt x="5480" y="8719"/>
                    </a:lnTo>
                    <a:lnTo>
                      <a:pt x="5505" y="8890"/>
                    </a:lnTo>
                    <a:lnTo>
                      <a:pt x="5505" y="8890"/>
                    </a:lnTo>
                    <a:lnTo>
                      <a:pt x="5480" y="8987"/>
                    </a:lnTo>
                    <a:lnTo>
                      <a:pt x="5383" y="9158"/>
                    </a:lnTo>
                    <a:lnTo>
                      <a:pt x="5237" y="9353"/>
                    </a:lnTo>
                    <a:lnTo>
                      <a:pt x="5042" y="9547"/>
                    </a:lnTo>
                    <a:lnTo>
                      <a:pt x="5042" y="9547"/>
                    </a:lnTo>
                    <a:lnTo>
                      <a:pt x="4847" y="9742"/>
                    </a:lnTo>
                    <a:lnTo>
                      <a:pt x="4701" y="9937"/>
                    </a:lnTo>
                    <a:lnTo>
                      <a:pt x="4603" y="10108"/>
                    </a:lnTo>
                    <a:lnTo>
                      <a:pt x="4555" y="10205"/>
                    </a:lnTo>
                    <a:lnTo>
                      <a:pt x="4555" y="10205"/>
                    </a:lnTo>
                    <a:lnTo>
                      <a:pt x="4530" y="10327"/>
                    </a:lnTo>
                    <a:lnTo>
                      <a:pt x="4457" y="10473"/>
                    </a:lnTo>
                    <a:lnTo>
                      <a:pt x="4336" y="10619"/>
                    </a:lnTo>
                    <a:lnTo>
                      <a:pt x="4189" y="10790"/>
                    </a:lnTo>
                    <a:lnTo>
                      <a:pt x="4189" y="10790"/>
                    </a:lnTo>
                    <a:lnTo>
                      <a:pt x="4019" y="10936"/>
                    </a:lnTo>
                    <a:lnTo>
                      <a:pt x="3873" y="11057"/>
                    </a:lnTo>
                    <a:lnTo>
                      <a:pt x="3727" y="11131"/>
                    </a:lnTo>
                    <a:lnTo>
                      <a:pt x="3605" y="11155"/>
                    </a:lnTo>
                    <a:lnTo>
                      <a:pt x="3605" y="11155"/>
                    </a:lnTo>
                    <a:lnTo>
                      <a:pt x="3532" y="11155"/>
                    </a:lnTo>
                    <a:lnTo>
                      <a:pt x="3434" y="11106"/>
                    </a:lnTo>
                    <a:lnTo>
                      <a:pt x="3337" y="11057"/>
                    </a:lnTo>
                    <a:lnTo>
                      <a:pt x="3240" y="10984"/>
                    </a:lnTo>
                    <a:lnTo>
                      <a:pt x="3240" y="10984"/>
                    </a:lnTo>
                    <a:lnTo>
                      <a:pt x="3167" y="10887"/>
                    </a:lnTo>
                    <a:lnTo>
                      <a:pt x="3093" y="10790"/>
                    </a:lnTo>
                    <a:lnTo>
                      <a:pt x="3069" y="10692"/>
                    </a:lnTo>
                    <a:lnTo>
                      <a:pt x="3045" y="10595"/>
                    </a:lnTo>
                    <a:lnTo>
                      <a:pt x="3045" y="10595"/>
                    </a:lnTo>
                    <a:lnTo>
                      <a:pt x="3020" y="10424"/>
                    </a:lnTo>
                    <a:lnTo>
                      <a:pt x="2996" y="10351"/>
                    </a:lnTo>
                    <a:lnTo>
                      <a:pt x="2947" y="10302"/>
                    </a:lnTo>
                    <a:lnTo>
                      <a:pt x="2947" y="10302"/>
                    </a:lnTo>
                    <a:lnTo>
                      <a:pt x="2923" y="10254"/>
                    </a:lnTo>
                    <a:lnTo>
                      <a:pt x="2874" y="10181"/>
                    </a:lnTo>
                    <a:lnTo>
                      <a:pt x="2850" y="10035"/>
                    </a:lnTo>
                    <a:lnTo>
                      <a:pt x="2850" y="10035"/>
                    </a:lnTo>
                    <a:lnTo>
                      <a:pt x="2826" y="9864"/>
                    </a:lnTo>
                    <a:lnTo>
                      <a:pt x="2801" y="9791"/>
                    </a:lnTo>
                    <a:lnTo>
                      <a:pt x="2752" y="9742"/>
                    </a:lnTo>
                    <a:lnTo>
                      <a:pt x="2752" y="9742"/>
                    </a:lnTo>
                    <a:lnTo>
                      <a:pt x="2728" y="9669"/>
                    </a:lnTo>
                    <a:lnTo>
                      <a:pt x="2704" y="9572"/>
                    </a:lnTo>
                    <a:lnTo>
                      <a:pt x="2679" y="9426"/>
                    </a:lnTo>
                    <a:lnTo>
                      <a:pt x="2655" y="9255"/>
                    </a:lnTo>
                    <a:lnTo>
                      <a:pt x="2655" y="9255"/>
                    </a:lnTo>
                    <a:lnTo>
                      <a:pt x="2679" y="9109"/>
                    </a:lnTo>
                    <a:lnTo>
                      <a:pt x="2704" y="8963"/>
                    </a:lnTo>
                    <a:lnTo>
                      <a:pt x="2728" y="8866"/>
                    </a:lnTo>
                    <a:lnTo>
                      <a:pt x="2752" y="8792"/>
                    </a:lnTo>
                    <a:lnTo>
                      <a:pt x="2752" y="8792"/>
                    </a:lnTo>
                    <a:lnTo>
                      <a:pt x="2801" y="8744"/>
                    </a:lnTo>
                    <a:lnTo>
                      <a:pt x="2826" y="8671"/>
                    </a:lnTo>
                    <a:lnTo>
                      <a:pt x="2850" y="8500"/>
                    </a:lnTo>
                    <a:lnTo>
                      <a:pt x="2850" y="8500"/>
                    </a:lnTo>
                    <a:lnTo>
                      <a:pt x="2826" y="8403"/>
                    </a:lnTo>
                    <a:lnTo>
                      <a:pt x="2777" y="8281"/>
                    </a:lnTo>
                    <a:lnTo>
                      <a:pt x="2679" y="8159"/>
                    </a:lnTo>
                    <a:lnTo>
                      <a:pt x="2582" y="8037"/>
                    </a:lnTo>
                    <a:lnTo>
                      <a:pt x="2582" y="8037"/>
                    </a:lnTo>
                    <a:lnTo>
                      <a:pt x="2460" y="7891"/>
                    </a:lnTo>
                    <a:lnTo>
                      <a:pt x="2363" y="7721"/>
                    </a:lnTo>
                    <a:lnTo>
                      <a:pt x="2314" y="7526"/>
                    </a:lnTo>
                    <a:lnTo>
                      <a:pt x="2290" y="7356"/>
                    </a:lnTo>
                    <a:lnTo>
                      <a:pt x="2290" y="7356"/>
                    </a:lnTo>
                    <a:lnTo>
                      <a:pt x="2290" y="7209"/>
                    </a:lnTo>
                    <a:lnTo>
                      <a:pt x="2265" y="7063"/>
                    </a:lnTo>
                    <a:lnTo>
                      <a:pt x="2217" y="6966"/>
                    </a:lnTo>
                    <a:lnTo>
                      <a:pt x="2192" y="6893"/>
                    </a:lnTo>
                    <a:lnTo>
                      <a:pt x="2192" y="6893"/>
                    </a:lnTo>
                    <a:lnTo>
                      <a:pt x="2144" y="6844"/>
                    </a:lnTo>
                    <a:lnTo>
                      <a:pt x="2071" y="6820"/>
                    </a:lnTo>
                    <a:lnTo>
                      <a:pt x="1900" y="6795"/>
                    </a:lnTo>
                    <a:lnTo>
                      <a:pt x="1900" y="6795"/>
                    </a:lnTo>
                    <a:lnTo>
                      <a:pt x="1754" y="6820"/>
                    </a:lnTo>
                    <a:lnTo>
                      <a:pt x="1681" y="6844"/>
                    </a:lnTo>
                    <a:lnTo>
                      <a:pt x="1632" y="6893"/>
                    </a:lnTo>
                    <a:lnTo>
                      <a:pt x="1632" y="6893"/>
                    </a:lnTo>
                    <a:lnTo>
                      <a:pt x="1559" y="6941"/>
                    </a:lnTo>
                    <a:lnTo>
                      <a:pt x="1437" y="6966"/>
                    </a:lnTo>
                    <a:lnTo>
                      <a:pt x="1291" y="6990"/>
                    </a:lnTo>
                    <a:lnTo>
                      <a:pt x="1145" y="6990"/>
                    </a:lnTo>
                    <a:lnTo>
                      <a:pt x="1145" y="6990"/>
                    </a:lnTo>
                    <a:lnTo>
                      <a:pt x="975" y="6966"/>
                    </a:lnTo>
                    <a:lnTo>
                      <a:pt x="780" y="6868"/>
                    </a:lnTo>
                    <a:lnTo>
                      <a:pt x="561" y="6747"/>
                    </a:lnTo>
                    <a:lnTo>
                      <a:pt x="390" y="6601"/>
                    </a:lnTo>
                    <a:lnTo>
                      <a:pt x="390" y="6601"/>
                    </a:lnTo>
                    <a:lnTo>
                      <a:pt x="317" y="6527"/>
                    </a:lnTo>
                    <a:lnTo>
                      <a:pt x="244" y="6406"/>
                    </a:lnTo>
                    <a:lnTo>
                      <a:pt x="122" y="6113"/>
                    </a:lnTo>
                    <a:lnTo>
                      <a:pt x="49" y="5797"/>
                    </a:lnTo>
                    <a:lnTo>
                      <a:pt x="0" y="5480"/>
                    </a:lnTo>
                    <a:lnTo>
                      <a:pt x="0" y="5480"/>
                    </a:lnTo>
                    <a:lnTo>
                      <a:pt x="25" y="5310"/>
                    </a:lnTo>
                    <a:lnTo>
                      <a:pt x="49" y="5139"/>
                    </a:lnTo>
                    <a:lnTo>
                      <a:pt x="147" y="4798"/>
                    </a:lnTo>
                    <a:lnTo>
                      <a:pt x="220" y="4628"/>
                    </a:lnTo>
                    <a:lnTo>
                      <a:pt x="293" y="4482"/>
                    </a:lnTo>
                    <a:lnTo>
                      <a:pt x="390" y="4336"/>
                    </a:lnTo>
                    <a:lnTo>
                      <a:pt x="487" y="4238"/>
                    </a:lnTo>
                    <a:lnTo>
                      <a:pt x="487" y="4238"/>
                    </a:lnTo>
                    <a:lnTo>
                      <a:pt x="682" y="4043"/>
                    </a:lnTo>
                    <a:lnTo>
                      <a:pt x="877" y="3897"/>
                    </a:lnTo>
                    <a:lnTo>
                      <a:pt x="1048" y="3800"/>
                    </a:lnTo>
                    <a:lnTo>
                      <a:pt x="1145" y="3751"/>
                    </a:lnTo>
                    <a:lnTo>
                      <a:pt x="1145" y="3751"/>
                    </a:lnTo>
                    <a:lnTo>
                      <a:pt x="1316" y="3727"/>
                    </a:lnTo>
                    <a:lnTo>
                      <a:pt x="1389" y="3702"/>
                    </a:lnTo>
                    <a:lnTo>
                      <a:pt x="1437" y="3654"/>
                    </a:lnTo>
                    <a:lnTo>
                      <a:pt x="1437" y="3654"/>
                    </a:lnTo>
                    <a:lnTo>
                      <a:pt x="1510" y="3629"/>
                    </a:lnTo>
                    <a:lnTo>
                      <a:pt x="1608" y="3605"/>
                    </a:lnTo>
                    <a:lnTo>
                      <a:pt x="1754" y="3581"/>
                    </a:lnTo>
                    <a:lnTo>
                      <a:pt x="1900" y="3581"/>
                    </a:lnTo>
                    <a:lnTo>
                      <a:pt x="1900" y="3581"/>
                    </a:lnTo>
                    <a:lnTo>
                      <a:pt x="2071" y="3581"/>
                    </a:lnTo>
                    <a:lnTo>
                      <a:pt x="2241" y="3629"/>
                    </a:lnTo>
                    <a:lnTo>
                      <a:pt x="2363" y="3678"/>
                    </a:lnTo>
                    <a:lnTo>
                      <a:pt x="2485" y="3751"/>
                    </a:lnTo>
                    <a:lnTo>
                      <a:pt x="2485" y="3751"/>
                    </a:lnTo>
                    <a:lnTo>
                      <a:pt x="2558" y="3824"/>
                    </a:lnTo>
                    <a:lnTo>
                      <a:pt x="2655" y="3897"/>
                    </a:lnTo>
                    <a:lnTo>
                      <a:pt x="2777" y="3946"/>
                    </a:lnTo>
                    <a:lnTo>
                      <a:pt x="2850" y="3946"/>
                    </a:lnTo>
                    <a:lnTo>
                      <a:pt x="2850" y="3946"/>
                    </a:lnTo>
                    <a:lnTo>
                      <a:pt x="3020" y="3970"/>
                    </a:lnTo>
                    <a:lnTo>
                      <a:pt x="3093" y="4019"/>
                    </a:lnTo>
                    <a:lnTo>
                      <a:pt x="3142" y="4043"/>
                    </a:lnTo>
                    <a:lnTo>
                      <a:pt x="3142" y="4043"/>
                    </a:lnTo>
                    <a:lnTo>
                      <a:pt x="3191" y="4068"/>
                    </a:lnTo>
                    <a:lnTo>
                      <a:pt x="3240" y="4092"/>
                    </a:lnTo>
                    <a:lnTo>
                      <a:pt x="3288" y="4068"/>
                    </a:lnTo>
                    <a:lnTo>
                      <a:pt x="3337" y="4043"/>
                    </a:lnTo>
                    <a:lnTo>
                      <a:pt x="3337" y="4043"/>
                    </a:lnTo>
                    <a:lnTo>
                      <a:pt x="3386" y="4019"/>
                    </a:lnTo>
                    <a:lnTo>
                      <a:pt x="3459" y="3970"/>
                    </a:lnTo>
                    <a:lnTo>
                      <a:pt x="3605" y="3946"/>
                    </a:lnTo>
                    <a:lnTo>
                      <a:pt x="3605" y="3946"/>
                    </a:lnTo>
                    <a:lnTo>
                      <a:pt x="3775" y="3970"/>
                    </a:lnTo>
                    <a:lnTo>
                      <a:pt x="3848" y="4019"/>
                    </a:lnTo>
                    <a:lnTo>
                      <a:pt x="3897" y="4043"/>
                    </a:lnTo>
                    <a:lnTo>
                      <a:pt x="3897" y="4043"/>
                    </a:lnTo>
                    <a:lnTo>
                      <a:pt x="3970" y="4092"/>
                    </a:lnTo>
                    <a:lnTo>
                      <a:pt x="4068" y="4116"/>
                    </a:lnTo>
                    <a:lnTo>
                      <a:pt x="4214" y="4141"/>
                    </a:lnTo>
                    <a:lnTo>
                      <a:pt x="4384" y="4141"/>
                    </a:lnTo>
                    <a:lnTo>
                      <a:pt x="4384" y="4141"/>
                    </a:lnTo>
                    <a:lnTo>
                      <a:pt x="4530" y="4141"/>
                    </a:lnTo>
                    <a:lnTo>
                      <a:pt x="4677" y="4116"/>
                    </a:lnTo>
                    <a:lnTo>
                      <a:pt x="4774" y="4092"/>
                    </a:lnTo>
                    <a:lnTo>
                      <a:pt x="4847" y="4043"/>
                    </a:lnTo>
                    <a:lnTo>
                      <a:pt x="4847" y="4043"/>
                    </a:lnTo>
                    <a:lnTo>
                      <a:pt x="4896" y="3995"/>
                    </a:lnTo>
                    <a:lnTo>
                      <a:pt x="4920" y="3921"/>
                    </a:lnTo>
                    <a:lnTo>
                      <a:pt x="4944" y="3751"/>
                    </a:lnTo>
                    <a:lnTo>
                      <a:pt x="4944" y="3751"/>
                    </a:lnTo>
                    <a:lnTo>
                      <a:pt x="4944" y="3727"/>
                    </a:lnTo>
                    <a:lnTo>
                      <a:pt x="4920" y="3678"/>
                    </a:lnTo>
                    <a:lnTo>
                      <a:pt x="4823" y="3629"/>
                    </a:lnTo>
                    <a:lnTo>
                      <a:pt x="4701" y="3581"/>
                    </a:lnTo>
                    <a:lnTo>
                      <a:pt x="4555" y="3581"/>
                    </a:lnTo>
                    <a:lnTo>
                      <a:pt x="4555" y="3581"/>
                    </a:lnTo>
                    <a:lnTo>
                      <a:pt x="4409" y="3556"/>
                    </a:lnTo>
                    <a:lnTo>
                      <a:pt x="4238" y="3507"/>
                    </a:lnTo>
                    <a:lnTo>
                      <a:pt x="4092" y="3459"/>
                    </a:lnTo>
                    <a:lnTo>
                      <a:pt x="3995" y="3386"/>
                    </a:lnTo>
                    <a:lnTo>
                      <a:pt x="3995" y="3386"/>
                    </a:lnTo>
                    <a:lnTo>
                      <a:pt x="3897" y="3313"/>
                    </a:lnTo>
                    <a:lnTo>
                      <a:pt x="3800" y="3240"/>
                    </a:lnTo>
                    <a:lnTo>
                      <a:pt x="3702" y="3215"/>
                    </a:lnTo>
                    <a:lnTo>
                      <a:pt x="3605" y="3191"/>
                    </a:lnTo>
                    <a:lnTo>
                      <a:pt x="3605" y="3191"/>
                    </a:lnTo>
                    <a:lnTo>
                      <a:pt x="3532" y="3166"/>
                    </a:lnTo>
                    <a:lnTo>
                      <a:pt x="3434" y="3142"/>
                    </a:lnTo>
                    <a:lnTo>
                      <a:pt x="3337" y="3069"/>
                    </a:lnTo>
                    <a:lnTo>
                      <a:pt x="3240" y="2996"/>
                    </a:lnTo>
                    <a:lnTo>
                      <a:pt x="3240" y="2996"/>
                    </a:lnTo>
                    <a:lnTo>
                      <a:pt x="3167" y="2923"/>
                    </a:lnTo>
                    <a:lnTo>
                      <a:pt x="3069" y="2899"/>
                    </a:lnTo>
                    <a:lnTo>
                      <a:pt x="2996" y="2874"/>
                    </a:lnTo>
                    <a:lnTo>
                      <a:pt x="2947" y="2899"/>
                    </a:lnTo>
                    <a:lnTo>
                      <a:pt x="2947" y="2899"/>
                    </a:lnTo>
                    <a:lnTo>
                      <a:pt x="2899" y="2923"/>
                    </a:lnTo>
                    <a:lnTo>
                      <a:pt x="2826" y="2923"/>
                    </a:lnTo>
                    <a:lnTo>
                      <a:pt x="2752" y="2874"/>
                    </a:lnTo>
                    <a:lnTo>
                      <a:pt x="2655" y="2801"/>
                    </a:lnTo>
                    <a:lnTo>
                      <a:pt x="2655" y="2801"/>
                    </a:lnTo>
                    <a:lnTo>
                      <a:pt x="2582" y="2752"/>
                    </a:lnTo>
                    <a:lnTo>
                      <a:pt x="2509" y="2704"/>
                    </a:lnTo>
                    <a:lnTo>
                      <a:pt x="2436" y="2704"/>
                    </a:lnTo>
                    <a:lnTo>
                      <a:pt x="2387" y="2704"/>
                    </a:lnTo>
                    <a:lnTo>
                      <a:pt x="2387" y="2704"/>
                    </a:lnTo>
                    <a:lnTo>
                      <a:pt x="2338" y="2752"/>
                    </a:lnTo>
                    <a:lnTo>
                      <a:pt x="2265" y="2777"/>
                    </a:lnTo>
                    <a:lnTo>
                      <a:pt x="2095" y="2801"/>
                    </a:lnTo>
                    <a:lnTo>
                      <a:pt x="2095" y="2801"/>
                    </a:lnTo>
                    <a:lnTo>
                      <a:pt x="1997" y="2850"/>
                    </a:lnTo>
                    <a:lnTo>
                      <a:pt x="1851" y="2923"/>
                    </a:lnTo>
                    <a:lnTo>
                      <a:pt x="1681" y="3045"/>
                    </a:lnTo>
                    <a:lnTo>
                      <a:pt x="1535" y="3191"/>
                    </a:lnTo>
                    <a:lnTo>
                      <a:pt x="1535" y="3191"/>
                    </a:lnTo>
                    <a:lnTo>
                      <a:pt x="1364" y="3337"/>
                    </a:lnTo>
                    <a:lnTo>
                      <a:pt x="1194" y="3459"/>
                    </a:lnTo>
                    <a:lnTo>
                      <a:pt x="1072" y="3532"/>
                    </a:lnTo>
                    <a:lnTo>
                      <a:pt x="950" y="3581"/>
                    </a:lnTo>
                    <a:lnTo>
                      <a:pt x="950" y="3581"/>
                    </a:lnTo>
                    <a:lnTo>
                      <a:pt x="804" y="3532"/>
                    </a:lnTo>
                    <a:lnTo>
                      <a:pt x="731" y="3507"/>
                    </a:lnTo>
                    <a:lnTo>
                      <a:pt x="682" y="3483"/>
                    </a:lnTo>
                    <a:lnTo>
                      <a:pt x="682" y="3483"/>
                    </a:lnTo>
                    <a:lnTo>
                      <a:pt x="634" y="3434"/>
                    </a:lnTo>
                    <a:lnTo>
                      <a:pt x="609" y="3361"/>
                    </a:lnTo>
                    <a:lnTo>
                      <a:pt x="585" y="3191"/>
                    </a:lnTo>
                    <a:lnTo>
                      <a:pt x="585" y="3191"/>
                    </a:lnTo>
                    <a:lnTo>
                      <a:pt x="609" y="3020"/>
                    </a:lnTo>
                    <a:lnTo>
                      <a:pt x="634" y="2947"/>
                    </a:lnTo>
                    <a:lnTo>
                      <a:pt x="682" y="2899"/>
                    </a:lnTo>
                    <a:lnTo>
                      <a:pt x="682" y="2899"/>
                    </a:lnTo>
                    <a:lnTo>
                      <a:pt x="731" y="2874"/>
                    </a:lnTo>
                    <a:lnTo>
                      <a:pt x="853" y="2850"/>
                    </a:lnTo>
                    <a:lnTo>
                      <a:pt x="999" y="2826"/>
                    </a:lnTo>
                    <a:lnTo>
                      <a:pt x="1145" y="2801"/>
                    </a:lnTo>
                    <a:lnTo>
                      <a:pt x="1145" y="2801"/>
                    </a:lnTo>
                    <a:lnTo>
                      <a:pt x="1291" y="2801"/>
                    </a:lnTo>
                    <a:lnTo>
                      <a:pt x="1413" y="2752"/>
                    </a:lnTo>
                    <a:lnTo>
                      <a:pt x="1486" y="2704"/>
                    </a:lnTo>
                    <a:lnTo>
                      <a:pt x="1510" y="2655"/>
                    </a:lnTo>
                    <a:lnTo>
                      <a:pt x="1535" y="2631"/>
                    </a:lnTo>
                    <a:lnTo>
                      <a:pt x="1535" y="2631"/>
                    </a:lnTo>
                    <a:lnTo>
                      <a:pt x="1486" y="2460"/>
                    </a:lnTo>
                    <a:lnTo>
                      <a:pt x="1462" y="2387"/>
                    </a:lnTo>
                    <a:lnTo>
                      <a:pt x="1437" y="2338"/>
                    </a:lnTo>
                    <a:lnTo>
                      <a:pt x="1437" y="2338"/>
                    </a:lnTo>
                    <a:lnTo>
                      <a:pt x="1389" y="2290"/>
                    </a:lnTo>
                    <a:lnTo>
                      <a:pt x="1389" y="2241"/>
                    </a:lnTo>
                    <a:lnTo>
                      <a:pt x="1389" y="2192"/>
                    </a:lnTo>
                    <a:lnTo>
                      <a:pt x="1437" y="2144"/>
                    </a:lnTo>
                    <a:lnTo>
                      <a:pt x="1437" y="2144"/>
                    </a:lnTo>
                    <a:lnTo>
                      <a:pt x="1486" y="2119"/>
                    </a:lnTo>
                    <a:lnTo>
                      <a:pt x="1559" y="2070"/>
                    </a:lnTo>
                    <a:lnTo>
                      <a:pt x="1705" y="2046"/>
                    </a:lnTo>
                    <a:lnTo>
                      <a:pt x="1705" y="2046"/>
                    </a:lnTo>
                    <a:lnTo>
                      <a:pt x="1803" y="2046"/>
                    </a:lnTo>
                    <a:lnTo>
                      <a:pt x="1900" y="1997"/>
                    </a:lnTo>
                    <a:lnTo>
                      <a:pt x="1997" y="1924"/>
                    </a:lnTo>
                    <a:lnTo>
                      <a:pt x="2095" y="1851"/>
                    </a:lnTo>
                    <a:lnTo>
                      <a:pt x="2095" y="1851"/>
                    </a:lnTo>
                    <a:lnTo>
                      <a:pt x="2168" y="1778"/>
                    </a:lnTo>
                    <a:lnTo>
                      <a:pt x="2241" y="1681"/>
                    </a:lnTo>
                    <a:lnTo>
                      <a:pt x="2265" y="1559"/>
                    </a:lnTo>
                    <a:lnTo>
                      <a:pt x="2290" y="1486"/>
                    </a:lnTo>
                    <a:lnTo>
                      <a:pt x="2290" y="1486"/>
                    </a:lnTo>
                    <a:lnTo>
                      <a:pt x="2265" y="1315"/>
                    </a:lnTo>
                    <a:lnTo>
                      <a:pt x="2217" y="1242"/>
                    </a:lnTo>
                    <a:lnTo>
                      <a:pt x="2192" y="1194"/>
                    </a:lnTo>
                    <a:lnTo>
                      <a:pt x="2192" y="1194"/>
                    </a:lnTo>
                    <a:lnTo>
                      <a:pt x="2192" y="1169"/>
                    </a:lnTo>
                    <a:lnTo>
                      <a:pt x="2192" y="1121"/>
                    </a:lnTo>
                    <a:lnTo>
                      <a:pt x="2265" y="999"/>
                    </a:lnTo>
                    <a:lnTo>
                      <a:pt x="2387" y="828"/>
                    </a:lnTo>
                    <a:lnTo>
                      <a:pt x="2582" y="634"/>
                    </a:lnTo>
                    <a:lnTo>
                      <a:pt x="2582" y="634"/>
                    </a:lnTo>
                    <a:lnTo>
                      <a:pt x="2679" y="536"/>
                    </a:lnTo>
                    <a:lnTo>
                      <a:pt x="2826" y="439"/>
                    </a:lnTo>
                    <a:lnTo>
                      <a:pt x="2972" y="366"/>
                    </a:lnTo>
                    <a:lnTo>
                      <a:pt x="3142" y="293"/>
                    </a:lnTo>
                    <a:lnTo>
                      <a:pt x="3483" y="195"/>
                    </a:lnTo>
                    <a:lnTo>
                      <a:pt x="3654" y="171"/>
                    </a:lnTo>
                    <a:lnTo>
                      <a:pt x="3800" y="146"/>
                    </a:lnTo>
                    <a:lnTo>
                      <a:pt x="3800" y="146"/>
                    </a:lnTo>
                    <a:lnTo>
                      <a:pt x="4116" y="171"/>
                    </a:lnTo>
                    <a:lnTo>
                      <a:pt x="4360" y="171"/>
                    </a:lnTo>
                    <a:lnTo>
                      <a:pt x="4555" y="220"/>
                    </a:lnTo>
                    <a:lnTo>
                      <a:pt x="4652" y="244"/>
                    </a:lnTo>
                    <a:lnTo>
                      <a:pt x="4652" y="244"/>
                    </a:lnTo>
                    <a:lnTo>
                      <a:pt x="4701" y="268"/>
                    </a:lnTo>
                    <a:lnTo>
                      <a:pt x="4750" y="293"/>
                    </a:lnTo>
                    <a:lnTo>
                      <a:pt x="4798" y="268"/>
                    </a:lnTo>
                    <a:lnTo>
                      <a:pt x="4847" y="244"/>
                    </a:lnTo>
                    <a:lnTo>
                      <a:pt x="4847" y="244"/>
                    </a:lnTo>
                    <a:lnTo>
                      <a:pt x="5018" y="195"/>
                    </a:lnTo>
                    <a:lnTo>
                      <a:pt x="5407" y="122"/>
                    </a:lnTo>
                    <a:lnTo>
                      <a:pt x="5821" y="25"/>
                    </a:lnTo>
                    <a:lnTo>
                      <a:pt x="6138" y="0"/>
                    </a:lnTo>
                  </a:path>
                </a:pathLst>
              </a:custGeom>
              <a:grpFill/>
              <a:ln w="0">
                <a:solidFill>
                  <a:srgbClr val="53585F"/>
                </a:solidFill>
                <a:headEnd type="none" w="med" len="med"/>
                <a:tailEnd type="none" w="med" len="med"/>
              </a:ln>
            </p:spPr>
            <p:style>
              <a:lnRef idx="1">
                <a:schemeClr val="dk1"/>
              </a:lnRef>
              <a:fillRef idx="1001">
                <a:schemeClr val="lt2"/>
              </a:fillRef>
              <a:effectRef idx="0">
                <a:schemeClr val="dk1"/>
              </a:effectRef>
              <a:fontRef idx="minor">
                <a:schemeClr val="tx1"/>
              </a:fontRef>
            </p:style>
            <p:txBody>
              <a:bodyPr lIns="91425" tIns="91425" rIns="91425" bIns="91425" anchor="ctr" anchorCtr="0">
                <a:noAutofit/>
              </a:bodyPr>
              <a:lstStyle/>
              <a:p>
                <a:pPr lvl="0">
                  <a:spcBef>
                    <a:spcPts val="0"/>
                  </a:spcBef>
                  <a:buNone/>
                </a:pPr>
                <a:endParaRPr>
                  <a:ln w="0"/>
                  <a:solidFill>
                    <a:schemeClr val="tx1"/>
                  </a:solidFill>
                  <a:effectLst>
                    <a:outerShdw blurRad="38100" dist="19050" dir="2700000" algn="tl" rotWithShape="0">
                      <a:schemeClr val="dk1">
                        <a:alpha val="40000"/>
                      </a:schemeClr>
                    </a:outerShdw>
                  </a:effectLst>
                </a:endParaRPr>
              </a:p>
            </p:txBody>
          </p:sp>
        </p:grpSp>
      </p:grpSp>
      <p:grpSp>
        <p:nvGrpSpPr>
          <p:cNvPr id="19" name="Group 18"/>
          <p:cNvGrpSpPr/>
          <p:nvPr/>
        </p:nvGrpSpPr>
        <p:grpSpPr>
          <a:xfrm>
            <a:off x="7527551" y="2873555"/>
            <a:ext cx="1424987" cy="1796578"/>
            <a:chOff x="7906616" y="2873249"/>
            <a:chExt cx="1424987" cy="1796578"/>
          </a:xfrm>
        </p:grpSpPr>
        <p:sp>
          <p:nvSpPr>
            <p:cNvPr id="13" name="Oval 6"/>
            <p:cNvSpPr/>
            <p:nvPr/>
          </p:nvSpPr>
          <p:spPr>
            <a:xfrm>
              <a:off x="8432066" y="2873249"/>
              <a:ext cx="374087" cy="374087"/>
            </a:xfrm>
            <a:prstGeom prst="ellipse">
              <a:avLst/>
            </a:prstGeom>
            <a:solidFill>
              <a:srgbClr val="3F53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4</a:t>
              </a:r>
            </a:p>
          </p:txBody>
        </p:sp>
        <p:sp>
          <p:nvSpPr>
            <p:cNvPr id="14" name="Rectangle 13"/>
            <p:cNvSpPr/>
            <p:nvPr/>
          </p:nvSpPr>
          <p:spPr>
            <a:xfrm>
              <a:off x="7906616" y="4331272"/>
              <a:ext cx="1424987"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fr-FR" sz="1600" b="1" dirty="0">
                  <a:solidFill>
                    <a:srgbClr val="3F5378"/>
                  </a:solidFill>
                  <a:latin typeface="Roboto Condensed" panose="020B0604020202020204" charset="0"/>
                  <a:ea typeface="Roboto Condensed" panose="020B0604020202020204" charset="0"/>
                  <a:cs typeface="Open Sans" panose="020B0606030504020204" pitchFamily="34" charset="0"/>
                </a:rPr>
                <a:t>Evaluation and Results</a:t>
              </a:r>
            </a:p>
          </p:txBody>
        </p:sp>
        <p:grpSp>
          <p:nvGrpSpPr>
            <p:cNvPr id="38" name="Shape 735"/>
            <p:cNvGrpSpPr/>
            <p:nvPr/>
          </p:nvGrpSpPr>
          <p:grpSpPr>
            <a:xfrm>
              <a:off x="8308071" y="3492289"/>
              <a:ext cx="643412" cy="466956"/>
              <a:chOff x="3932350" y="3714775"/>
              <a:chExt cx="439650" cy="319075"/>
            </a:xfrm>
          </p:grpSpPr>
          <p:sp>
            <p:nvSpPr>
              <p:cNvPr id="39" name="Shape 736"/>
              <p:cNvSpPr/>
              <p:nvPr/>
            </p:nvSpPr>
            <p:spPr>
              <a:xfrm>
                <a:off x="3932350" y="3714775"/>
                <a:ext cx="439650" cy="319075"/>
              </a:xfrm>
              <a:custGeom>
                <a:avLst/>
                <a:gdLst/>
                <a:ahLst/>
                <a:cxnLst/>
                <a:rect l="0" t="0" r="0" b="0"/>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0" name="Shape 737"/>
              <p:cNvSpPr/>
              <p:nvPr/>
            </p:nvSpPr>
            <p:spPr>
              <a:xfrm>
                <a:off x="3970100" y="3862750"/>
                <a:ext cx="77350" cy="132750"/>
              </a:xfrm>
              <a:custGeom>
                <a:avLst/>
                <a:gdLst/>
                <a:ahLst/>
                <a:cxnLst/>
                <a:rect l="0" t="0" r="0" b="0"/>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1" name="Shape 738"/>
              <p:cNvSpPr/>
              <p:nvPr/>
            </p:nvSpPr>
            <p:spPr>
              <a:xfrm>
                <a:off x="4278800" y="3862750"/>
                <a:ext cx="77350" cy="132750"/>
              </a:xfrm>
              <a:custGeom>
                <a:avLst/>
                <a:gdLst/>
                <a:ahLst/>
                <a:cxnLst/>
                <a:rect l="0" t="0" r="0" b="0"/>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2" name="Shape 739"/>
              <p:cNvSpPr/>
              <p:nvPr/>
            </p:nvSpPr>
            <p:spPr>
              <a:xfrm>
                <a:off x="4073000" y="3716600"/>
                <a:ext cx="77350" cy="278900"/>
              </a:xfrm>
              <a:custGeom>
                <a:avLst/>
                <a:gdLst/>
                <a:ahLst/>
                <a:cxnLst/>
                <a:rect l="0" t="0" r="0" b="0"/>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3" name="Shape 740"/>
              <p:cNvSpPr/>
              <p:nvPr/>
            </p:nvSpPr>
            <p:spPr>
              <a:xfrm>
                <a:off x="4175900" y="3787250"/>
                <a:ext cx="77350" cy="208250"/>
              </a:xfrm>
              <a:custGeom>
                <a:avLst/>
                <a:gdLst/>
                <a:ahLst/>
                <a:cxnLst/>
                <a:rect l="0" t="0" r="0" b="0"/>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grpSp>
      <p:grpSp>
        <p:nvGrpSpPr>
          <p:cNvPr id="18" name="Group 17"/>
          <p:cNvGrpSpPr/>
          <p:nvPr/>
        </p:nvGrpSpPr>
        <p:grpSpPr>
          <a:xfrm>
            <a:off x="5528468" y="2873249"/>
            <a:ext cx="1424987" cy="1796578"/>
            <a:chOff x="6201387" y="2873249"/>
            <a:chExt cx="1424987" cy="1796578"/>
          </a:xfrm>
        </p:grpSpPr>
        <p:sp>
          <p:nvSpPr>
            <p:cNvPr id="11" name="Oval 5"/>
            <p:cNvSpPr/>
            <p:nvPr/>
          </p:nvSpPr>
          <p:spPr>
            <a:xfrm>
              <a:off x="6726837" y="2873249"/>
              <a:ext cx="374087" cy="374087"/>
            </a:xfrm>
            <a:prstGeom prst="ellipse">
              <a:avLst/>
            </a:prstGeom>
            <a:solidFill>
              <a:srgbClr val="3F53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3</a:t>
              </a:r>
            </a:p>
          </p:txBody>
        </p:sp>
        <p:sp>
          <p:nvSpPr>
            <p:cNvPr id="12" name="Rectangle 11"/>
            <p:cNvSpPr/>
            <p:nvPr/>
          </p:nvSpPr>
          <p:spPr>
            <a:xfrm>
              <a:off x="6201387" y="4331272"/>
              <a:ext cx="1424987"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fr-FR" sz="1600" b="1" dirty="0">
                  <a:solidFill>
                    <a:srgbClr val="3F5378"/>
                  </a:solidFill>
                  <a:latin typeface="Roboto Condensed" panose="020B0604020202020204" charset="0"/>
                  <a:ea typeface="Roboto Condensed" panose="020B0604020202020204" charset="0"/>
                  <a:cs typeface="Open Sans" panose="020B0606030504020204" pitchFamily="34" charset="0"/>
                </a:rPr>
                <a:t>Methodoloy</a:t>
              </a:r>
            </a:p>
          </p:txBody>
        </p:sp>
        <p:grpSp>
          <p:nvGrpSpPr>
            <p:cNvPr id="44" name="Shape 823"/>
            <p:cNvGrpSpPr/>
            <p:nvPr/>
          </p:nvGrpSpPr>
          <p:grpSpPr>
            <a:xfrm>
              <a:off x="6630270" y="3476981"/>
              <a:ext cx="602454" cy="537286"/>
              <a:chOff x="3927500" y="301425"/>
              <a:chExt cx="461550" cy="411625"/>
            </a:xfrm>
          </p:grpSpPr>
          <p:sp>
            <p:nvSpPr>
              <p:cNvPr id="45" name="Shape 824"/>
              <p:cNvSpPr/>
              <p:nvPr/>
            </p:nvSpPr>
            <p:spPr>
              <a:xfrm>
                <a:off x="4080925" y="302050"/>
                <a:ext cx="154075" cy="411000"/>
              </a:xfrm>
              <a:custGeom>
                <a:avLst/>
                <a:gdLst/>
                <a:ahLst/>
                <a:cxnLst/>
                <a:rect l="0" t="0" r="0" b="0"/>
                <a:pathLst>
                  <a:path w="6163" h="16440" fill="none" extrusionOk="0">
                    <a:moveTo>
                      <a:pt x="6162" y="3118"/>
                    </a:moveTo>
                    <a:lnTo>
                      <a:pt x="0" y="0"/>
                    </a:lnTo>
                    <a:lnTo>
                      <a:pt x="0" y="13322"/>
                    </a:lnTo>
                    <a:lnTo>
                      <a:pt x="6162" y="16440"/>
                    </a:lnTo>
                    <a:lnTo>
                      <a:pt x="6162" y="3118"/>
                    </a:lnTo>
                    <a:close/>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6" name="Shape 825"/>
              <p:cNvSpPr/>
              <p:nvPr/>
            </p:nvSpPr>
            <p:spPr>
              <a:xfrm>
                <a:off x="3927500" y="301425"/>
                <a:ext cx="153450" cy="406150"/>
              </a:xfrm>
              <a:custGeom>
                <a:avLst/>
                <a:gdLst/>
                <a:ahLst/>
                <a:cxnLst/>
                <a:rect l="0" t="0" r="0" b="0"/>
                <a:pathLst>
                  <a:path w="6138" h="16246" fill="none" extrusionOk="0">
                    <a:moveTo>
                      <a:pt x="6137" y="1"/>
                    </a:moveTo>
                    <a:lnTo>
                      <a:pt x="536" y="2850"/>
                    </a:lnTo>
                    <a:lnTo>
                      <a:pt x="536" y="2850"/>
                    </a:lnTo>
                    <a:lnTo>
                      <a:pt x="414" y="2899"/>
                    </a:lnTo>
                    <a:lnTo>
                      <a:pt x="317" y="2997"/>
                    </a:lnTo>
                    <a:lnTo>
                      <a:pt x="219" y="3094"/>
                    </a:lnTo>
                    <a:lnTo>
                      <a:pt x="146" y="3216"/>
                    </a:lnTo>
                    <a:lnTo>
                      <a:pt x="73" y="3313"/>
                    </a:lnTo>
                    <a:lnTo>
                      <a:pt x="24" y="3435"/>
                    </a:lnTo>
                    <a:lnTo>
                      <a:pt x="0" y="3557"/>
                    </a:lnTo>
                    <a:lnTo>
                      <a:pt x="0" y="3679"/>
                    </a:lnTo>
                    <a:lnTo>
                      <a:pt x="0" y="15880"/>
                    </a:lnTo>
                    <a:lnTo>
                      <a:pt x="0" y="15880"/>
                    </a:lnTo>
                    <a:lnTo>
                      <a:pt x="0" y="16002"/>
                    </a:lnTo>
                    <a:lnTo>
                      <a:pt x="49" y="16075"/>
                    </a:lnTo>
                    <a:lnTo>
                      <a:pt x="97" y="16148"/>
                    </a:lnTo>
                    <a:lnTo>
                      <a:pt x="170" y="16197"/>
                    </a:lnTo>
                    <a:lnTo>
                      <a:pt x="244" y="16221"/>
                    </a:lnTo>
                    <a:lnTo>
                      <a:pt x="341" y="16246"/>
                    </a:lnTo>
                    <a:lnTo>
                      <a:pt x="463" y="16221"/>
                    </a:lnTo>
                    <a:lnTo>
                      <a:pt x="560" y="16173"/>
                    </a:lnTo>
                    <a:lnTo>
                      <a:pt x="6137" y="13323"/>
                    </a:lnTo>
                    <a:lnTo>
                      <a:pt x="6137" y="1"/>
                    </a:lnTo>
                    <a:close/>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7" name="Shape 826"/>
              <p:cNvSpPr/>
              <p:nvPr/>
            </p:nvSpPr>
            <p:spPr>
              <a:xfrm>
                <a:off x="4234975" y="306925"/>
                <a:ext cx="154075" cy="405525"/>
              </a:xfrm>
              <a:custGeom>
                <a:avLst/>
                <a:gdLst/>
                <a:ahLst/>
                <a:cxnLst/>
                <a:rect l="0" t="0" r="0" b="0"/>
                <a:pathLst>
                  <a:path w="6163" h="16221" fill="none" extrusionOk="0">
                    <a:moveTo>
                      <a:pt x="5578" y="49"/>
                    </a:moveTo>
                    <a:lnTo>
                      <a:pt x="0" y="2898"/>
                    </a:lnTo>
                    <a:lnTo>
                      <a:pt x="0" y="16221"/>
                    </a:lnTo>
                    <a:lnTo>
                      <a:pt x="5626" y="13371"/>
                    </a:lnTo>
                    <a:lnTo>
                      <a:pt x="5626" y="13371"/>
                    </a:lnTo>
                    <a:lnTo>
                      <a:pt x="5724" y="13322"/>
                    </a:lnTo>
                    <a:lnTo>
                      <a:pt x="5845" y="13225"/>
                    </a:lnTo>
                    <a:lnTo>
                      <a:pt x="5918" y="13127"/>
                    </a:lnTo>
                    <a:lnTo>
                      <a:pt x="6016" y="13030"/>
                    </a:lnTo>
                    <a:lnTo>
                      <a:pt x="6065" y="12908"/>
                    </a:lnTo>
                    <a:lnTo>
                      <a:pt x="6113" y="12786"/>
                    </a:lnTo>
                    <a:lnTo>
                      <a:pt x="6138" y="12665"/>
                    </a:lnTo>
                    <a:lnTo>
                      <a:pt x="6162" y="12543"/>
                    </a:lnTo>
                    <a:lnTo>
                      <a:pt x="6162" y="341"/>
                    </a:lnTo>
                    <a:lnTo>
                      <a:pt x="6162" y="341"/>
                    </a:lnTo>
                    <a:lnTo>
                      <a:pt x="6138" y="219"/>
                    </a:lnTo>
                    <a:lnTo>
                      <a:pt x="6113" y="146"/>
                    </a:lnTo>
                    <a:lnTo>
                      <a:pt x="6065" y="73"/>
                    </a:lnTo>
                    <a:lnTo>
                      <a:pt x="5992" y="24"/>
                    </a:lnTo>
                    <a:lnTo>
                      <a:pt x="5894" y="0"/>
                    </a:lnTo>
                    <a:lnTo>
                      <a:pt x="5797" y="0"/>
                    </a:lnTo>
                    <a:lnTo>
                      <a:pt x="5699" y="0"/>
                    </a:lnTo>
                    <a:lnTo>
                      <a:pt x="5578" y="49"/>
                    </a:lnTo>
                    <a:lnTo>
                      <a:pt x="5578" y="49"/>
                    </a:lnTo>
                    <a:close/>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8" name="Shape 827"/>
              <p:cNvSpPr/>
              <p:nvPr/>
            </p:nvSpPr>
            <p:spPr>
              <a:xfrm>
                <a:off x="4295850" y="442075"/>
                <a:ext cx="46300" cy="26225"/>
              </a:xfrm>
              <a:custGeom>
                <a:avLst/>
                <a:gdLst/>
                <a:ahLst/>
                <a:cxnLst/>
                <a:rect l="0" t="0" r="0" b="0"/>
                <a:pathLst>
                  <a:path w="1852" h="1049" fill="none" extrusionOk="0">
                    <a:moveTo>
                      <a:pt x="1" y="1"/>
                    </a:moveTo>
                    <a:lnTo>
                      <a:pt x="1852" y="1048"/>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9" name="Shape 828"/>
              <p:cNvSpPr/>
              <p:nvPr/>
            </p:nvSpPr>
            <p:spPr>
              <a:xfrm>
                <a:off x="4296475" y="415900"/>
                <a:ext cx="45075" cy="78575"/>
              </a:xfrm>
              <a:custGeom>
                <a:avLst/>
                <a:gdLst/>
                <a:ahLst/>
                <a:cxnLst/>
                <a:rect l="0" t="0" r="0" b="0"/>
                <a:pathLst>
                  <a:path w="1803" h="3143" fill="none" extrusionOk="0">
                    <a:moveTo>
                      <a:pt x="1802" y="1"/>
                    </a:moveTo>
                    <a:lnTo>
                      <a:pt x="0" y="3142"/>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50" name="Shape 829"/>
              <p:cNvSpPr/>
              <p:nvPr/>
            </p:nvSpPr>
            <p:spPr>
              <a:xfrm>
                <a:off x="3968275" y="590050"/>
                <a:ext cx="25" cy="6100"/>
              </a:xfrm>
              <a:custGeom>
                <a:avLst/>
                <a:gdLst/>
                <a:ahLst/>
                <a:cxnLst/>
                <a:rect l="0" t="0" r="0" b="0"/>
                <a:pathLst>
                  <a:path w="1" h="244" fill="none" extrusionOk="0">
                    <a:moveTo>
                      <a:pt x="1" y="244"/>
                    </a:moveTo>
                    <a:lnTo>
                      <a:pt x="1" y="244"/>
                    </a:lnTo>
                    <a:lnTo>
                      <a:pt x="1" y="0"/>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51" name="Shape 830"/>
              <p:cNvSpPr/>
              <p:nvPr/>
            </p:nvSpPr>
            <p:spPr>
              <a:xfrm>
                <a:off x="3970725" y="558375"/>
                <a:ext cx="1850" cy="12200"/>
              </a:xfrm>
              <a:custGeom>
                <a:avLst/>
                <a:gdLst/>
                <a:ahLst/>
                <a:cxnLst/>
                <a:rect l="0" t="0" r="0" b="0"/>
                <a:pathLst>
                  <a:path w="74" h="488" fill="none" extrusionOk="0">
                    <a:moveTo>
                      <a:pt x="0" y="488"/>
                    </a:moveTo>
                    <a:lnTo>
                      <a:pt x="73" y="1"/>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52" name="Shape 831"/>
              <p:cNvSpPr/>
              <p:nvPr/>
            </p:nvSpPr>
            <p:spPr>
              <a:xfrm>
                <a:off x="3976200" y="527325"/>
                <a:ext cx="3675" cy="12200"/>
              </a:xfrm>
              <a:custGeom>
                <a:avLst/>
                <a:gdLst/>
                <a:ahLst/>
                <a:cxnLst/>
                <a:rect l="0" t="0" r="0" b="0"/>
                <a:pathLst>
                  <a:path w="147" h="488" fill="none" extrusionOk="0">
                    <a:moveTo>
                      <a:pt x="0" y="488"/>
                    </a:moveTo>
                    <a:lnTo>
                      <a:pt x="98" y="147"/>
                    </a:lnTo>
                    <a:lnTo>
                      <a:pt x="147" y="1"/>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53" name="Shape 832"/>
              <p:cNvSpPr/>
              <p:nvPr/>
            </p:nvSpPr>
            <p:spPr>
              <a:xfrm>
                <a:off x="3985950" y="498100"/>
                <a:ext cx="4875" cy="10975"/>
              </a:xfrm>
              <a:custGeom>
                <a:avLst/>
                <a:gdLst/>
                <a:ahLst/>
                <a:cxnLst/>
                <a:rect l="0" t="0" r="0" b="0"/>
                <a:pathLst>
                  <a:path w="195" h="439" fill="none" extrusionOk="0">
                    <a:moveTo>
                      <a:pt x="0" y="439"/>
                    </a:moveTo>
                    <a:lnTo>
                      <a:pt x="195" y="25"/>
                    </a:lnTo>
                    <a:lnTo>
                      <a:pt x="195" y="1"/>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54" name="Shape 833"/>
              <p:cNvSpPr/>
              <p:nvPr/>
            </p:nvSpPr>
            <p:spPr>
              <a:xfrm>
                <a:off x="4000550" y="471300"/>
                <a:ext cx="7325" cy="9775"/>
              </a:xfrm>
              <a:custGeom>
                <a:avLst/>
                <a:gdLst/>
                <a:ahLst/>
                <a:cxnLst/>
                <a:rect l="0" t="0" r="0" b="0"/>
                <a:pathLst>
                  <a:path w="293" h="391" fill="none" extrusionOk="0">
                    <a:moveTo>
                      <a:pt x="1" y="391"/>
                    </a:moveTo>
                    <a:lnTo>
                      <a:pt x="74" y="269"/>
                    </a:lnTo>
                    <a:lnTo>
                      <a:pt x="293" y="1"/>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55" name="Shape 834"/>
              <p:cNvSpPr/>
              <p:nvPr/>
            </p:nvSpPr>
            <p:spPr>
              <a:xfrm>
                <a:off x="4021250" y="450600"/>
                <a:ext cx="10375" cy="6725"/>
              </a:xfrm>
              <a:custGeom>
                <a:avLst/>
                <a:gdLst/>
                <a:ahLst/>
                <a:cxnLst/>
                <a:rect l="0" t="0" r="0" b="0"/>
                <a:pathLst>
                  <a:path w="415" h="269" fill="none" extrusionOk="0">
                    <a:moveTo>
                      <a:pt x="1" y="269"/>
                    </a:moveTo>
                    <a:lnTo>
                      <a:pt x="25" y="244"/>
                    </a:lnTo>
                    <a:lnTo>
                      <a:pt x="220" y="123"/>
                    </a:lnTo>
                    <a:lnTo>
                      <a:pt x="415" y="1"/>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56" name="Shape 835"/>
              <p:cNvSpPr/>
              <p:nvPr/>
            </p:nvSpPr>
            <p:spPr>
              <a:xfrm>
                <a:off x="4049250" y="440250"/>
                <a:ext cx="11600" cy="2475"/>
              </a:xfrm>
              <a:custGeom>
                <a:avLst/>
                <a:gdLst/>
                <a:ahLst/>
                <a:cxnLst/>
                <a:rect l="0" t="0" r="0" b="0"/>
                <a:pathLst>
                  <a:path w="464" h="99" fill="none" extrusionOk="0">
                    <a:moveTo>
                      <a:pt x="1" y="98"/>
                    </a:moveTo>
                    <a:lnTo>
                      <a:pt x="220" y="50"/>
                    </a:lnTo>
                    <a:lnTo>
                      <a:pt x="464" y="1"/>
                    </a:lnTo>
                    <a:lnTo>
                      <a:pt x="464" y="1"/>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57" name="Shape 836"/>
              <p:cNvSpPr/>
              <p:nvPr/>
            </p:nvSpPr>
            <p:spPr>
              <a:xfrm>
                <a:off x="4080325" y="439650"/>
                <a:ext cx="12200" cy="1850"/>
              </a:xfrm>
              <a:custGeom>
                <a:avLst/>
                <a:gdLst/>
                <a:ahLst/>
                <a:cxnLst/>
                <a:rect l="0" t="0" r="0" b="0"/>
                <a:pathLst>
                  <a:path w="488" h="74" fill="none" extrusionOk="0">
                    <a:moveTo>
                      <a:pt x="0" y="0"/>
                    </a:moveTo>
                    <a:lnTo>
                      <a:pt x="146" y="0"/>
                    </a:lnTo>
                    <a:lnTo>
                      <a:pt x="463" y="74"/>
                    </a:lnTo>
                    <a:lnTo>
                      <a:pt x="487" y="74"/>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58" name="Shape 837"/>
              <p:cNvSpPr/>
              <p:nvPr/>
            </p:nvSpPr>
            <p:spPr>
              <a:xfrm>
                <a:off x="4110150" y="450000"/>
                <a:ext cx="9150" cy="7950"/>
              </a:xfrm>
              <a:custGeom>
                <a:avLst/>
                <a:gdLst/>
                <a:ahLst/>
                <a:cxnLst/>
                <a:rect l="0" t="0" r="0" b="0"/>
                <a:pathLst>
                  <a:path w="366" h="318" fill="none" extrusionOk="0">
                    <a:moveTo>
                      <a:pt x="0" y="1"/>
                    </a:moveTo>
                    <a:lnTo>
                      <a:pt x="98" y="74"/>
                    </a:lnTo>
                    <a:lnTo>
                      <a:pt x="317" y="268"/>
                    </a:lnTo>
                    <a:lnTo>
                      <a:pt x="366" y="317"/>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59" name="Shape 838"/>
              <p:cNvSpPr/>
              <p:nvPr/>
            </p:nvSpPr>
            <p:spPr>
              <a:xfrm>
                <a:off x="4130250" y="473750"/>
                <a:ext cx="4900" cy="10975"/>
              </a:xfrm>
              <a:custGeom>
                <a:avLst/>
                <a:gdLst/>
                <a:ahLst/>
                <a:cxnLst/>
                <a:rect l="0" t="0" r="0" b="0"/>
                <a:pathLst>
                  <a:path w="196" h="439" fill="none" extrusionOk="0">
                    <a:moveTo>
                      <a:pt x="0" y="0"/>
                    </a:moveTo>
                    <a:lnTo>
                      <a:pt x="25" y="73"/>
                    </a:lnTo>
                    <a:lnTo>
                      <a:pt x="171" y="366"/>
                    </a:lnTo>
                    <a:lnTo>
                      <a:pt x="195" y="439"/>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0" name="Shape 839"/>
              <p:cNvSpPr/>
              <p:nvPr/>
            </p:nvSpPr>
            <p:spPr>
              <a:xfrm>
                <a:off x="4141800" y="502975"/>
                <a:ext cx="3700" cy="11600"/>
              </a:xfrm>
              <a:custGeom>
                <a:avLst/>
                <a:gdLst/>
                <a:ahLst/>
                <a:cxnLst/>
                <a:rect l="0" t="0" r="0" b="0"/>
                <a:pathLst>
                  <a:path w="148" h="464" fill="none" extrusionOk="0">
                    <a:moveTo>
                      <a:pt x="1" y="0"/>
                    </a:moveTo>
                    <a:lnTo>
                      <a:pt x="147" y="463"/>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1" name="Shape 840"/>
              <p:cNvSpPr/>
              <p:nvPr/>
            </p:nvSpPr>
            <p:spPr>
              <a:xfrm>
                <a:off x="4150950" y="533425"/>
                <a:ext cx="3675" cy="11575"/>
              </a:xfrm>
              <a:custGeom>
                <a:avLst/>
                <a:gdLst/>
                <a:ahLst/>
                <a:cxnLst/>
                <a:rect l="0" t="0" r="0" b="0"/>
                <a:pathLst>
                  <a:path w="147" h="463" fill="none" extrusionOk="0">
                    <a:moveTo>
                      <a:pt x="0" y="0"/>
                    </a:moveTo>
                    <a:lnTo>
                      <a:pt x="146" y="463"/>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2" name="Shape 841"/>
              <p:cNvSpPr/>
              <p:nvPr/>
            </p:nvSpPr>
            <p:spPr>
              <a:xfrm>
                <a:off x="4160675" y="563850"/>
                <a:ext cx="4900" cy="11000"/>
              </a:xfrm>
              <a:custGeom>
                <a:avLst/>
                <a:gdLst/>
                <a:ahLst/>
                <a:cxnLst/>
                <a:rect l="0" t="0" r="0" b="0"/>
                <a:pathLst>
                  <a:path w="196" h="440" fill="none" extrusionOk="0">
                    <a:moveTo>
                      <a:pt x="1" y="1"/>
                    </a:moveTo>
                    <a:lnTo>
                      <a:pt x="50" y="123"/>
                    </a:lnTo>
                    <a:lnTo>
                      <a:pt x="196" y="415"/>
                    </a:lnTo>
                    <a:lnTo>
                      <a:pt x="196" y="439"/>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3" name="Shape 842"/>
              <p:cNvSpPr/>
              <p:nvPr/>
            </p:nvSpPr>
            <p:spPr>
              <a:xfrm>
                <a:off x="4175300" y="591875"/>
                <a:ext cx="7325" cy="9150"/>
              </a:xfrm>
              <a:custGeom>
                <a:avLst/>
                <a:gdLst/>
                <a:ahLst/>
                <a:cxnLst/>
                <a:rect l="0" t="0" r="0" b="0"/>
                <a:pathLst>
                  <a:path w="293" h="366" fill="none" extrusionOk="0">
                    <a:moveTo>
                      <a:pt x="0" y="0"/>
                    </a:moveTo>
                    <a:lnTo>
                      <a:pt x="98" y="146"/>
                    </a:lnTo>
                    <a:lnTo>
                      <a:pt x="293" y="366"/>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4" name="Shape 843"/>
              <p:cNvSpPr/>
              <p:nvPr/>
            </p:nvSpPr>
            <p:spPr>
              <a:xfrm>
                <a:off x="4198425" y="613175"/>
                <a:ext cx="11000" cy="4900"/>
              </a:xfrm>
              <a:custGeom>
                <a:avLst/>
                <a:gdLst/>
                <a:ahLst/>
                <a:cxnLst/>
                <a:rect l="0" t="0" r="0" b="0"/>
                <a:pathLst>
                  <a:path w="440" h="196" fill="none" extrusionOk="0">
                    <a:moveTo>
                      <a:pt x="1" y="1"/>
                    </a:moveTo>
                    <a:lnTo>
                      <a:pt x="171" y="98"/>
                    </a:lnTo>
                    <a:lnTo>
                      <a:pt x="439" y="195"/>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5" name="Shape 844"/>
              <p:cNvSpPr/>
              <p:nvPr/>
            </p:nvSpPr>
            <p:spPr>
              <a:xfrm>
                <a:off x="4228275" y="621100"/>
                <a:ext cx="12200" cy="625"/>
              </a:xfrm>
              <a:custGeom>
                <a:avLst/>
                <a:gdLst/>
                <a:ahLst/>
                <a:cxnLst/>
                <a:rect l="0" t="0" r="0" b="0"/>
                <a:pathLst>
                  <a:path w="488" h="25" fill="none" extrusionOk="0">
                    <a:moveTo>
                      <a:pt x="0" y="0"/>
                    </a:moveTo>
                    <a:lnTo>
                      <a:pt x="49" y="25"/>
                    </a:lnTo>
                    <a:lnTo>
                      <a:pt x="487" y="0"/>
                    </a:lnTo>
                    <a:lnTo>
                      <a:pt x="487" y="0"/>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6" name="Shape 845"/>
              <p:cNvSpPr/>
              <p:nvPr/>
            </p:nvSpPr>
            <p:spPr>
              <a:xfrm>
                <a:off x="4259925" y="616225"/>
                <a:ext cx="11600" cy="3075"/>
              </a:xfrm>
              <a:custGeom>
                <a:avLst/>
                <a:gdLst/>
                <a:ahLst/>
                <a:cxnLst/>
                <a:rect l="0" t="0" r="0" b="0"/>
                <a:pathLst>
                  <a:path w="464" h="123" fill="none" extrusionOk="0">
                    <a:moveTo>
                      <a:pt x="1" y="122"/>
                    </a:moveTo>
                    <a:lnTo>
                      <a:pt x="196" y="73"/>
                    </a:lnTo>
                    <a:lnTo>
                      <a:pt x="464" y="0"/>
                    </a:lnTo>
                    <a:lnTo>
                      <a:pt x="464" y="0"/>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7" name="Shape 846"/>
              <p:cNvSpPr/>
              <p:nvPr/>
            </p:nvSpPr>
            <p:spPr>
              <a:xfrm>
                <a:off x="4289775" y="602225"/>
                <a:ext cx="10375" cy="6725"/>
              </a:xfrm>
              <a:custGeom>
                <a:avLst/>
                <a:gdLst/>
                <a:ahLst/>
                <a:cxnLst/>
                <a:rect l="0" t="0" r="0" b="0"/>
                <a:pathLst>
                  <a:path w="415" h="269" fill="none" extrusionOk="0">
                    <a:moveTo>
                      <a:pt x="0" y="268"/>
                    </a:moveTo>
                    <a:lnTo>
                      <a:pt x="195" y="146"/>
                    </a:lnTo>
                    <a:lnTo>
                      <a:pt x="390" y="0"/>
                    </a:lnTo>
                    <a:lnTo>
                      <a:pt x="414" y="0"/>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8" name="Shape 847"/>
              <p:cNvSpPr/>
              <p:nvPr/>
            </p:nvSpPr>
            <p:spPr>
              <a:xfrm>
                <a:off x="4313525" y="577875"/>
                <a:ext cx="6100" cy="10375"/>
              </a:xfrm>
              <a:custGeom>
                <a:avLst/>
                <a:gdLst/>
                <a:ahLst/>
                <a:cxnLst/>
                <a:rect l="0" t="0" r="0" b="0"/>
                <a:pathLst>
                  <a:path w="244" h="415" fill="none" extrusionOk="0">
                    <a:moveTo>
                      <a:pt x="0" y="414"/>
                    </a:moveTo>
                    <a:lnTo>
                      <a:pt x="24" y="365"/>
                    </a:lnTo>
                    <a:lnTo>
                      <a:pt x="146" y="195"/>
                    </a:lnTo>
                    <a:lnTo>
                      <a:pt x="244" y="0"/>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9" name="Shape 848"/>
              <p:cNvSpPr/>
              <p:nvPr/>
            </p:nvSpPr>
            <p:spPr>
              <a:xfrm>
                <a:off x="4326300" y="547425"/>
                <a:ext cx="2450" cy="12200"/>
              </a:xfrm>
              <a:custGeom>
                <a:avLst/>
                <a:gdLst/>
                <a:ahLst/>
                <a:cxnLst/>
                <a:rect l="0" t="0" r="0" b="0"/>
                <a:pathLst>
                  <a:path w="98" h="488" fill="none" extrusionOk="0">
                    <a:moveTo>
                      <a:pt x="0" y="487"/>
                    </a:moveTo>
                    <a:lnTo>
                      <a:pt x="49" y="293"/>
                    </a:lnTo>
                    <a:lnTo>
                      <a:pt x="98" y="0"/>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0" name="Shape 849"/>
              <p:cNvSpPr/>
              <p:nvPr/>
            </p:nvSpPr>
            <p:spPr>
              <a:xfrm>
                <a:off x="4329350" y="515750"/>
                <a:ext cx="625" cy="12200"/>
              </a:xfrm>
              <a:custGeom>
                <a:avLst/>
                <a:gdLst/>
                <a:ahLst/>
                <a:cxnLst/>
                <a:rect l="0" t="0" r="0" b="0"/>
                <a:pathLst>
                  <a:path w="25" h="488" fill="none" extrusionOk="0">
                    <a:moveTo>
                      <a:pt x="25" y="488"/>
                    </a:moveTo>
                    <a:lnTo>
                      <a:pt x="25" y="464"/>
                    </a:lnTo>
                    <a:lnTo>
                      <a:pt x="25" y="123"/>
                    </a:lnTo>
                    <a:lnTo>
                      <a:pt x="0" y="1"/>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1" name="Shape 850"/>
              <p:cNvSpPr/>
              <p:nvPr/>
            </p:nvSpPr>
            <p:spPr>
              <a:xfrm>
                <a:off x="4325075" y="488975"/>
                <a:ext cx="1250" cy="6100"/>
              </a:xfrm>
              <a:custGeom>
                <a:avLst/>
                <a:gdLst/>
                <a:ahLst/>
                <a:cxnLst/>
                <a:rect l="0" t="0" r="0" b="0"/>
                <a:pathLst>
                  <a:path w="50" h="244" fill="none" extrusionOk="0">
                    <a:moveTo>
                      <a:pt x="49" y="244"/>
                    </a:moveTo>
                    <a:lnTo>
                      <a:pt x="49" y="244"/>
                    </a:lnTo>
                    <a:lnTo>
                      <a:pt x="1" y="0"/>
                    </a:lnTo>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grpSp>
      <p:grpSp>
        <p:nvGrpSpPr>
          <p:cNvPr id="17" name="Group 16"/>
          <p:cNvGrpSpPr/>
          <p:nvPr/>
        </p:nvGrpSpPr>
        <p:grpSpPr>
          <a:xfrm>
            <a:off x="3295651" y="2864556"/>
            <a:ext cx="2116078" cy="1889345"/>
            <a:chOff x="4211279" y="2873249"/>
            <a:chExt cx="2116078" cy="1889345"/>
          </a:xfrm>
        </p:grpSpPr>
        <p:sp>
          <p:nvSpPr>
            <p:cNvPr id="9" name="Oval 4"/>
            <p:cNvSpPr/>
            <p:nvPr/>
          </p:nvSpPr>
          <p:spPr>
            <a:xfrm>
              <a:off x="5021608" y="2873249"/>
              <a:ext cx="374087" cy="374087"/>
            </a:xfrm>
            <a:prstGeom prst="ellipse">
              <a:avLst/>
            </a:prstGeom>
            <a:solidFill>
              <a:srgbClr val="3F53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2</a:t>
              </a:r>
            </a:p>
          </p:txBody>
        </p:sp>
        <p:sp>
          <p:nvSpPr>
            <p:cNvPr id="10" name="Rectangle 9"/>
            <p:cNvSpPr/>
            <p:nvPr/>
          </p:nvSpPr>
          <p:spPr>
            <a:xfrm>
              <a:off x="4211279" y="4424039"/>
              <a:ext cx="2116078"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sz="1550" b="1" dirty="0">
                  <a:solidFill>
                    <a:srgbClr val="3F5378"/>
                  </a:solidFill>
                  <a:latin typeface="Roboto Condensed" panose="020B0604020202020204" charset="0"/>
                  <a:ea typeface="Roboto Condensed" panose="020B0604020202020204" charset="0"/>
                  <a:cs typeface="Open Sans" panose="020B0606030504020204" pitchFamily="34" charset="0"/>
                </a:rPr>
                <a:t>Problem Statement and Approach Motivation</a:t>
              </a:r>
            </a:p>
          </p:txBody>
        </p:sp>
        <p:grpSp>
          <p:nvGrpSpPr>
            <p:cNvPr id="72" name="Shape 697"/>
            <p:cNvGrpSpPr/>
            <p:nvPr/>
          </p:nvGrpSpPr>
          <p:grpSpPr>
            <a:xfrm>
              <a:off x="4850767" y="3484160"/>
              <a:ext cx="747885" cy="556062"/>
              <a:chOff x="5247525" y="3007275"/>
              <a:chExt cx="517575" cy="384825"/>
            </a:xfrm>
          </p:grpSpPr>
          <p:sp>
            <p:nvSpPr>
              <p:cNvPr id="73" name="Shape 698"/>
              <p:cNvSpPr/>
              <p:nvPr/>
            </p:nvSpPr>
            <p:spPr>
              <a:xfrm>
                <a:off x="5247525" y="3007275"/>
                <a:ext cx="348900" cy="348900"/>
              </a:xfrm>
              <a:custGeom>
                <a:avLst/>
                <a:gdLst/>
                <a:ahLst/>
                <a:cxnLst/>
                <a:rect l="0" t="0" r="0" b="0"/>
                <a:pathLst>
                  <a:path w="13956" h="13956" fill="none" extrusionOk="0">
                    <a:moveTo>
                      <a:pt x="13323" y="5772"/>
                    </a:moveTo>
                    <a:lnTo>
                      <a:pt x="11861" y="5626"/>
                    </a:lnTo>
                    <a:lnTo>
                      <a:pt x="11861" y="5626"/>
                    </a:lnTo>
                    <a:lnTo>
                      <a:pt x="11788" y="5334"/>
                    </a:lnTo>
                    <a:lnTo>
                      <a:pt x="11667" y="5042"/>
                    </a:lnTo>
                    <a:lnTo>
                      <a:pt x="11545" y="4750"/>
                    </a:lnTo>
                    <a:lnTo>
                      <a:pt x="11399" y="4482"/>
                    </a:lnTo>
                    <a:lnTo>
                      <a:pt x="12300" y="3337"/>
                    </a:lnTo>
                    <a:lnTo>
                      <a:pt x="12300" y="3337"/>
                    </a:lnTo>
                    <a:lnTo>
                      <a:pt x="12373" y="3240"/>
                    </a:lnTo>
                    <a:lnTo>
                      <a:pt x="12422" y="3118"/>
                    </a:lnTo>
                    <a:lnTo>
                      <a:pt x="12446" y="2996"/>
                    </a:lnTo>
                    <a:lnTo>
                      <a:pt x="12446" y="2850"/>
                    </a:lnTo>
                    <a:lnTo>
                      <a:pt x="12422" y="2728"/>
                    </a:lnTo>
                    <a:lnTo>
                      <a:pt x="12397" y="2606"/>
                    </a:lnTo>
                    <a:lnTo>
                      <a:pt x="12324" y="2485"/>
                    </a:lnTo>
                    <a:lnTo>
                      <a:pt x="12251" y="2387"/>
                    </a:lnTo>
                    <a:lnTo>
                      <a:pt x="11569" y="1705"/>
                    </a:lnTo>
                    <a:lnTo>
                      <a:pt x="11569" y="1705"/>
                    </a:lnTo>
                    <a:lnTo>
                      <a:pt x="11472" y="1632"/>
                    </a:lnTo>
                    <a:lnTo>
                      <a:pt x="11350" y="1559"/>
                    </a:lnTo>
                    <a:lnTo>
                      <a:pt x="11228" y="1510"/>
                    </a:lnTo>
                    <a:lnTo>
                      <a:pt x="11106" y="1510"/>
                    </a:lnTo>
                    <a:lnTo>
                      <a:pt x="10960" y="1510"/>
                    </a:lnTo>
                    <a:lnTo>
                      <a:pt x="10838" y="1535"/>
                    </a:lnTo>
                    <a:lnTo>
                      <a:pt x="10717" y="1583"/>
                    </a:lnTo>
                    <a:lnTo>
                      <a:pt x="10619" y="1656"/>
                    </a:lnTo>
                    <a:lnTo>
                      <a:pt x="9475" y="2558"/>
                    </a:lnTo>
                    <a:lnTo>
                      <a:pt x="9475" y="2558"/>
                    </a:lnTo>
                    <a:lnTo>
                      <a:pt x="9207" y="2411"/>
                    </a:lnTo>
                    <a:lnTo>
                      <a:pt x="8914" y="2290"/>
                    </a:lnTo>
                    <a:lnTo>
                      <a:pt x="8622" y="2168"/>
                    </a:lnTo>
                    <a:lnTo>
                      <a:pt x="8330" y="2070"/>
                    </a:lnTo>
                    <a:lnTo>
                      <a:pt x="8159" y="634"/>
                    </a:lnTo>
                    <a:lnTo>
                      <a:pt x="8159" y="634"/>
                    </a:lnTo>
                    <a:lnTo>
                      <a:pt x="8135" y="512"/>
                    </a:lnTo>
                    <a:lnTo>
                      <a:pt x="8086" y="390"/>
                    </a:lnTo>
                    <a:lnTo>
                      <a:pt x="8013" y="293"/>
                    </a:lnTo>
                    <a:lnTo>
                      <a:pt x="7940" y="195"/>
                    </a:lnTo>
                    <a:lnTo>
                      <a:pt x="7818" y="122"/>
                    </a:lnTo>
                    <a:lnTo>
                      <a:pt x="7721" y="49"/>
                    </a:lnTo>
                    <a:lnTo>
                      <a:pt x="7575" y="25"/>
                    </a:lnTo>
                    <a:lnTo>
                      <a:pt x="7453" y="0"/>
                    </a:lnTo>
                    <a:lnTo>
                      <a:pt x="6479" y="0"/>
                    </a:lnTo>
                    <a:lnTo>
                      <a:pt x="6479" y="0"/>
                    </a:lnTo>
                    <a:lnTo>
                      <a:pt x="6357" y="25"/>
                    </a:lnTo>
                    <a:lnTo>
                      <a:pt x="6235" y="49"/>
                    </a:lnTo>
                    <a:lnTo>
                      <a:pt x="6114" y="122"/>
                    </a:lnTo>
                    <a:lnTo>
                      <a:pt x="6016" y="195"/>
                    </a:lnTo>
                    <a:lnTo>
                      <a:pt x="5919" y="293"/>
                    </a:lnTo>
                    <a:lnTo>
                      <a:pt x="5846" y="390"/>
                    </a:lnTo>
                    <a:lnTo>
                      <a:pt x="5797" y="512"/>
                    </a:lnTo>
                    <a:lnTo>
                      <a:pt x="5773" y="634"/>
                    </a:lnTo>
                    <a:lnTo>
                      <a:pt x="5602" y="2070"/>
                    </a:lnTo>
                    <a:lnTo>
                      <a:pt x="5602" y="2070"/>
                    </a:lnTo>
                    <a:lnTo>
                      <a:pt x="5310" y="2168"/>
                    </a:lnTo>
                    <a:lnTo>
                      <a:pt x="5018" y="2290"/>
                    </a:lnTo>
                    <a:lnTo>
                      <a:pt x="4750" y="2411"/>
                    </a:lnTo>
                    <a:lnTo>
                      <a:pt x="4482" y="2558"/>
                    </a:lnTo>
                    <a:lnTo>
                      <a:pt x="3337" y="1656"/>
                    </a:lnTo>
                    <a:lnTo>
                      <a:pt x="3337" y="1656"/>
                    </a:lnTo>
                    <a:lnTo>
                      <a:pt x="3215" y="1583"/>
                    </a:lnTo>
                    <a:lnTo>
                      <a:pt x="3094" y="1535"/>
                    </a:lnTo>
                    <a:lnTo>
                      <a:pt x="2972" y="1510"/>
                    </a:lnTo>
                    <a:lnTo>
                      <a:pt x="2850" y="1510"/>
                    </a:lnTo>
                    <a:lnTo>
                      <a:pt x="2728" y="1510"/>
                    </a:lnTo>
                    <a:lnTo>
                      <a:pt x="2582" y="1559"/>
                    </a:lnTo>
                    <a:lnTo>
                      <a:pt x="2485" y="1632"/>
                    </a:lnTo>
                    <a:lnTo>
                      <a:pt x="2387" y="1705"/>
                    </a:lnTo>
                    <a:lnTo>
                      <a:pt x="1705" y="2387"/>
                    </a:lnTo>
                    <a:lnTo>
                      <a:pt x="1705" y="2387"/>
                    </a:lnTo>
                    <a:lnTo>
                      <a:pt x="1608" y="2485"/>
                    </a:lnTo>
                    <a:lnTo>
                      <a:pt x="1559" y="2606"/>
                    </a:lnTo>
                    <a:lnTo>
                      <a:pt x="1511" y="2728"/>
                    </a:lnTo>
                    <a:lnTo>
                      <a:pt x="1486" y="2850"/>
                    </a:lnTo>
                    <a:lnTo>
                      <a:pt x="1486" y="2996"/>
                    </a:lnTo>
                    <a:lnTo>
                      <a:pt x="1511" y="3118"/>
                    </a:lnTo>
                    <a:lnTo>
                      <a:pt x="1559" y="3240"/>
                    </a:lnTo>
                    <a:lnTo>
                      <a:pt x="1632" y="3337"/>
                    </a:lnTo>
                    <a:lnTo>
                      <a:pt x="2533" y="4482"/>
                    </a:lnTo>
                    <a:lnTo>
                      <a:pt x="2533" y="4482"/>
                    </a:lnTo>
                    <a:lnTo>
                      <a:pt x="2387" y="4750"/>
                    </a:lnTo>
                    <a:lnTo>
                      <a:pt x="2266" y="5042"/>
                    </a:lnTo>
                    <a:lnTo>
                      <a:pt x="2168" y="5334"/>
                    </a:lnTo>
                    <a:lnTo>
                      <a:pt x="2071" y="5626"/>
                    </a:lnTo>
                    <a:lnTo>
                      <a:pt x="634" y="5772"/>
                    </a:lnTo>
                    <a:lnTo>
                      <a:pt x="634" y="5772"/>
                    </a:lnTo>
                    <a:lnTo>
                      <a:pt x="512" y="5821"/>
                    </a:lnTo>
                    <a:lnTo>
                      <a:pt x="390" y="5870"/>
                    </a:lnTo>
                    <a:lnTo>
                      <a:pt x="268" y="5943"/>
                    </a:lnTo>
                    <a:lnTo>
                      <a:pt x="171" y="6016"/>
                    </a:lnTo>
                    <a:lnTo>
                      <a:pt x="98" y="6138"/>
                    </a:lnTo>
                    <a:lnTo>
                      <a:pt x="49" y="6235"/>
                    </a:lnTo>
                    <a:lnTo>
                      <a:pt x="1" y="6381"/>
                    </a:lnTo>
                    <a:lnTo>
                      <a:pt x="1" y="6503"/>
                    </a:lnTo>
                    <a:lnTo>
                      <a:pt x="1" y="7453"/>
                    </a:lnTo>
                    <a:lnTo>
                      <a:pt x="1" y="7453"/>
                    </a:lnTo>
                    <a:lnTo>
                      <a:pt x="1" y="7599"/>
                    </a:lnTo>
                    <a:lnTo>
                      <a:pt x="49" y="7721"/>
                    </a:lnTo>
                    <a:lnTo>
                      <a:pt x="98" y="7843"/>
                    </a:lnTo>
                    <a:lnTo>
                      <a:pt x="171" y="7940"/>
                    </a:lnTo>
                    <a:lnTo>
                      <a:pt x="268" y="8037"/>
                    </a:lnTo>
                    <a:lnTo>
                      <a:pt x="390" y="8111"/>
                    </a:lnTo>
                    <a:lnTo>
                      <a:pt x="512" y="8159"/>
                    </a:lnTo>
                    <a:lnTo>
                      <a:pt x="634" y="8184"/>
                    </a:lnTo>
                    <a:lnTo>
                      <a:pt x="2071" y="8354"/>
                    </a:lnTo>
                    <a:lnTo>
                      <a:pt x="2071" y="8354"/>
                    </a:lnTo>
                    <a:lnTo>
                      <a:pt x="2168" y="8646"/>
                    </a:lnTo>
                    <a:lnTo>
                      <a:pt x="2266" y="8914"/>
                    </a:lnTo>
                    <a:lnTo>
                      <a:pt x="2387" y="9206"/>
                    </a:lnTo>
                    <a:lnTo>
                      <a:pt x="2533" y="9474"/>
                    </a:lnTo>
                    <a:lnTo>
                      <a:pt x="1632" y="10619"/>
                    </a:lnTo>
                    <a:lnTo>
                      <a:pt x="1632" y="10619"/>
                    </a:lnTo>
                    <a:lnTo>
                      <a:pt x="1559" y="10741"/>
                    </a:lnTo>
                    <a:lnTo>
                      <a:pt x="1511" y="10863"/>
                    </a:lnTo>
                    <a:lnTo>
                      <a:pt x="1486" y="10984"/>
                    </a:lnTo>
                    <a:lnTo>
                      <a:pt x="1486" y="11106"/>
                    </a:lnTo>
                    <a:lnTo>
                      <a:pt x="1511" y="11228"/>
                    </a:lnTo>
                    <a:lnTo>
                      <a:pt x="1559" y="11350"/>
                    </a:lnTo>
                    <a:lnTo>
                      <a:pt x="1608" y="11472"/>
                    </a:lnTo>
                    <a:lnTo>
                      <a:pt x="1705" y="11569"/>
                    </a:lnTo>
                    <a:lnTo>
                      <a:pt x="2387" y="12251"/>
                    </a:lnTo>
                    <a:lnTo>
                      <a:pt x="2387" y="12251"/>
                    </a:lnTo>
                    <a:lnTo>
                      <a:pt x="2485" y="12348"/>
                    </a:lnTo>
                    <a:lnTo>
                      <a:pt x="2582" y="12397"/>
                    </a:lnTo>
                    <a:lnTo>
                      <a:pt x="2728" y="12446"/>
                    </a:lnTo>
                    <a:lnTo>
                      <a:pt x="2850" y="12470"/>
                    </a:lnTo>
                    <a:lnTo>
                      <a:pt x="2972" y="12470"/>
                    </a:lnTo>
                    <a:lnTo>
                      <a:pt x="3094" y="12421"/>
                    </a:lnTo>
                    <a:lnTo>
                      <a:pt x="3215" y="12373"/>
                    </a:lnTo>
                    <a:lnTo>
                      <a:pt x="3337" y="12324"/>
                    </a:lnTo>
                    <a:lnTo>
                      <a:pt x="4482" y="11423"/>
                    </a:lnTo>
                    <a:lnTo>
                      <a:pt x="4482" y="11423"/>
                    </a:lnTo>
                    <a:lnTo>
                      <a:pt x="4750" y="11545"/>
                    </a:lnTo>
                    <a:lnTo>
                      <a:pt x="5018" y="11691"/>
                    </a:lnTo>
                    <a:lnTo>
                      <a:pt x="5310" y="11788"/>
                    </a:lnTo>
                    <a:lnTo>
                      <a:pt x="5602" y="11886"/>
                    </a:lnTo>
                    <a:lnTo>
                      <a:pt x="5773" y="13322"/>
                    </a:lnTo>
                    <a:lnTo>
                      <a:pt x="5773" y="13322"/>
                    </a:lnTo>
                    <a:lnTo>
                      <a:pt x="5797" y="13444"/>
                    </a:lnTo>
                    <a:lnTo>
                      <a:pt x="5846" y="13566"/>
                    </a:lnTo>
                    <a:lnTo>
                      <a:pt x="5919" y="13688"/>
                    </a:lnTo>
                    <a:lnTo>
                      <a:pt x="6016" y="13785"/>
                    </a:lnTo>
                    <a:lnTo>
                      <a:pt x="6114" y="13858"/>
                    </a:lnTo>
                    <a:lnTo>
                      <a:pt x="6235" y="13907"/>
                    </a:lnTo>
                    <a:lnTo>
                      <a:pt x="6357" y="13956"/>
                    </a:lnTo>
                    <a:lnTo>
                      <a:pt x="6479" y="13956"/>
                    </a:lnTo>
                    <a:lnTo>
                      <a:pt x="7453" y="13956"/>
                    </a:lnTo>
                    <a:lnTo>
                      <a:pt x="7453" y="13956"/>
                    </a:lnTo>
                    <a:lnTo>
                      <a:pt x="7575" y="13956"/>
                    </a:lnTo>
                    <a:lnTo>
                      <a:pt x="7721" y="13907"/>
                    </a:lnTo>
                    <a:lnTo>
                      <a:pt x="7818" y="13858"/>
                    </a:lnTo>
                    <a:lnTo>
                      <a:pt x="7940" y="13785"/>
                    </a:lnTo>
                    <a:lnTo>
                      <a:pt x="8013" y="13688"/>
                    </a:lnTo>
                    <a:lnTo>
                      <a:pt x="8086" y="13566"/>
                    </a:lnTo>
                    <a:lnTo>
                      <a:pt x="8135" y="13444"/>
                    </a:lnTo>
                    <a:lnTo>
                      <a:pt x="8159" y="13322"/>
                    </a:lnTo>
                    <a:lnTo>
                      <a:pt x="8330" y="11886"/>
                    </a:lnTo>
                    <a:lnTo>
                      <a:pt x="8330" y="11886"/>
                    </a:lnTo>
                    <a:lnTo>
                      <a:pt x="8622" y="11788"/>
                    </a:lnTo>
                    <a:lnTo>
                      <a:pt x="8914" y="11691"/>
                    </a:lnTo>
                    <a:lnTo>
                      <a:pt x="9207" y="11545"/>
                    </a:lnTo>
                    <a:lnTo>
                      <a:pt x="9475" y="11423"/>
                    </a:lnTo>
                    <a:lnTo>
                      <a:pt x="10619" y="12324"/>
                    </a:lnTo>
                    <a:lnTo>
                      <a:pt x="10619" y="12324"/>
                    </a:lnTo>
                    <a:lnTo>
                      <a:pt x="10717" y="12373"/>
                    </a:lnTo>
                    <a:lnTo>
                      <a:pt x="10838" y="12421"/>
                    </a:lnTo>
                    <a:lnTo>
                      <a:pt x="10960" y="12470"/>
                    </a:lnTo>
                    <a:lnTo>
                      <a:pt x="11106" y="12470"/>
                    </a:lnTo>
                    <a:lnTo>
                      <a:pt x="11228" y="12446"/>
                    </a:lnTo>
                    <a:lnTo>
                      <a:pt x="11350" y="12397"/>
                    </a:lnTo>
                    <a:lnTo>
                      <a:pt x="11472" y="12348"/>
                    </a:lnTo>
                    <a:lnTo>
                      <a:pt x="11569" y="12251"/>
                    </a:lnTo>
                    <a:lnTo>
                      <a:pt x="12251" y="11569"/>
                    </a:lnTo>
                    <a:lnTo>
                      <a:pt x="12251" y="11569"/>
                    </a:lnTo>
                    <a:lnTo>
                      <a:pt x="12324" y="11472"/>
                    </a:lnTo>
                    <a:lnTo>
                      <a:pt x="12397" y="11350"/>
                    </a:lnTo>
                    <a:lnTo>
                      <a:pt x="12422" y="11228"/>
                    </a:lnTo>
                    <a:lnTo>
                      <a:pt x="12446" y="11106"/>
                    </a:lnTo>
                    <a:lnTo>
                      <a:pt x="12446" y="10984"/>
                    </a:lnTo>
                    <a:lnTo>
                      <a:pt x="12422" y="10863"/>
                    </a:lnTo>
                    <a:lnTo>
                      <a:pt x="12373" y="10741"/>
                    </a:lnTo>
                    <a:lnTo>
                      <a:pt x="12300" y="10619"/>
                    </a:lnTo>
                    <a:lnTo>
                      <a:pt x="11399" y="9474"/>
                    </a:lnTo>
                    <a:lnTo>
                      <a:pt x="11399" y="9474"/>
                    </a:lnTo>
                    <a:lnTo>
                      <a:pt x="11545" y="9206"/>
                    </a:lnTo>
                    <a:lnTo>
                      <a:pt x="11667" y="8914"/>
                    </a:lnTo>
                    <a:lnTo>
                      <a:pt x="11788" y="8646"/>
                    </a:lnTo>
                    <a:lnTo>
                      <a:pt x="11861" y="8354"/>
                    </a:lnTo>
                    <a:lnTo>
                      <a:pt x="13323" y="8184"/>
                    </a:lnTo>
                    <a:lnTo>
                      <a:pt x="13323" y="8184"/>
                    </a:lnTo>
                    <a:lnTo>
                      <a:pt x="13444" y="8159"/>
                    </a:lnTo>
                    <a:lnTo>
                      <a:pt x="13566" y="8111"/>
                    </a:lnTo>
                    <a:lnTo>
                      <a:pt x="13664" y="8037"/>
                    </a:lnTo>
                    <a:lnTo>
                      <a:pt x="13761" y="7940"/>
                    </a:lnTo>
                    <a:lnTo>
                      <a:pt x="13834" y="7843"/>
                    </a:lnTo>
                    <a:lnTo>
                      <a:pt x="13907" y="7721"/>
                    </a:lnTo>
                    <a:lnTo>
                      <a:pt x="13932" y="7599"/>
                    </a:lnTo>
                    <a:lnTo>
                      <a:pt x="13956" y="7453"/>
                    </a:lnTo>
                    <a:lnTo>
                      <a:pt x="13956" y="6503"/>
                    </a:lnTo>
                    <a:lnTo>
                      <a:pt x="13956" y="6503"/>
                    </a:lnTo>
                    <a:lnTo>
                      <a:pt x="13932" y="6381"/>
                    </a:lnTo>
                    <a:lnTo>
                      <a:pt x="13907" y="6235"/>
                    </a:lnTo>
                    <a:lnTo>
                      <a:pt x="13834" y="6138"/>
                    </a:lnTo>
                    <a:lnTo>
                      <a:pt x="13761" y="6016"/>
                    </a:lnTo>
                    <a:lnTo>
                      <a:pt x="13664" y="5943"/>
                    </a:lnTo>
                    <a:lnTo>
                      <a:pt x="13566" y="5870"/>
                    </a:lnTo>
                    <a:lnTo>
                      <a:pt x="13444" y="5821"/>
                    </a:lnTo>
                    <a:lnTo>
                      <a:pt x="13323" y="5772"/>
                    </a:lnTo>
                    <a:lnTo>
                      <a:pt x="13323" y="5772"/>
                    </a:lnTo>
                    <a:close/>
                    <a:moveTo>
                      <a:pt x="8573" y="8598"/>
                    </a:moveTo>
                    <a:lnTo>
                      <a:pt x="8573" y="8598"/>
                    </a:lnTo>
                    <a:lnTo>
                      <a:pt x="8403" y="8744"/>
                    </a:lnTo>
                    <a:lnTo>
                      <a:pt x="8232" y="8890"/>
                    </a:lnTo>
                    <a:lnTo>
                      <a:pt x="8038" y="8987"/>
                    </a:lnTo>
                    <a:lnTo>
                      <a:pt x="7818" y="9085"/>
                    </a:lnTo>
                    <a:lnTo>
                      <a:pt x="7624" y="9158"/>
                    </a:lnTo>
                    <a:lnTo>
                      <a:pt x="7404" y="9206"/>
                    </a:lnTo>
                    <a:lnTo>
                      <a:pt x="7185" y="9231"/>
                    </a:lnTo>
                    <a:lnTo>
                      <a:pt x="6966" y="9255"/>
                    </a:lnTo>
                    <a:lnTo>
                      <a:pt x="6747" y="9231"/>
                    </a:lnTo>
                    <a:lnTo>
                      <a:pt x="6528" y="9206"/>
                    </a:lnTo>
                    <a:lnTo>
                      <a:pt x="6333" y="9158"/>
                    </a:lnTo>
                    <a:lnTo>
                      <a:pt x="6114" y="9085"/>
                    </a:lnTo>
                    <a:lnTo>
                      <a:pt x="5919" y="8987"/>
                    </a:lnTo>
                    <a:lnTo>
                      <a:pt x="5724" y="8890"/>
                    </a:lnTo>
                    <a:lnTo>
                      <a:pt x="5529" y="8744"/>
                    </a:lnTo>
                    <a:lnTo>
                      <a:pt x="5359" y="8598"/>
                    </a:lnTo>
                    <a:lnTo>
                      <a:pt x="5359" y="8598"/>
                    </a:lnTo>
                    <a:lnTo>
                      <a:pt x="5212" y="8427"/>
                    </a:lnTo>
                    <a:lnTo>
                      <a:pt x="5066" y="8232"/>
                    </a:lnTo>
                    <a:lnTo>
                      <a:pt x="4969" y="8037"/>
                    </a:lnTo>
                    <a:lnTo>
                      <a:pt x="4871" y="7843"/>
                    </a:lnTo>
                    <a:lnTo>
                      <a:pt x="4798" y="7623"/>
                    </a:lnTo>
                    <a:lnTo>
                      <a:pt x="4750" y="7404"/>
                    </a:lnTo>
                    <a:lnTo>
                      <a:pt x="4701" y="7209"/>
                    </a:lnTo>
                    <a:lnTo>
                      <a:pt x="4701" y="6990"/>
                    </a:lnTo>
                    <a:lnTo>
                      <a:pt x="4701" y="6771"/>
                    </a:lnTo>
                    <a:lnTo>
                      <a:pt x="4750" y="6552"/>
                    </a:lnTo>
                    <a:lnTo>
                      <a:pt x="4798" y="6333"/>
                    </a:lnTo>
                    <a:lnTo>
                      <a:pt x="4871" y="6138"/>
                    </a:lnTo>
                    <a:lnTo>
                      <a:pt x="4969" y="5919"/>
                    </a:lnTo>
                    <a:lnTo>
                      <a:pt x="5066" y="5724"/>
                    </a:lnTo>
                    <a:lnTo>
                      <a:pt x="5212" y="5553"/>
                    </a:lnTo>
                    <a:lnTo>
                      <a:pt x="5359" y="5383"/>
                    </a:lnTo>
                    <a:lnTo>
                      <a:pt x="5359" y="5383"/>
                    </a:lnTo>
                    <a:lnTo>
                      <a:pt x="5529" y="5212"/>
                    </a:lnTo>
                    <a:lnTo>
                      <a:pt x="5724" y="5091"/>
                    </a:lnTo>
                    <a:lnTo>
                      <a:pt x="5919" y="4969"/>
                    </a:lnTo>
                    <a:lnTo>
                      <a:pt x="6114" y="4871"/>
                    </a:lnTo>
                    <a:lnTo>
                      <a:pt x="6333" y="4798"/>
                    </a:lnTo>
                    <a:lnTo>
                      <a:pt x="6528" y="4750"/>
                    </a:lnTo>
                    <a:lnTo>
                      <a:pt x="6747" y="4725"/>
                    </a:lnTo>
                    <a:lnTo>
                      <a:pt x="6966" y="4701"/>
                    </a:lnTo>
                    <a:lnTo>
                      <a:pt x="7185" y="4725"/>
                    </a:lnTo>
                    <a:lnTo>
                      <a:pt x="7404" y="4750"/>
                    </a:lnTo>
                    <a:lnTo>
                      <a:pt x="7624" y="4798"/>
                    </a:lnTo>
                    <a:lnTo>
                      <a:pt x="7818" y="4871"/>
                    </a:lnTo>
                    <a:lnTo>
                      <a:pt x="8038" y="4969"/>
                    </a:lnTo>
                    <a:lnTo>
                      <a:pt x="8232" y="5091"/>
                    </a:lnTo>
                    <a:lnTo>
                      <a:pt x="8403" y="5212"/>
                    </a:lnTo>
                    <a:lnTo>
                      <a:pt x="8573" y="5383"/>
                    </a:lnTo>
                    <a:lnTo>
                      <a:pt x="8573" y="5383"/>
                    </a:lnTo>
                    <a:lnTo>
                      <a:pt x="8744" y="5553"/>
                    </a:lnTo>
                    <a:lnTo>
                      <a:pt x="8866" y="5724"/>
                    </a:lnTo>
                    <a:lnTo>
                      <a:pt x="8987" y="5919"/>
                    </a:lnTo>
                    <a:lnTo>
                      <a:pt x="9085" y="6138"/>
                    </a:lnTo>
                    <a:lnTo>
                      <a:pt x="9158" y="6333"/>
                    </a:lnTo>
                    <a:lnTo>
                      <a:pt x="9207" y="6552"/>
                    </a:lnTo>
                    <a:lnTo>
                      <a:pt x="9231" y="6771"/>
                    </a:lnTo>
                    <a:lnTo>
                      <a:pt x="9231" y="6990"/>
                    </a:lnTo>
                    <a:lnTo>
                      <a:pt x="9231" y="7209"/>
                    </a:lnTo>
                    <a:lnTo>
                      <a:pt x="9207" y="7404"/>
                    </a:lnTo>
                    <a:lnTo>
                      <a:pt x="9158" y="7623"/>
                    </a:lnTo>
                    <a:lnTo>
                      <a:pt x="9085" y="7843"/>
                    </a:lnTo>
                    <a:lnTo>
                      <a:pt x="8987" y="8037"/>
                    </a:lnTo>
                    <a:lnTo>
                      <a:pt x="8866" y="8232"/>
                    </a:lnTo>
                    <a:lnTo>
                      <a:pt x="8744" y="8427"/>
                    </a:lnTo>
                    <a:lnTo>
                      <a:pt x="8573" y="8598"/>
                    </a:lnTo>
                    <a:lnTo>
                      <a:pt x="8573" y="8598"/>
                    </a:lnTo>
                    <a:close/>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4" name="Shape 699"/>
              <p:cNvSpPr/>
              <p:nvPr/>
            </p:nvSpPr>
            <p:spPr>
              <a:xfrm>
                <a:off x="5566575" y="3193575"/>
                <a:ext cx="198525" cy="198525"/>
              </a:xfrm>
              <a:custGeom>
                <a:avLst/>
                <a:gdLst/>
                <a:ahLst/>
                <a:cxnLst/>
                <a:rect l="0" t="0" r="0" b="0"/>
                <a:pathLst>
                  <a:path w="7941" h="7941" fill="none" extrusionOk="0">
                    <a:moveTo>
                      <a:pt x="7258" y="2144"/>
                    </a:moveTo>
                    <a:lnTo>
                      <a:pt x="6138" y="2388"/>
                    </a:lnTo>
                    <a:lnTo>
                      <a:pt x="6138" y="2388"/>
                    </a:lnTo>
                    <a:lnTo>
                      <a:pt x="6016" y="2217"/>
                    </a:lnTo>
                    <a:lnTo>
                      <a:pt x="5870" y="2071"/>
                    </a:lnTo>
                    <a:lnTo>
                      <a:pt x="6260" y="975"/>
                    </a:lnTo>
                    <a:lnTo>
                      <a:pt x="6260" y="975"/>
                    </a:lnTo>
                    <a:lnTo>
                      <a:pt x="6284" y="902"/>
                    </a:lnTo>
                    <a:lnTo>
                      <a:pt x="6284" y="829"/>
                    </a:lnTo>
                    <a:lnTo>
                      <a:pt x="6260" y="683"/>
                    </a:lnTo>
                    <a:lnTo>
                      <a:pt x="6162" y="561"/>
                    </a:lnTo>
                    <a:lnTo>
                      <a:pt x="6114" y="488"/>
                    </a:lnTo>
                    <a:lnTo>
                      <a:pt x="6065" y="464"/>
                    </a:lnTo>
                    <a:lnTo>
                      <a:pt x="5553" y="196"/>
                    </a:lnTo>
                    <a:lnTo>
                      <a:pt x="5553" y="196"/>
                    </a:lnTo>
                    <a:lnTo>
                      <a:pt x="5480" y="171"/>
                    </a:lnTo>
                    <a:lnTo>
                      <a:pt x="5407" y="171"/>
                    </a:lnTo>
                    <a:lnTo>
                      <a:pt x="5261" y="171"/>
                    </a:lnTo>
                    <a:lnTo>
                      <a:pt x="5115" y="244"/>
                    </a:lnTo>
                    <a:lnTo>
                      <a:pt x="5066" y="293"/>
                    </a:lnTo>
                    <a:lnTo>
                      <a:pt x="5018" y="342"/>
                    </a:lnTo>
                    <a:lnTo>
                      <a:pt x="4384" y="1316"/>
                    </a:lnTo>
                    <a:lnTo>
                      <a:pt x="4384" y="1316"/>
                    </a:lnTo>
                    <a:lnTo>
                      <a:pt x="4165" y="1292"/>
                    </a:lnTo>
                    <a:lnTo>
                      <a:pt x="3970" y="1292"/>
                    </a:lnTo>
                    <a:lnTo>
                      <a:pt x="3483" y="244"/>
                    </a:lnTo>
                    <a:lnTo>
                      <a:pt x="3483" y="244"/>
                    </a:lnTo>
                    <a:lnTo>
                      <a:pt x="3435" y="171"/>
                    </a:lnTo>
                    <a:lnTo>
                      <a:pt x="3386" y="123"/>
                    </a:lnTo>
                    <a:lnTo>
                      <a:pt x="3264" y="50"/>
                    </a:lnTo>
                    <a:lnTo>
                      <a:pt x="3118" y="1"/>
                    </a:lnTo>
                    <a:lnTo>
                      <a:pt x="3045" y="1"/>
                    </a:lnTo>
                    <a:lnTo>
                      <a:pt x="2972" y="25"/>
                    </a:lnTo>
                    <a:lnTo>
                      <a:pt x="2436" y="196"/>
                    </a:lnTo>
                    <a:lnTo>
                      <a:pt x="2436" y="196"/>
                    </a:lnTo>
                    <a:lnTo>
                      <a:pt x="2363" y="220"/>
                    </a:lnTo>
                    <a:lnTo>
                      <a:pt x="2290" y="269"/>
                    </a:lnTo>
                    <a:lnTo>
                      <a:pt x="2192" y="391"/>
                    </a:lnTo>
                    <a:lnTo>
                      <a:pt x="2144" y="537"/>
                    </a:lnTo>
                    <a:lnTo>
                      <a:pt x="2144" y="610"/>
                    </a:lnTo>
                    <a:lnTo>
                      <a:pt x="2144" y="683"/>
                    </a:lnTo>
                    <a:lnTo>
                      <a:pt x="2387" y="1828"/>
                    </a:lnTo>
                    <a:lnTo>
                      <a:pt x="2387" y="1828"/>
                    </a:lnTo>
                    <a:lnTo>
                      <a:pt x="2217" y="1949"/>
                    </a:lnTo>
                    <a:lnTo>
                      <a:pt x="2071" y="2095"/>
                    </a:lnTo>
                    <a:lnTo>
                      <a:pt x="999" y="1681"/>
                    </a:lnTo>
                    <a:lnTo>
                      <a:pt x="999" y="1681"/>
                    </a:lnTo>
                    <a:lnTo>
                      <a:pt x="926" y="1681"/>
                    </a:lnTo>
                    <a:lnTo>
                      <a:pt x="829" y="1657"/>
                    </a:lnTo>
                    <a:lnTo>
                      <a:pt x="682" y="1706"/>
                    </a:lnTo>
                    <a:lnTo>
                      <a:pt x="561" y="1779"/>
                    </a:lnTo>
                    <a:lnTo>
                      <a:pt x="512" y="1828"/>
                    </a:lnTo>
                    <a:lnTo>
                      <a:pt x="463" y="1901"/>
                    </a:lnTo>
                    <a:lnTo>
                      <a:pt x="220" y="2388"/>
                    </a:lnTo>
                    <a:lnTo>
                      <a:pt x="220" y="2388"/>
                    </a:lnTo>
                    <a:lnTo>
                      <a:pt x="195" y="2461"/>
                    </a:lnTo>
                    <a:lnTo>
                      <a:pt x="171" y="2534"/>
                    </a:lnTo>
                    <a:lnTo>
                      <a:pt x="195" y="2704"/>
                    </a:lnTo>
                    <a:lnTo>
                      <a:pt x="244" y="2826"/>
                    </a:lnTo>
                    <a:lnTo>
                      <a:pt x="293" y="2899"/>
                    </a:lnTo>
                    <a:lnTo>
                      <a:pt x="366" y="2948"/>
                    </a:lnTo>
                    <a:lnTo>
                      <a:pt x="1340" y="3581"/>
                    </a:lnTo>
                    <a:lnTo>
                      <a:pt x="1340" y="3581"/>
                    </a:lnTo>
                    <a:lnTo>
                      <a:pt x="1316" y="3776"/>
                    </a:lnTo>
                    <a:lnTo>
                      <a:pt x="1291" y="3995"/>
                    </a:lnTo>
                    <a:lnTo>
                      <a:pt x="244" y="4482"/>
                    </a:lnTo>
                    <a:lnTo>
                      <a:pt x="244" y="4482"/>
                    </a:lnTo>
                    <a:lnTo>
                      <a:pt x="195" y="4507"/>
                    </a:lnTo>
                    <a:lnTo>
                      <a:pt x="122" y="4555"/>
                    </a:lnTo>
                    <a:lnTo>
                      <a:pt x="49" y="4701"/>
                    </a:lnTo>
                    <a:lnTo>
                      <a:pt x="0" y="4848"/>
                    </a:lnTo>
                    <a:lnTo>
                      <a:pt x="25" y="4921"/>
                    </a:lnTo>
                    <a:lnTo>
                      <a:pt x="25" y="4994"/>
                    </a:lnTo>
                    <a:lnTo>
                      <a:pt x="220" y="5530"/>
                    </a:lnTo>
                    <a:lnTo>
                      <a:pt x="220" y="5530"/>
                    </a:lnTo>
                    <a:lnTo>
                      <a:pt x="244" y="5578"/>
                    </a:lnTo>
                    <a:lnTo>
                      <a:pt x="293" y="5651"/>
                    </a:lnTo>
                    <a:lnTo>
                      <a:pt x="390" y="5749"/>
                    </a:lnTo>
                    <a:lnTo>
                      <a:pt x="536" y="5797"/>
                    </a:lnTo>
                    <a:lnTo>
                      <a:pt x="609" y="5797"/>
                    </a:lnTo>
                    <a:lnTo>
                      <a:pt x="682" y="5797"/>
                    </a:lnTo>
                    <a:lnTo>
                      <a:pt x="1827" y="5554"/>
                    </a:lnTo>
                    <a:lnTo>
                      <a:pt x="1827" y="5554"/>
                    </a:lnTo>
                    <a:lnTo>
                      <a:pt x="1949" y="5724"/>
                    </a:lnTo>
                    <a:lnTo>
                      <a:pt x="2095" y="5870"/>
                    </a:lnTo>
                    <a:lnTo>
                      <a:pt x="1705" y="6966"/>
                    </a:lnTo>
                    <a:lnTo>
                      <a:pt x="1705" y="6966"/>
                    </a:lnTo>
                    <a:lnTo>
                      <a:pt x="1681" y="7040"/>
                    </a:lnTo>
                    <a:lnTo>
                      <a:pt x="1681" y="7113"/>
                    </a:lnTo>
                    <a:lnTo>
                      <a:pt x="1705" y="7259"/>
                    </a:lnTo>
                    <a:lnTo>
                      <a:pt x="1778" y="7380"/>
                    </a:lnTo>
                    <a:lnTo>
                      <a:pt x="1851" y="7429"/>
                    </a:lnTo>
                    <a:lnTo>
                      <a:pt x="1900" y="7478"/>
                    </a:lnTo>
                    <a:lnTo>
                      <a:pt x="2412" y="7721"/>
                    </a:lnTo>
                    <a:lnTo>
                      <a:pt x="2412" y="7721"/>
                    </a:lnTo>
                    <a:lnTo>
                      <a:pt x="2485" y="7770"/>
                    </a:lnTo>
                    <a:lnTo>
                      <a:pt x="2558" y="7770"/>
                    </a:lnTo>
                    <a:lnTo>
                      <a:pt x="2704" y="7770"/>
                    </a:lnTo>
                    <a:lnTo>
                      <a:pt x="2850" y="7697"/>
                    </a:lnTo>
                    <a:lnTo>
                      <a:pt x="2899" y="7648"/>
                    </a:lnTo>
                    <a:lnTo>
                      <a:pt x="2947" y="7600"/>
                    </a:lnTo>
                    <a:lnTo>
                      <a:pt x="3581" y="6625"/>
                    </a:lnTo>
                    <a:lnTo>
                      <a:pt x="3581" y="6625"/>
                    </a:lnTo>
                    <a:lnTo>
                      <a:pt x="3800" y="6650"/>
                    </a:lnTo>
                    <a:lnTo>
                      <a:pt x="3995" y="6650"/>
                    </a:lnTo>
                    <a:lnTo>
                      <a:pt x="4482" y="7697"/>
                    </a:lnTo>
                    <a:lnTo>
                      <a:pt x="4482" y="7697"/>
                    </a:lnTo>
                    <a:lnTo>
                      <a:pt x="4531" y="7770"/>
                    </a:lnTo>
                    <a:lnTo>
                      <a:pt x="4579" y="7819"/>
                    </a:lnTo>
                    <a:lnTo>
                      <a:pt x="4701" y="7892"/>
                    </a:lnTo>
                    <a:lnTo>
                      <a:pt x="4847" y="7941"/>
                    </a:lnTo>
                    <a:lnTo>
                      <a:pt x="4920" y="7941"/>
                    </a:lnTo>
                    <a:lnTo>
                      <a:pt x="4993" y="7916"/>
                    </a:lnTo>
                    <a:lnTo>
                      <a:pt x="5529" y="7746"/>
                    </a:lnTo>
                    <a:lnTo>
                      <a:pt x="5529" y="7746"/>
                    </a:lnTo>
                    <a:lnTo>
                      <a:pt x="5602" y="7721"/>
                    </a:lnTo>
                    <a:lnTo>
                      <a:pt x="5651" y="7673"/>
                    </a:lnTo>
                    <a:lnTo>
                      <a:pt x="5748" y="7551"/>
                    </a:lnTo>
                    <a:lnTo>
                      <a:pt x="5821" y="7405"/>
                    </a:lnTo>
                    <a:lnTo>
                      <a:pt x="5821" y="7332"/>
                    </a:lnTo>
                    <a:lnTo>
                      <a:pt x="5821" y="7259"/>
                    </a:lnTo>
                    <a:lnTo>
                      <a:pt x="5578" y="6114"/>
                    </a:lnTo>
                    <a:lnTo>
                      <a:pt x="5578" y="6114"/>
                    </a:lnTo>
                    <a:lnTo>
                      <a:pt x="5724" y="5992"/>
                    </a:lnTo>
                    <a:lnTo>
                      <a:pt x="5894" y="5846"/>
                    </a:lnTo>
                    <a:lnTo>
                      <a:pt x="6966" y="6260"/>
                    </a:lnTo>
                    <a:lnTo>
                      <a:pt x="6966" y="6260"/>
                    </a:lnTo>
                    <a:lnTo>
                      <a:pt x="7039" y="6260"/>
                    </a:lnTo>
                    <a:lnTo>
                      <a:pt x="7112" y="6285"/>
                    </a:lnTo>
                    <a:lnTo>
                      <a:pt x="7258" y="6236"/>
                    </a:lnTo>
                    <a:lnTo>
                      <a:pt x="7404" y="6163"/>
                    </a:lnTo>
                    <a:lnTo>
                      <a:pt x="7453" y="6114"/>
                    </a:lnTo>
                    <a:lnTo>
                      <a:pt x="7502" y="6041"/>
                    </a:lnTo>
                    <a:lnTo>
                      <a:pt x="7745" y="5530"/>
                    </a:lnTo>
                    <a:lnTo>
                      <a:pt x="7745" y="5530"/>
                    </a:lnTo>
                    <a:lnTo>
                      <a:pt x="7770" y="5481"/>
                    </a:lnTo>
                    <a:lnTo>
                      <a:pt x="7794" y="5383"/>
                    </a:lnTo>
                    <a:lnTo>
                      <a:pt x="7770" y="5237"/>
                    </a:lnTo>
                    <a:lnTo>
                      <a:pt x="7697" y="5115"/>
                    </a:lnTo>
                    <a:lnTo>
                      <a:pt x="7648" y="5042"/>
                    </a:lnTo>
                    <a:lnTo>
                      <a:pt x="7599" y="4994"/>
                    </a:lnTo>
                    <a:lnTo>
                      <a:pt x="6625" y="4360"/>
                    </a:lnTo>
                    <a:lnTo>
                      <a:pt x="6625" y="4360"/>
                    </a:lnTo>
                    <a:lnTo>
                      <a:pt x="6649" y="4166"/>
                    </a:lnTo>
                    <a:lnTo>
                      <a:pt x="6649" y="3946"/>
                    </a:lnTo>
                    <a:lnTo>
                      <a:pt x="7697" y="3459"/>
                    </a:lnTo>
                    <a:lnTo>
                      <a:pt x="7697" y="3459"/>
                    </a:lnTo>
                    <a:lnTo>
                      <a:pt x="7770" y="3435"/>
                    </a:lnTo>
                    <a:lnTo>
                      <a:pt x="7843" y="3386"/>
                    </a:lnTo>
                    <a:lnTo>
                      <a:pt x="7916" y="3240"/>
                    </a:lnTo>
                    <a:lnTo>
                      <a:pt x="7940" y="3094"/>
                    </a:lnTo>
                    <a:lnTo>
                      <a:pt x="7940" y="3021"/>
                    </a:lnTo>
                    <a:lnTo>
                      <a:pt x="7940" y="2948"/>
                    </a:lnTo>
                    <a:lnTo>
                      <a:pt x="7745" y="2412"/>
                    </a:lnTo>
                    <a:lnTo>
                      <a:pt x="7745" y="2412"/>
                    </a:lnTo>
                    <a:lnTo>
                      <a:pt x="7721" y="2339"/>
                    </a:lnTo>
                    <a:lnTo>
                      <a:pt x="7672" y="2290"/>
                    </a:lnTo>
                    <a:lnTo>
                      <a:pt x="7551" y="2193"/>
                    </a:lnTo>
                    <a:lnTo>
                      <a:pt x="7429" y="2144"/>
                    </a:lnTo>
                    <a:lnTo>
                      <a:pt x="7356" y="2144"/>
                    </a:lnTo>
                    <a:lnTo>
                      <a:pt x="7258" y="2144"/>
                    </a:lnTo>
                    <a:lnTo>
                      <a:pt x="7258" y="2144"/>
                    </a:lnTo>
                    <a:close/>
                    <a:moveTo>
                      <a:pt x="5480" y="4726"/>
                    </a:moveTo>
                    <a:lnTo>
                      <a:pt x="5480" y="4726"/>
                    </a:lnTo>
                    <a:lnTo>
                      <a:pt x="5383" y="4872"/>
                    </a:lnTo>
                    <a:lnTo>
                      <a:pt x="5286" y="4994"/>
                    </a:lnTo>
                    <a:lnTo>
                      <a:pt x="5188" y="5140"/>
                    </a:lnTo>
                    <a:lnTo>
                      <a:pt x="5066" y="5237"/>
                    </a:lnTo>
                    <a:lnTo>
                      <a:pt x="4945" y="5335"/>
                    </a:lnTo>
                    <a:lnTo>
                      <a:pt x="4798" y="5432"/>
                    </a:lnTo>
                    <a:lnTo>
                      <a:pt x="4652" y="5505"/>
                    </a:lnTo>
                    <a:lnTo>
                      <a:pt x="4506" y="5554"/>
                    </a:lnTo>
                    <a:lnTo>
                      <a:pt x="4360" y="5603"/>
                    </a:lnTo>
                    <a:lnTo>
                      <a:pt x="4190" y="5627"/>
                    </a:lnTo>
                    <a:lnTo>
                      <a:pt x="4043" y="5651"/>
                    </a:lnTo>
                    <a:lnTo>
                      <a:pt x="3873" y="5627"/>
                    </a:lnTo>
                    <a:lnTo>
                      <a:pt x="3702" y="5627"/>
                    </a:lnTo>
                    <a:lnTo>
                      <a:pt x="3556" y="5578"/>
                    </a:lnTo>
                    <a:lnTo>
                      <a:pt x="3386" y="5530"/>
                    </a:lnTo>
                    <a:lnTo>
                      <a:pt x="3240" y="5456"/>
                    </a:lnTo>
                    <a:lnTo>
                      <a:pt x="3240" y="5456"/>
                    </a:lnTo>
                    <a:lnTo>
                      <a:pt x="3094" y="5383"/>
                    </a:lnTo>
                    <a:lnTo>
                      <a:pt x="2947" y="5286"/>
                    </a:lnTo>
                    <a:lnTo>
                      <a:pt x="2826" y="5164"/>
                    </a:lnTo>
                    <a:lnTo>
                      <a:pt x="2704" y="5067"/>
                    </a:lnTo>
                    <a:lnTo>
                      <a:pt x="2606" y="4921"/>
                    </a:lnTo>
                    <a:lnTo>
                      <a:pt x="2533" y="4799"/>
                    </a:lnTo>
                    <a:lnTo>
                      <a:pt x="2460" y="4653"/>
                    </a:lnTo>
                    <a:lnTo>
                      <a:pt x="2387" y="4507"/>
                    </a:lnTo>
                    <a:lnTo>
                      <a:pt x="2363" y="4336"/>
                    </a:lnTo>
                    <a:lnTo>
                      <a:pt x="2314" y="4190"/>
                    </a:lnTo>
                    <a:lnTo>
                      <a:pt x="2314" y="4020"/>
                    </a:lnTo>
                    <a:lnTo>
                      <a:pt x="2314" y="3873"/>
                    </a:lnTo>
                    <a:lnTo>
                      <a:pt x="2339" y="3703"/>
                    </a:lnTo>
                    <a:lnTo>
                      <a:pt x="2363" y="3532"/>
                    </a:lnTo>
                    <a:lnTo>
                      <a:pt x="2412" y="3386"/>
                    </a:lnTo>
                    <a:lnTo>
                      <a:pt x="2485" y="3216"/>
                    </a:lnTo>
                    <a:lnTo>
                      <a:pt x="2485" y="3216"/>
                    </a:lnTo>
                    <a:lnTo>
                      <a:pt x="2582" y="3070"/>
                    </a:lnTo>
                    <a:lnTo>
                      <a:pt x="2680" y="2948"/>
                    </a:lnTo>
                    <a:lnTo>
                      <a:pt x="2777" y="2802"/>
                    </a:lnTo>
                    <a:lnTo>
                      <a:pt x="2899" y="2704"/>
                    </a:lnTo>
                    <a:lnTo>
                      <a:pt x="3020" y="2607"/>
                    </a:lnTo>
                    <a:lnTo>
                      <a:pt x="3167" y="2509"/>
                    </a:lnTo>
                    <a:lnTo>
                      <a:pt x="3313" y="2436"/>
                    </a:lnTo>
                    <a:lnTo>
                      <a:pt x="3459" y="2388"/>
                    </a:lnTo>
                    <a:lnTo>
                      <a:pt x="3605" y="2339"/>
                    </a:lnTo>
                    <a:lnTo>
                      <a:pt x="3775" y="2315"/>
                    </a:lnTo>
                    <a:lnTo>
                      <a:pt x="3922" y="2290"/>
                    </a:lnTo>
                    <a:lnTo>
                      <a:pt x="4092" y="2315"/>
                    </a:lnTo>
                    <a:lnTo>
                      <a:pt x="4263" y="2315"/>
                    </a:lnTo>
                    <a:lnTo>
                      <a:pt x="4409" y="2363"/>
                    </a:lnTo>
                    <a:lnTo>
                      <a:pt x="4579" y="2412"/>
                    </a:lnTo>
                    <a:lnTo>
                      <a:pt x="4725" y="2485"/>
                    </a:lnTo>
                    <a:lnTo>
                      <a:pt x="4725" y="2485"/>
                    </a:lnTo>
                    <a:lnTo>
                      <a:pt x="4871" y="2558"/>
                    </a:lnTo>
                    <a:lnTo>
                      <a:pt x="5018" y="2656"/>
                    </a:lnTo>
                    <a:lnTo>
                      <a:pt x="5139" y="2777"/>
                    </a:lnTo>
                    <a:lnTo>
                      <a:pt x="5261" y="2875"/>
                    </a:lnTo>
                    <a:lnTo>
                      <a:pt x="5359" y="3021"/>
                    </a:lnTo>
                    <a:lnTo>
                      <a:pt x="5432" y="3143"/>
                    </a:lnTo>
                    <a:lnTo>
                      <a:pt x="5505" y="3289"/>
                    </a:lnTo>
                    <a:lnTo>
                      <a:pt x="5578" y="3435"/>
                    </a:lnTo>
                    <a:lnTo>
                      <a:pt x="5602" y="3605"/>
                    </a:lnTo>
                    <a:lnTo>
                      <a:pt x="5626" y="3752"/>
                    </a:lnTo>
                    <a:lnTo>
                      <a:pt x="5651" y="3922"/>
                    </a:lnTo>
                    <a:lnTo>
                      <a:pt x="5651" y="4068"/>
                    </a:lnTo>
                    <a:lnTo>
                      <a:pt x="5626" y="4239"/>
                    </a:lnTo>
                    <a:lnTo>
                      <a:pt x="5602" y="4409"/>
                    </a:lnTo>
                    <a:lnTo>
                      <a:pt x="5553" y="4555"/>
                    </a:lnTo>
                    <a:lnTo>
                      <a:pt x="5480" y="4726"/>
                    </a:lnTo>
                    <a:lnTo>
                      <a:pt x="5480" y="4726"/>
                    </a:lnTo>
                    <a:close/>
                  </a:path>
                </a:pathLst>
              </a:custGeom>
              <a:noFill/>
              <a:ln w="12175" cap="rnd" cmpd="sng">
                <a:solidFill>
                  <a:srgbClr val="53585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grpSp>
      <p:grpSp>
        <p:nvGrpSpPr>
          <p:cNvPr id="20" name="Group 19"/>
          <p:cNvGrpSpPr/>
          <p:nvPr/>
        </p:nvGrpSpPr>
        <p:grpSpPr>
          <a:xfrm>
            <a:off x="9302799" y="2873249"/>
            <a:ext cx="1424987" cy="1754181"/>
            <a:chOff x="9611631" y="2873249"/>
            <a:chExt cx="1424987" cy="1754181"/>
          </a:xfrm>
        </p:grpSpPr>
        <p:sp>
          <p:nvSpPr>
            <p:cNvPr id="15" name="Oval 7"/>
            <p:cNvSpPr/>
            <p:nvPr/>
          </p:nvSpPr>
          <p:spPr>
            <a:xfrm>
              <a:off x="10137294" y="2873249"/>
              <a:ext cx="374087" cy="374087"/>
            </a:xfrm>
            <a:prstGeom prst="ellipse">
              <a:avLst/>
            </a:prstGeom>
            <a:solidFill>
              <a:srgbClr val="3F53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5</a:t>
              </a:r>
            </a:p>
          </p:txBody>
        </p:sp>
        <p:sp>
          <p:nvSpPr>
            <p:cNvPr id="16" name="Rectangle 15"/>
            <p:cNvSpPr/>
            <p:nvPr/>
          </p:nvSpPr>
          <p:spPr>
            <a:xfrm>
              <a:off x="9611631" y="4288875"/>
              <a:ext cx="1424987"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sz="1600" b="1" dirty="0">
                  <a:solidFill>
                    <a:srgbClr val="3F5378"/>
                  </a:solidFill>
                  <a:latin typeface="Roboto Condensed" panose="020B0604020202020204" charset="0"/>
                  <a:ea typeface="Roboto Condensed" panose="020B0604020202020204" charset="0"/>
                  <a:cs typeface="Open Sans" panose="020B0606030504020204" pitchFamily="34" charset="0"/>
                </a:rPr>
                <a:t>Conclusion</a:t>
              </a:r>
            </a:p>
          </p:txBody>
        </p:sp>
      </p:grpSp>
      <p:grpSp>
        <p:nvGrpSpPr>
          <p:cNvPr id="84" name="Group 83"/>
          <p:cNvGrpSpPr/>
          <p:nvPr/>
        </p:nvGrpSpPr>
        <p:grpSpPr>
          <a:xfrm>
            <a:off x="9788496" y="3482929"/>
            <a:ext cx="626980" cy="603028"/>
            <a:chOff x="9788496" y="3482929"/>
            <a:chExt cx="626980" cy="603028"/>
          </a:xfrm>
        </p:grpSpPr>
        <p:grpSp>
          <p:nvGrpSpPr>
            <p:cNvPr id="76" name="Shape_background"/>
            <p:cNvGrpSpPr/>
            <p:nvPr/>
          </p:nvGrpSpPr>
          <p:grpSpPr>
            <a:xfrm>
              <a:off x="9788496" y="3482929"/>
              <a:ext cx="461696" cy="515370"/>
              <a:chOff x="626775" y="929175"/>
              <a:chExt cx="377525" cy="462775"/>
            </a:xfrm>
          </p:grpSpPr>
          <p:sp>
            <p:nvSpPr>
              <p:cNvPr id="78"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3F5378"/>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9"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3F5378"/>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0"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3F5378"/>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1"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3F5378"/>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2"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3F5378"/>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3"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3F5378"/>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37" name="Rectangle 36"/>
            <p:cNvSpPr/>
            <p:nvPr/>
          </p:nvSpPr>
          <p:spPr>
            <a:xfrm>
              <a:off x="10033725" y="3685847"/>
              <a:ext cx="381751" cy="400110"/>
            </a:xfrm>
            <a:prstGeom prst="rect">
              <a:avLst/>
            </a:prstGeom>
            <a:ln w="9525">
              <a:noFill/>
            </a:ln>
          </p:spPr>
          <p:txBody>
            <a:bodyPr wrap="square">
              <a:spAutoFit/>
            </a:bodyPr>
            <a:lstStyle/>
            <a:p>
              <a:r>
                <a:rPr lang="en-GB" sz="2000" dirty="0">
                  <a:solidFill>
                    <a:srgbClr val="3F5378"/>
                  </a:solidFill>
                </a:rPr>
                <a:t>✔</a:t>
              </a:r>
            </a:p>
          </p:txBody>
        </p:sp>
      </p:grpSp>
    </p:spTree>
    <p:extLst>
      <p:ext uri="{BB962C8B-B14F-4D97-AF65-F5344CB8AC3E}">
        <p14:creationId xmlns:p14="http://schemas.microsoft.com/office/powerpoint/2010/main" val="146403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nodeType="withEffect">
                                  <p:stCondLst>
                                    <p:cond delay="0"/>
                                  </p:stCondLst>
                                  <p:childTnLst>
                                    <p:set>
                                      <p:cBhvr>
                                        <p:cTn id="29" dur="1" fill="hold">
                                          <p:stCondLst>
                                            <p:cond delay="0"/>
                                          </p:stCondLst>
                                        </p:cTn>
                                        <p:tgtEl>
                                          <p:spTgt spid="84"/>
                                        </p:tgtEl>
                                        <p:attrNameLst>
                                          <p:attrName>style.visibility</p:attrName>
                                        </p:attrNameLst>
                                      </p:cBhvr>
                                      <p:to>
                                        <p:strVal val="visible"/>
                                      </p:to>
                                    </p:set>
                                    <p:animEffect transition="in" filter="fade">
                                      <p:cBhvr>
                                        <p:cTn id="30"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3" name="Shape 223"/>
          <p:cNvSpPr txBox="1">
            <a:spLocks noGrp="1"/>
          </p:cNvSpPr>
          <p:nvPr>
            <p:ph type="sldNum" idx="12"/>
          </p:nvPr>
        </p:nvSpPr>
        <p:spPr>
          <a:xfrm>
            <a:off x="10157333" y="6182000"/>
            <a:ext cx="1983200" cy="420800"/>
          </a:xfrm>
          <a:prstGeom prst="rect">
            <a:avLst/>
          </a:prstGeom>
          <a:noFill/>
          <a:ln>
            <a:noFill/>
          </a:ln>
        </p:spPr>
        <p:txBody>
          <a:bodyPr lIns="91425" tIns="91425" rIns="91425" bIns="91425" anchor="ctr" anchorCtr="0">
            <a:noAutofit/>
          </a:bodyPr>
          <a:lstStyle/>
          <a:p>
            <a:fld id="{00000000-1234-1234-1234-123412341234}" type="slidenum">
              <a:rPr lang="en" sz="1800" smtClean="0">
                <a:solidFill>
                  <a:srgbClr val="3F5378"/>
                </a:solidFill>
                <a:latin typeface="Roboto Condensed" panose="020B0604020202020204"/>
              </a:rPr>
              <a:pPr/>
              <a:t>3</a:t>
            </a:fld>
            <a:endParaRPr lang="en" sz="1800" dirty="0">
              <a:solidFill>
                <a:srgbClr val="3F5378"/>
              </a:solidFill>
              <a:latin typeface="Roboto Condensed" panose="020B0604020202020204"/>
            </a:endParaRPr>
          </a:p>
        </p:txBody>
      </p:sp>
      <p:sp>
        <p:nvSpPr>
          <p:cNvPr id="224" name="Shape 224"/>
          <p:cNvSpPr txBox="1"/>
          <p:nvPr/>
        </p:nvSpPr>
        <p:spPr>
          <a:xfrm>
            <a:off x="618033" y="0"/>
            <a:ext cx="2908800" cy="4181600"/>
          </a:xfrm>
          <a:prstGeom prst="rect">
            <a:avLst/>
          </a:prstGeom>
          <a:noFill/>
          <a:ln>
            <a:noFill/>
          </a:ln>
        </p:spPr>
        <p:txBody>
          <a:bodyPr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1</a:t>
            </a:r>
          </a:p>
        </p:txBody>
      </p:sp>
      <p:sp>
        <p:nvSpPr>
          <p:cNvPr id="3" name="Sous-titre 2"/>
          <p:cNvSpPr>
            <a:spLocks noGrp="1"/>
          </p:cNvSpPr>
          <p:nvPr>
            <p:ph type="subTitle" idx="1"/>
          </p:nvPr>
        </p:nvSpPr>
        <p:spPr/>
        <p:txBody>
          <a:bodyPr/>
          <a:lstStyle/>
          <a:p>
            <a:endParaRPr lang="fr-FR" dirty="0"/>
          </a:p>
        </p:txBody>
      </p:sp>
      <p:sp>
        <p:nvSpPr>
          <p:cNvPr id="8" name="Shape 221"/>
          <p:cNvSpPr txBox="1">
            <a:spLocks/>
          </p:cNvSpPr>
          <p:nvPr/>
        </p:nvSpPr>
        <p:spPr>
          <a:xfrm>
            <a:off x="421111" y="3846664"/>
            <a:ext cx="5459200" cy="1546400"/>
          </a:xfrm>
          <a:prstGeom prst="rect">
            <a:avLst/>
          </a:prstGeom>
          <a:noFill/>
          <a:ln>
            <a:noFill/>
          </a:ln>
        </p:spPr>
        <p:txBody>
          <a:bodyPr lIns="121900" tIns="121900" rIns="121900" bIns="121900"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4000" b="1" i="0" u="none" strike="noStrike" cap="none">
                <a:solidFill>
                  <a:srgbClr val="FFFFFF"/>
                </a:solidFill>
                <a:latin typeface="Roboto Condensed"/>
                <a:ea typeface="Roboto Condensed"/>
                <a:cs typeface="Roboto Condensed"/>
                <a:sym typeface="Roboto Condensed"/>
              </a:defRPr>
            </a:lvl1pPr>
            <a:lvl2pPr lvl="1" rtl="0">
              <a:spcBef>
                <a:spcPts val="0"/>
              </a:spcBef>
              <a:buClr>
                <a:srgbClr val="FFFFFF"/>
              </a:buClr>
              <a:buSzPct val="100000"/>
              <a:buFont typeface="Roboto Condensed"/>
              <a:buNone/>
              <a:defRPr sz="4000" b="1">
                <a:solidFill>
                  <a:srgbClr val="FFFFFF"/>
                </a:solidFill>
                <a:latin typeface="Roboto Condensed"/>
                <a:ea typeface="Roboto Condensed"/>
                <a:cs typeface="Roboto Condensed"/>
                <a:sym typeface="Roboto Condensed"/>
              </a:defRPr>
            </a:lvl2pPr>
            <a:lvl3pPr lvl="2" rtl="0">
              <a:spcBef>
                <a:spcPts val="0"/>
              </a:spcBef>
              <a:buClr>
                <a:srgbClr val="FFFFFF"/>
              </a:buClr>
              <a:buSzPct val="100000"/>
              <a:buFont typeface="Roboto Condensed"/>
              <a:buNone/>
              <a:defRPr sz="4000" b="1">
                <a:solidFill>
                  <a:srgbClr val="FFFFFF"/>
                </a:solidFill>
                <a:latin typeface="Roboto Condensed"/>
                <a:ea typeface="Roboto Condensed"/>
                <a:cs typeface="Roboto Condensed"/>
                <a:sym typeface="Roboto Condensed"/>
              </a:defRPr>
            </a:lvl3pPr>
            <a:lvl4pPr lvl="3" rtl="0">
              <a:spcBef>
                <a:spcPts val="0"/>
              </a:spcBef>
              <a:buClr>
                <a:srgbClr val="FFFFFF"/>
              </a:buClr>
              <a:buSzPct val="100000"/>
              <a:buFont typeface="Roboto Condensed"/>
              <a:buNone/>
              <a:defRPr sz="4000" b="1">
                <a:solidFill>
                  <a:srgbClr val="FFFFFF"/>
                </a:solidFill>
                <a:latin typeface="Roboto Condensed"/>
                <a:ea typeface="Roboto Condensed"/>
                <a:cs typeface="Roboto Condensed"/>
                <a:sym typeface="Roboto Condensed"/>
              </a:defRPr>
            </a:lvl4pPr>
            <a:lvl5pPr lvl="4" rtl="0">
              <a:spcBef>
                <a:spcPts val="0"/>
              </a:spcBef>
              <a:buClr>
                <a:srgbClr val="FFFFFF"/>
              </a:buClr>
              <a:buSzPct val="100000"/>
              <a:buFont typeface="Roboto Condensed"/>
              <a:buNone/>
              <a:defRPr sz="4000" b="1">
                <a:solidFill>
                  <a:srgbClr val="FFFFFF"/>
                </a:solidFill>
                <a:latin typeface="Roboto Condensed"/>
                <a:ea typeface="Roboto Condensed"/>
                <a:cs typeface="Roboto Condensed"/>
                <a:sym typeface="Roboto Condensed"/>
              </a:defRPr>
            </a:lvl5pPr>
            <a:lvl6pPr lvl="5" rtl="0">
              <a:spcBef>
                <a:spcPts val="0"/>
              </a:spcBef>
              <a:buClr>
                <a:srgbClr val="FFFFFF"/>
              </a:buClr>
              <a:buSzPct val="100000"/>
              <a:buFont typeface="Roboto Condensed"/>
              <a:buNone/>
              <a:defRPr sz="4000" b="1">
                <a:solidFill>
                  <a:srgbClr val="FFFFFF"/>
                </a:solidFill>
                <a:latin typeface="Roboto Condensed"/>
                <a:ea typeface="Roboto Condensed"/>
                <a:cs typeface="Roboto Condensed"/>
                <a:sym typeface="Roboto Condensed"/>
              </a:defRPr>
            </a:lvl6pPr>
            <a:lvl7pPr lvl="6" rtl="0">
              <a:spcBef>
                <a:spcPts val="0"/>
              </a:spcBef>
              <a:buClr>
                <a:srgbClr val="FFFFFF"/>
              </a:buClr>
              <a:buSzPct val="100000"/>
              <a:buFont typeface="Roboto Condensed"/>
              <a:buNone/>
              <a:defRPr sz="4000" b="1">
                <a:solidFill>
                  <a:srgbClr val="FFFFFF"/>
                </a:solidFill>
                <a:latin typeface="Roboto Condensed"/>
                <a:ea typeface="Roboto Condensed"/>
                <a:cs typeface="Roboto Condensed"/>
                <a:sym typeface="Roboto Condensed"/>
              </a:defRPr>
            </a:lvl7pPr>
            <a:lvl8pPr lvl="7" rtl="0">
              <a:spcBef>
                <a:spcPts val="0"/>
              </a:spcBef>
              <a:buClr>
                <a:srgbClr val="FFFFFF"/>
              </a:buClr>
              <a:buSzPct val="100000"/>
              <a:buFont typeface="Roboto Condensed"/>
              <a:buNone/>
              <a:defRPr sz="4000" b="1">
                <a:solidFill>
                  <a:srgbClr val="FFFFFF"/>
                </a:solidFill>
                <a:latin typeface="Roboto Condensed"/>
                <a:ea typeface="Roboto Condensed"/>
                <a:cs typeface="Roboto Condensed"/>
                <a:sym typeface="Roboto Condensed"/>
              </a:defRPr>
            </a:lvl8pPr>
            <a:lvl9pPr lvl="8" rtl="0">
              <a:spcBef>
                <a:spcPts val="0"/>
              </a:spcBef>
              <a:buClr>
                <a:srgbClr val="FFFFFF"/>
              </a:buClr>
              <a:buSzPct val="100000"/>
              <a:buFont typeface="Roboto Condensed"/>
              <a:buNone/>
              <a:defRPr sz="4000" b="1">
                <a:solidFill>
                  <a:srgbClr val="FFFFFF"/>
                </a:solidFill>
                <a:latin typeface="Roboto Condensed"/>
                <a:ea typeface="Roboto Condensed"/>
                <a:cs typeface="Roboto Condensed"/>
                <a:sym typeface="Roboto Condensed"/>
              </a:defRPr>
            </a:lvl9pPr>
          </a:lstStyle>
          <a:p>
            <a:pPr marL="342900" indent="-342900">
              <a:buClr>
                <a:srgbClr val="FF9800"/>
              </a:buClr>
            </a:pPr>
            <a:r>
              <a:rPr lang="fr-FR" dirty="0"/>
              <a:t>Introduction and</a:t>
            </a:r>
          </a:p>
          <a:p>
            <a:pPr marL="342900" indent="-342900">
              <a:buClr>
                <a:srgbClr val="FF9800"/>
              </a:buClr>
            </a:pPr>
            <a:r>
              <a:rPr lang="fr-FR" dirty="0"/>
              <a:t>      Background</a:t>
            </a:r>
          </a:p>
        </p:txBody>
      </p:sp>
    </p:spTree>
    <p:extLst>
      <p:ext uri="{BB962C8B-B14F-4D97-AF65-F5344CB8AC3E}">
        <p14:creationId xmlns:p14="http://schemas.microsoft.com/office/powerpoint/2010/main" val="8761789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55492" y="700555"/>
            <a:ext cx="7753500" cy="1021600"/>
          </a:xfrm>
        </p:spPr>
        <p:txBody>
          <a:bodyPr/>
          <a:lstStyle/>
          <a:p>
            <a:r>
              <a:rPr lang="fr-FR" sz="2800" dirty="0"/>
              <a:t>Introduction: </a:t>
            </a:r>
            <a:r>
              <a:rPr lang="en-GB" sz="2400" dirty="0"/>
              <a:t>Hand-Gesture Recognition</a:t>
            </a:r>
            <a:r>
              <a:rPr lang="en-GB" sz="2800" dirty="0"/>
              <a:t/>
            </a:r>
            <a:br>
              <a:rPr lang="en-GB" sz="2800" dirty="0"/>
            </a:br>
            <a:endParaRPr lang="fr-FR" sz="2800" dirty="0"/>
          </a:p>
        </p:txBody>
      </p:sp>
      <p:sp>
        <p:nvSpPr>
          <p:cNvPr id="3" name="Espace réservé du texte 2"/>
          <p:cNvSpPr>
            <a:spLocks noGrp="1"/>
          </p:cNvSpPr>
          <p:nvPr>
            <p:ph type="body" idx="1"/>
          </p:nvPr>
        </p:nvSpPr>
        <p:spPr>
          <a:xfrm>
            <a:off x="485483" y="1632638"/>
            <a:ext cx="7429355" cy="4813493"/>
          </a:xfrm>
        </p:spPr>
        <p:txBody>
          <a:bodyPr/>
          <a:lstStyle/>
          <a:p>
            <a:pPr marL="342900" indent="-342900">
              <a:spcAft>
                <a:spcPts val="2400"/>
              </a:spcAft>
              <a:buClr>
                <a:srgbClr val="FF9800"/>
              </a:buClr>
            </a:pPr>
            <a:r>
              <a:rPr lang="en-GB" b="1" dirty="0"/>
              <a:t>Hand-Gesture Recognition (HGR): </a:t>
            </a:r>
            <a:r>
              <a:rPr lang="en-GB" dirty="0"/>
              <a:t>translating physical gestures into digital commands.</a:t>
            </a:r>
          </a:p>
          <a:p>
            <a:pPr marL="342900" indent="-342900">
              <a:spcAft>
                <a:spcPts val="2400"/>
              </a:spcAft>
              <a:buClr>
                <a:srgbClr val="FF9800"/>
              </a:buClr>
            </a:pPr>
            <a:r>
              <a:rPr lang="fr-FR" b="1" dirty="0"/>
              <a:t>Key Applications: </a:t>
            </a:r>
            <a:r>
              <a:rPr lang="en-GB" dirty="0">
                <a:latin typeface="Roboto Condensed" panose="020B0604020202020204"/>
              </a:rPr>
              <a:t>prosthetics control, Virtual reality/Augmented reality interface, robotics &amp; assistive devices.</a:t>
            </a:r>
            <a:endParaRPr lang="en-GB" b="1" dirty="0"/>
          </a:p>
          <a:p>
            <a:pPr marL="342900" indent="-342900">
              <a:spcAft>
                <a:spcPts val="2400"/>
              </a:spcAft>
              <a:buClr>
                <a:srgbClr val="FF9800"/>
              </a:buClr>
            </a:pPr>
            <a:r>
              <a:rPr lang="en-GB" b="1" dirty="0"/>
              <a:t>Modalities: </a:t>
            </a:r>
            <a:r>
              <a:rPr lang="en-GB" dirty="0"/>
              <a:t>vision-based vs. wearable EMG.</a:t>
            </a: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4</a:t>
            </a:fld>
            <a:endParaRPr lang="en-US" sz="1800" dirty="0">
              <a:solidFill>
                <a:srgbClr val="3F5378"/>
              </a:solidFill>
              <a:latin typeface="Roboto Condensed" panose="020B0604020202020204"/>
            </a:endParaRPr>
          </a:p>
        </p:txBody>
      </p:sp>
      <p:grpSp>
        <p:nvGrpSpPr>
          <p:cNvPr id="7" name="Shape 752"/>
          <p:cNvGrpSpPr/>
          <p:nvPr/>
        </p:nvGrpSpPr>
        <p:grpSpPr>
          <a:xfrm>
            <a:off x="485483" y="857111"/>
            <a:ext cx="354244" cy="354244"/>
            <a:chOff x="5941025" y="3634400"/>
            <a:chExt cx="467650" cy="467650"/>
          </a:xfrm>
        </p:grpSpPr>
        <p:sp>
          <p:nvSpPr>
            <p:cNvPr id="8" name="Shape 753"/>
            <p:cNvSpPr/>
            <p:nvPr/>
          </p:nvSpPr>
          <p:spPr>
            <a:xfrm>
              <a:off x="5941025" y="3634400"/>
              <a:ext cx="467650" cy="467650"/>
            </a:xfrm>
            <a:custGeom>
              <a:avLst/>
              <a:gdLst/>
              <a:ahLst/>
              <a:cxnLst/>
              <a:rect l="0" t="0" r="0" b="0"/>
              <a:pathLst>
                <a:path w="18706" h="18706" fill="none" extrusionOk="0">
                  <a:moveTo>
                    <a:pt x="9353" y="1"/>
                  </a:moveTo>
                  <a:lnTo>
                    <a:pt x="9353" y="1"/>
                  </a:lnTo>
                  <a:lnTo>
                    <a:pt x="8866" y="25"/>
                  </a:lnTo>
                  <a:lnTo>
                    <a:pt x="8403" y="50"/>
                  </a:lnTo>
                  <a:lnTo>
                    <a:pt x="7940" y="123"/>
                  </a:lnTo>
                  <a:lnTo>
                    <a:pt x="7478" y="196"/>
                  </a:lnTo>
                  <a:lnTo>
                    <a:pt x="7015" y="293"/>
                  </a:lnTo>
                  <a:lnTo>
                    <a:pt x="6577" y="439"/>
                  </a:lnTo>
                  <a:lnTo>
                    <a:pt x="6138" y="585"/>
                  </a:lnTo>
                  <a:lnTo>
                    <a:pt x="5724" y="732"/>
                  </a:lnTo>
                  <a:lnTo>
                    <a:pt x="5310" y="926"/>
                  </a:lnTo>
                  <a:lnTo>
                    <a:pt x="4896" y="1146"/>
                  </a:lnTo>
                  <a:lnTo>
                    <a:pt x="4506" y="1365"/>
                  </a:lnTo>
                  <a:lnTo>
                    <a:pt x="4117" y="1608"/>
                  </a:lnTo>
                  <a:lnTo>
                    <a:pt x="3751" y="1876"/>
                  </a:lnTo>
                  <a:lnTo>
                    <a:pt x="3410" y="2144"/>
                  </a:lnTo>
                  <a:lnTo>
                    <a:pt x="3069" y="2436"/>
                  </a:lnTo>
                  <a:lnTo>
                    <a:pt x="2753" y="2753"/>
                  </a:lnTo>
                  <a:lnTo>
                    <a:pt x="2436" y="3070"/>
                  </a:lnTo>
                  <a:lnTo>
                    <a:pt x="2144" y="3411"/>
                  </a:lnTo>
                  <a:lnTo>
                    <a:pt x="1876" y="3752"/>
                  </a:lnTo>
                  <a:lnTo>
                    <a:pt x="1608" y="4117"/>
                  </a:lnTo>
                  <a:lnTo>
                    <a:pt x="1365" y="4507"/>
                  </a:lnTo>
                  <a:lnTo>
                    <a:pt x="1145" y="4896"/>
                  </a:lnTo>
                  <a:lnTo>
                    <a:pt x="926" y="5310"/>
                  </a:lnTo>
                  <a:lnTo>
                    <a:pt x="731" y="5724"/>
                  </a:lnTo>
                  <a:lnTo>
                    <a:pt x="585" y="6138"/>
                  </a:lnTo>
                  <a:lnTo>
                    <a:pt x="439" y="6577"/>
                  </a:lnTo>
                  <a:lnTo>
                    <a:pt x="293" y="7015"/>
                  </a:lnTo>
                  <a:lnTo>
                    <a:pt x="196" y="7478"/>
                  </a:lnTo>
                  <a:lnTo>
                    <a:pt x="123" y="7941"/>
                  </a:lnTo>
                  <a:lnTo>
                    <a:pt x="49" y="8403"/>
                  </a:lnTo>
                  <a:lnTo>
                    <a:pt x="25" y="8866"/>
                  </a:lnTo>
                  <a:lnTo>
                    <a:pt x="1" y="9353"/>
                  </a:lnTo>
                  <a:lnTo>
                    <a:pt x="1" y="9353"/>
                  </a:lnTo>
                  <a:lnTo>
                    <a:pt x="25" y="9840"/>
                  </a:lnTo>
                  <a:lnTo>
                    <a:pt x="49" y="10303"/>
                  </a:lnTo>
                  <a:lnTo>
                    <a:pt x="123" y="10766"/>
                  </a:lnTo>
                  <a:lnTo>
                    <a:pt x="196" y="11229"/>
                  </a:lnTo>
                  <a:lnTo>
                    <a:pt x="293" y="11691"/>
                  </a:lnTo>
                  <a:lnTo>
                    <a:pt x="439" y="12130"/>
                  </a:lnTo>
                  <a:lnTo>
                    <a:pt x="585" y="12568"/>
                  </a:lnTo>
                  <a:lnTo>
                    <a:pt x="731" y="12982"/>
                  </a:lnTo>
                  <a:lnTo>
                    <a:pt x="926" y="13396"/>
                  </a:lnTo>
                  <a:lnTo>
                    <a:pt x="1145" y="13810"/>
                  </a:lnTo>
                  <a:lnTo>
                    <a:pt x="1365" y="14200"/>
                  </a:lnTo>
                  <a:lnTo>
                    <a:pt x="1608" y="14590"/>
                  </a:lnTo>
                  <a:lnTo>
                    <a:pt x="1876" y="14955"/>
                  </a:lnTo>
                  <a:lnTo>
                    <a:pt x="2144" y="15296"/>
                  </a:lnTo>
                  <a:lnTo>
                    <a:pt x="2436" y="15637"/>
                  </a:lnTo>
                  <a:lnTo>
                    <a:pt x="2753" y="15953"/>
                  </a:lnTo>
                  <a:lnTo>
                    <a:pt x="3069" y="16270"/>
                  </a:lnTo>
                  <a:lnTo>
                    <a:pt x="3410" y="16562"/>
                  </a:lnTo>
                  <a:lnTo>
                    <a:pt x="3751" y="16830"/>
                  </a:lnTo>
                  <a:lnTo>
                    <a:pt x="4117" y="17098"/>
                  </a:lnTo>
                  <a:lnTo>
                    <a:pt x="4506" y="17342"/>
                  </a:lnTo>
                  <a:lnTo>
                    <a:pt x="4896" y="17561"/>
                  </a:lnTo>
                  <a:lnTo>
                    <a:pt x="5310" y="17780"/>
                  </a:lnTo>
                  <a:lnTo>
                    <a:pt x="5724" y="17975"/>
                  </a:lnTo>
                  <a:lnTo>
                    <a:pt x="6138" y="18121"/>
                  </a:lnTo>
                  <a:lnTo>
                    <a:pt x="6577" y="18267"/>
                  </a:lnTo>
                  <a:lnTo>
                    <a:pt x="7015" y="18413"/>
                  </a:lnTo>
                  <a:lnTo>
                    <a:pt x="7478" y="18511"/>
                  </a:lnTo>
                  <a:lnTo>
                    <a:pt x="7940" y="18584"/>
                  </a:lnTo>
                  <a:lnTo>
                    <a:pt x="8403" y="18657"/>
                  </a:lnTo>
                  <a:lnTo>
                    <a:pt x="8866" y="18681"/>
                  </a:lnTo>
                  <a:lnTo>
                    <a:pt x="9353" y="18706"/>
                  </a:lnTo>
                  <a:lnTo>
                    <a:pt x="9353" y="18706"/>
                  </a:lnTo>
                  <a:lnTo>
                    <a:pt x="9840" y="18681"/>
                  </a:lnTo>
                  <a:lnTo>
                    <a:pt x="10303" y="18657"/>
                  </a:lnTo>
                  <a:lnTo>
                    <a:pt x="10766" y="18584"/>
                  </a:lnTo>
                  <a:lnTo>
                    <a:pt x="11228" y="18511"/>
                  </a:lnTo>
                  <a:lnTo>
                    <a:pt x="11691" y="18413"/>
                  </a:lnTo>
                  <a:lnTo>
                    <a:pt x="12130" y="18267"/>
                  </a:lnTo>
                  <a:lnTo>
                    <a:pt x="12568" y="18121"/>
                  </a:lnTo>
                  <a:lnTo>
                    <a:pt x="12982" y="17975"/>
                  </a:lnTo>
                  <a:lnTo>
                    <a:pt x="13396" y="17780"/>
                  </a:lnTo>
                  <a:lnTo>
                    <a:pt x="13810" y="17561"/>
                  </a:lnTo>
                  <a:lnTo>
                    <a:pt x="14200" y="17342"/>
                  </a:lnTo>
                  <a:lnTo>
                    <a:pt x="14589" y="17098"/>
                  </a:lnTo>
                  <a:lnTo>
                    <a:pt x="14955" y="16830"/>
                  </a:lnTo>
                  <a:lnTo>
                    <a:pt x="15296" y="16562"/>
                  </a:lnTo>
                  <a:lnTo>
                    <a:pt x="15637" y="16270"/>
                  </a:lnTo>
                  <a:lnTo>
                    <a:pt x="15953" y="15953"/>
                  </a:lnTo>
                  <a:lnTo>
                    <a:pt x="16270" y="15637"/>
                  </a:lnTo>
                  <a:lnTo>
                    <a:pt x="16562" y="15296"/>
                  </a:lnTo>
                  <a:lnTo>
                    <a:pt x="16830" y="14955"/>
                  </a:lnTo>
                  <a:lnTo>
                    <a:pt x="17098" y="14590"/>
                  </a:lnTo>
                  <a:lnTo>
                    <a:pt x="17341" y="14200"/>
                  </a:lnTo>
                  <a:lnTo>
                    <a:pt x="17561" y="13810"/>
                  </a:lnTo>
                  <a:lnTo>
                    <a:pt x="17780" y="13396"/>
                  </a:lnTo>
                  <a:lnTo>
                    <a:pt x="17975" y="12982"/>
                  </a:lnTo>
                  <a:lnTo>
                    <a:pt x="18121" y="12568"/>
                  </a:lnTo>
                  <a:lnTo>
                    <a:pt x="18267" y="12130"/>
                  </a:lnTo>
                  <a:lnTo>
                    <a:pt x="18413" y="11691"/>
                  </a:lnTo>
                  <a:lnTo>
                    <a:pt x="18511" y="11229"/>
                  </a:lnTo>
                  <a:lnTo>
                    <a:pt x="18584" y="10766"/>
                  </a:lnTo>
                  <a:lnTo>
                    <a:pt x="18657" y="10303"/>
                  </a:lnTo>
                  <a:lnTo>
                    <a:pt x="18681" y="9840"/>
                  </a:lnTo>
                  <a:lnTo>
                    <a:pt x="18705" y="9353"/>
                  </a:lnTo>
                  <a:lnTo>
                    <a:pt x="18705" y="9353"/>
                  </a:lnTo>
                  <a:lnTo>
                    <a:pt x="18681" y="8866"/>
                  </a:lnTo>
                  <a:lnTo>
                    <a:pt x="18657" y="8403"/>
                  </a:lnTo>
                  <a:lnTo>
                    <a:pt x="18584" y="7941"/>
                  </a:lnTo>
                  <a:lnTo>
                    <a:pt x="18511" y="7478"/>
                  </a:lnTo>
                  <a:lnTo>
                    <a:pt x="18413" y="7015"/>
                  </a:lnTo>
                  <a:lnTo>
                    <a:pt x="18267" y="6577"/>
                  </a:lnTo>
                  <a:lnTo>
                    <a:pt x="18121" y="6138"/>
                  </a:lnTo>
                  <a:lnTo>
                    <a:pt x="17975" y="5724"/>
                  </a:lnTo>
                  <a:lnTo>
                    <a:pt x="17780" y="5310"/>
                  </a:lnTo>
                  <a:lnTo>
                    <a:pt x="17561" y="4896"/>
                  </a:lnTo>
                  <a:lnTo>
                    <a:pt x="17341" y="4507"/>
                  </a:lnTo>
                  <a:lnTo>
                    <a:pt x="17098" y="4117"/>
                  </a:lnTo>
                  <a:lnTo>
                    <a:pt x="16830" y="3752"/>
                  </a:lnTo>
                  <a:lnTo>
                    <a:pt x="16562" y="3411"/>
                  </a:lnTo>
                  <a:lnTo>
                    <a:pt x="16270" y="3070"/>
                  </a:lnTo>
                  <a:lnTo>
                    <a:pt x="15953" y="2753"/>
                  </a:lnTo>
                  <a:lnTo>
                    <a:pt x="15637" y="2436"/>
                  </a:lnTo>
                  <a:lnTo>
                    <a:pt x="15296" y="2144"/>
                  </a:lnTo>
                  <a:lnTo>
                    <a:pt x="14955" y="1876"/>
                  </a:lnTo>
                  <a:lnTo>
                    <a:pt x="14589" y="1608"/>
                  </a:lnTo>
                  <a:lnTo>
                    <a:pt x="14200" y="1365"/>
                  </a:lnTo>
                  <a:lnTo>
                    <a:pt x="13810" y="1146"/>
                  </a:lnTo>
                  <a:lnTo>
                    <a:pt x="13396" y="926"/>
                  </a:lnTo>
                  <a:lnTo>
                    <a:pt x="12982" y="732"/>
                  </a:lnTo>
                  <a:lnTo>
                    <a:pt x="12568" y="585"/>
                  </a:lnTo>
                  <a:lnTo>
                    <a:pt x="12130" y="439"/>
                  </a:lnTo>
                  <a:lnTo>
                    <a:pt x="11691" y="293"/>
                  </a:lnTo>
                  <a:lnTo>
                    <a:pt x="11228" y="196"/>
                  </a:lnTo>
                  <a:lnTo>
                    <a:pt x="10766" y="123"/>
                  </a:lnTo>
                  <a:lnTo>
                    <a:pt x="10303" y="50"/>
                  </a:lnTo>
                  <a:lnTo>
                    <a:pt x="9840" y="25"/>
                  </a:lnTo>
                  <a:lnTo>
                    <a:pt x="9353" y="1"/>
                  </a:lnTo>
                  <a:lnTo>
                    <a:pt x="9353"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754"/>
            <p:cNvSpPr/>
            <p:nvPr/>
          </p:nvSpPr>
          <p:spPr>
            <a:xfrm>
              <a:off x="6211975" y="3753150"/>
              <a:ext cx="19525" cy="18900"/>
            </a:xfrm>
            <a:custGeom>
              <a:avLst/>
              <a:gdLst/>
              <a:ahLst/>
              <a:cxnLst/>
              <a:rect l="0" t="0" r="0" b="0"/>
              <a:pathLst>
                <a:path w="781" h="756" fill="none" extrusionOk="0">
                  <a:moveTo>
                    <a:pt x="585" y="0"/>
                  </a:moveTo>
                  <a:lnTo>
                    <a:pt x="585" y="0"/>
                  </a:lnTo>
                  <a:lnTo>
                    <a:pt x="658" y="24"/>
                  </a:lnTo>
                  <a:lnTo>
                    <a:pt x="707" y="49"/>
                  </a:lnTo>
                  <a:lnTo>
                    <a:pt x="756" y="122"/>
                  </a:lnTo>
                  <a:lnTo>
                    <a:pt x="780" y="195"/>
                  </a:lnTo>
                  <a:lnTo>
                    <a:pt x="780" y="195"/>
                  </a:lnTo>
                  <a:lnTo>
                    <a:pt x="756" y="268"/>
                  </a:lnTo>
                  <a:lnTo>
                    <a:pt x="707" y="390"/>
                  </a:lnTo>
                  <a:lnTo>
                    <a:pt x="658" y="487"/>
                  </a:lnTo>
                  <a:lnTo>
                    <a:pt x="585" y="560"/>
                  </a:lnTo>
                  <a:lnTo>
                    <a:pt x="585" y="560"/>
                  </a:lnTo>
                  <a:lnTo>
                    <a:pt x="488" y="633"/>
                  </a:lnTo>
                  <a:lnTo>
                    <a:pt x="390" y="706"/>
                  </a:lnTo>
                  <a:lnTo>
                    <a:pt x="293" y="755"/>
                  </a:lnTo>
                  <a:lnTo>
                    <a:pt x="196" y="755"/>
                  </a:lnTo>
                  <a:lnTo>
                    <a:pt x="196" y="755"/>
                  </a:lnTo>
                  <a:lnTo>
                    <a:pt x="122" y="755"/>
                  </a:lnTo>
                  <a:lnTo>
                    <a:pt x="74" y="706"/>
                  </a:lnTo>
                  <a:lnTo>
                    <a:pt x="25" y="633"/>
                  </a:lnTo>
                  <a:lnTo>
                    <a:pt x="1" y="560"/>
                  </a:lnTo>
                  <a:lnTo>
                    <a:pt x="1" y="560"/>
                  </a:lnTo>
                  <a:lnTo>
                    <a:pt x="25" y="487"/>
                  </a:lnTo>
                  <a:lnTo>
                    <a:pt x="74" y="390"/>
                  </a:lnTo>
                  <a:lnTo>
                    <a:pt x="122" y="268"/>
                  </a:lnTo>
                  <a:lnTo>
                    <a:pt x="196" y="195"/>
                  </a:lnTo>
                  <a:lnTo>
                    <a:pt x="196" y="195"/>
                  </a:lnTo>
                  <a:lnTo>
                    <a:pt x="293" y="122"/>
                  </a:lnTo>
                  <a:lnTo>
                    <a:pt x="390" y="49"/>
                  </a:lnTo>
                  <a:lnTo>
                    <a:pt x="488" y="24"/>
                  </a:lnTo>
                  <a:lnTo>
                    <a:pt x="585" y="0"/>
                  </a:lnTo>
                  <a:lnTo>
                    <a:pt x="585"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755"/>
            <p:cNvSpPr/>
            <p:nvPr/>
          </p:nvSpPr>
          <p:spPr>
            <a:xfrm>
              <a:off x="5943475" y="3695900"/>
              <a:ext cx="177800" cy="351350"/>
            </a:xfrm>
            <a:custGeom>
              <a:avLst/>
              <a:gdLst/>
              <a:ahLst/>
              <a:cxnLst/>
              <a:rect l="0" t="0" r="0" b="0"/>
              <a:pathLst>
                <a:path w="7112" h="14054" fill="none" extrusionOk="0">
                  <a:moveTo>
                    <a:pt x="2582" y="780"/>
                  </a:moveTo>
                  <a:lnTo>
                    <a:pt x="2582" y="780"/>
                  </a:lnTo>
                  <a:lnTo>
                    <a:pt x="2752" y="780"/>
                  </a:lnTo>
                  <a:lnTo>
                    <a:pt x="2752" y="780"/>
                  </a:lnTo>
                  <a:lnTo>
                    <a:pt x="2996" y="780"/>
                  </a:lnTo>
                  <a:lnTo>
                    <a:pt x="3215" y="829"/>
                  </a:lnTo>
                  <a:lnTo>
                    <a:pt x="3386" y="878"/>
                  </a:lnTo>
                  <a:lnTo>
                    <a:pt x="3507" y="951"/>
                  </a:lnTo>
                  <a:lnTo>
                    <a:pt x="3507" y="951"/>
                  </a:lnTo>
                  <a:lnTo>
                    <a:pt x="3605" y="1024"/>
                  </a:lnTo>
                  <a:lnTo>
                    <a:pt x="3702" y="1048"/>
                  </a:lnTo>
                  <a:lnTo>
                    <a:pt x="3800" y="1024"/>
                  </a:lnTo>
                  <a:lnTo>
                    <a:pt x="3897" y="951"/>
                  </a:lnTo>
                  <a:lnTo>
                    <a:pt x="3897" y="951"/>
                  </a:lnTo>
                  <a:lnTo>
                    <a:pt x="3970" y="878"/>
                  </a:lnTo>
                  <a:lnTo>
                    <a:pt x="4092" y="829"/>
                  </a:lnTo>
                  <a:lnTo>
                    <a:pt x="4189" y="780"/>
                  </a:lnTo>
                  <a:lnTo>
                    <a:pt x="4262" y="780"/>
                  </a:lnTo>
                  <a:lnTo>
                    <a:pt x="4262" y="780"/>
                  </a:lnTo>
                  <a:lnTo>
                    <a:pt x="4384" y="731"/>
                  </a:lnTo>
                  <a:lnTo>
                    <a:pt x="4506" y="658"/>
                  </a:lnTo>
                  <a:lnTo>
                    <a:pt x="4676" y="537"/>
                  </a:lnTo>
                  <a:lnTo>
                    <a:pt x="4847" y="390"/>
                  </a:lnTo>
                  <a:lnTo>
                    <a:pt x="4847" y="390"/>
                  </a:lnTo>
                  <a:lnTo>
                    <a:pt x="5042" y="244"/>
                  </a:lnTo>
                  <a:lnTo>
                    <a:pt x="5285" y="123"/>
                  </a:lnTo>
                  <a:lnTo>
                    <a:pt x="5529" y="49"/>
                  </a:lnTo>
                  <a:lnTo>
                    <a:pt x="5797" y="1"/>
                  </a:lnTo>
                  <a:lnTo>
                    <a:pt x="5797" y="1"/>
                  </a:lnTo>
                  <a:lnTo>
                    <a:pt x="5894" y="25"/>
                  </a:lnTo>
                  <a:lnTo>
                    <a:pt x="5992" y="49"/>
                  </a:lnTo>
                  <a:lnTo>
                    <a:pt x="6040" y="74"/>
                  </a:lnTo>
                  <a:lnTo>
                    <a:pt x="6089" y="123"/>
                  </a:lnTo>
                  <a:lnTo>
                    <a:pt x="6089" y="171"/>
                  </a:lnTo>
                  <a:lnTo>
                    <a:pt x="6089" y="244"/>
                  </a:lnTo>
                  <a:lnTo>
                    <a:pt x="6040" y="317"/>
                  </a:lnTo>
                  <a:lnTo>
                    <a:pt x="5992" y="390"/>
                  </a:lnTo>
                  <a:lnTo>
                    <a:pt x="5992" y="390"/>
                  </a:lnTo>
                  <a:lnTo>
                    <a:pt x="5845" y="561"/>
                  </a:lnTo>
                  <a:lnTo>
                    <a:pt x="5772" y="707"/>
                  </a:lnTo>
                  <a:lnTo>
                    <a:pt x="5748" y="853"/>
                  </a:lnTo>
                  <a:lnTo>
                    <a:pt x="5772" y="926"/>
                  </a:lnTo>
                  <a:lnTo>
                    <a:pt x="5797" y="951"/>
                  </a:lnTo>
                  <a:lnTo>
                    <a:pt x="5797" y="951"/>
                  </a:lnTo>
                  <a:lnTo>
                    <a:pt x="5870" y="1048"/>
                  </a:lnTo>
                  <a:lnTo>
                    <a:pt x="5918" y="1145"/>
                  </a:lnTo>
                  <a:lnTo>
                    <a:pt x="5967" y="1243"/>
                  </a:lnTo>
                  <a:lnTo>
                    <a:pt x="5992" y="1340"/>
                  </a:lnTo>
                  <a:lnTo>
                    <a:pt x="5992" y="1340"/>
                  </a:lnTo>
                  <a:lnTo>
                    <a:pt x="5967" y="1438"/>
                  </a:lnTo>
                  <a:lnTo>
                    <a:pt x="5918" y="1535"/>
                  </a:lnTo>
                  <a:lnTo>
                    <a:pt x="5870" y="1633"/>
                  </a:lnTo>
                  <a:lnTo>
                    <a:pt x="5797" y="1730"/>
                  </a:lnTo>
                  <a:lnTo>
                    <a:pt x="5797" y="1730"/>
                  </a:lnTo>
                  <a:lnTo>
                    <a:pt x="5748" y="1754"/>
                  </a:lnTo>
                  <a:lnTo>
                    <a:pt x="5699" y="1754"/>
                  </a:lnTo>
                  <a:lnTo>
                    <a:pt x="5553" y="1754"/>
                  </a:lnTo>
                  <a:lnTo>
                    <a:pt x="5383" y="1657"/>
                  </a:lnTo>
                  <a:lnTo>
                    <a:pt x="5212" y="1535"/>
                  </a:lnTo>
                  <a:lnTo>
                    <a:pt x="5212" y="1535"/>
                  </a:lnTo>
                  <a:lnTo>
                    <a:pt x="5066" y="1389"/>
                  </a:lnTo>
                  <a:lnTo>
                    <a:pt x="4896" y="1316"/>
                  </a:lnTo>
                  <a:lnTo>
                    <a:pt x="4749" y="1292"/>
                  </a:lnTo>
                  <a:lnTo>
                    <a:pt x="4701" y="1316"/>
                  </a:lnTo>
                  <a:lnTo>
                    <a:pt x="4652" y="1340"/>
                  </a:lnTo>
                  <a:lnTo>
                    <a:pt x="4652" y="1340"/>
                  </a:lnTo>
                  <a:lnTo>
                    <a:pt x="4555" y="1413"/>
                  </a:lnTo>
                  <a:lnTo>
                    <a:pt x="4457" y="1486"/>
                  </a:lnTo>
                  <a:lnTo>
                    <a:pt x="4360" y="1511"/>
                  </a:lnTo>
                  <a:lnTo>
                    <a:pt x="4262" y="1535"/>
                  </a:lnTo>
                  <a:lnTo>
                    <a:pt x="4262" y="1535"/>
                  </a:lnTo>
                  <a:lnTo>
                    <a:pt x="4116" y="1559"/>
                  </a:lnTo>
                  <a:lnTo>
                    <a:pt x="4043" y="1584"/>
                  </a:lnTo>
                  <a:lnTo>
                    <a:pt x="3994" y="1633"/>
                  </a:lnTo>
                  <a:lnTo>
                    <a:pt x="3994" y="1633"/>
                  </a:lnTo>
                  <a:lnTo>
                    <a:pt x="3946" y="1657"/>
                  </a:lnTo>
                  <a:lnTo>
                    <a:pt x="3873" y="1681"/>
                  </a:lnTo>
                  <a:lnTo>
                    <a:pt x="3702" y="1730"/>
                  </a:lnTo>
                  <a:lnTo>
                    <a:pt x="3702" y="1730"/>
                  </a:lnTo>
                  <a:lnTo>
                    <a:pt x="3605" y="1730"/>
                  </a:lnTo>
                  <a:lnTo>
                    <a:pt x="3507" y="1779"/>
                  </a:lnTo>
                  <a:lnTo>
                    <a:pt x="3410" y="1827"/>
                  </a:lnTo>
                  <a:lnTo>
                    <a:pt x="3312" y="1900"/>
                  </a:lnTo>
                  <a:lnTo>
                    <a:pt x="3312" y="1900"/>
                  </a:lnTo>
                  <a:lnTo>
                    <a:pt x="3288" y="1949"/>
                  </a:lnTo>
                  <a:lnTo>
                    <a:pt x="3288" y="2022"/>
                  </a:lnTo>
                  <a:lnTo>
                    <a:pt x="3288" y="2144"/>
                  </a:lnTo>
                  <a:lnTo>
                    <a:pt x="3386" y="2314"/>
                  </a:lnTo>
                  <a:lnTo>
                    <a:pt x="3507" y="2485"/>
                  </a:lnTo>
                  <a:lnTo>
                    <a:pt x="3507" y="2485"/>
                  </a:lnTo>
                  <a:lnTo>
                    <a:pt x="3605" y="2558"/>
                  </a:lnTo>
                  <a:lnTo>
                    <a:pt x="3702" y="2582"/>
                  </a:lnTo>
                  <a:lnTo>
                    <a:pt x="3800" y="2607"/>
                  </a:lnTo>
                  <a:lnTo>
                    <a:pt x="3921" y="2607"/>
                  </a:lnTo>
                  <a:lnTo>
                    <a:pt x="4043" y="2582"/>
                  </a:lnTo>
                  <a:lnTo>
                    <a:pt x="4141" y="2534"/>
                  </a:lnTo>
                  <a:lnTo>
                    <a:pt x="4262" y="2461"/>
                  </a:lnTo>
                  <a:lnTo>
                    <a:pt x="4360" y="2388"/>
                  </a:lnTo>
                  <a:lnTo>
                    <a:pt x="4360" y="2388"/>
                  </a:lnTo>
                  <a:lnTo>
                    <a:pt x="4555" y="2193"/>
                  </a:lnTo>
                  <a:lnTo>
                    <a:pt x="4749" y="2047"/>
                  </a:lnTo>
                  <a:lnTo>
                    <a:pt x="4920" y="1949"/>
                  </a:lnTo>
                  <a:lnTo>
                    <a:pt x="5042" y="1900"/>
                  </a:lnTo>
                  <a:lnTo>
                    <a:pt x="5042" y="1900"/>
                  </a:lnTo>
                  <a:lnTo>
                    <a:pt x="5115" y="1925"/>
                  </a:lnTo>
                  <a:lnTo>
                    <a:pt x="5163" y="1974"/>
                  </a:lnTo>
                  <a:lnTo>
                    <a:pt x="5212" y="2022"/>
                  </a:lnTo>
                  <a:lnTo>
                    <a:pt x="5212" y="2095"/>
                  </a:lnTo>
                  <a:lnTo>
                    <a:pt x="5212" y="2095"/>
                  </a:lnTo>
                  <a:lnTo>
                    <a:pt x="5236" y="2168"/>
                  </a:lnTo>
                  <a:lnTo>
                    <a:pt x="5285" y="2241"/>
                  </a:lnTo>
                  <a:lnTo>
                    <a:pt x="5334" y="2266"/>
                  </a:lnTo>
                  <a:lnTo>
                    <a:pt x="5407" y="2290"/>
                  </a:lnTo>
                  <a:lnTo>
                    <a:pt x="5407" y="2290"/>
                  </a:lnTo>
                  <a:lnTo>
                    <a:pt x="5504" y="2314"/>
                  </a:lnTo>
                  <a:lnTo>
                    <a:pt x="5602" y="2339"/>
                  </a:lnTo>
                  <a:lnTo>
                    <a:pt x="5699" y="2412"/>
                  </a:lnTo>
                  <a:lnTo>
                    <a:pt x="5797" y="2485"/>
                  </a:lnTo>
                  <a:lnTo>
                    <a:pt x="5797" y="2485"/>
                  </a:lnTo>
                  <a:lnTo>
                    <a:pt x="5845" y="2558"/>
                  </a:lnTo>
                  <a:lnTo>
                    <a:pt x="5870" y="2680"/>
                  </a:lnTo>
                  <a:lnTo>
                    <a:pt x="5845" y="2777"/>
                  </a:lnTo>
                  <a:lnTo>
                    <a:pt x="5797" y="2850"/>
                  </a:lnTo>
                  <a:lnTo>
                    <a:pt x="5797" y="2850"/>
                  </a:lnTo>
                  <a:lnTo>
                    <a:pt x="5699" y="2923"/>
                  </a:lnTo>
                  <a:lnTo>
                    <a:pt x="5602" y="2996"/>
                  </a:lnTo>
                  <a:lnTo>
                    <a:pt x="5504" y="3045"/>
                  </a:lnTo>
                  <a:lnTo>
                    <a:pt x="5407" y="3045"/>
                  </a:lnTo>
                  <a:lnTo>
                    <a:pt x="5407" y="3045"/>
                  </a:lnTo>
                  <a:lnTo>
                    <a:pt x="5310" y="3069"/>
                  </a:lnTo>
                  <a:lnTo>
                    <a:pt x="5163" y="3167"/>
                  </a:lnTo>
                  <a:lnTo>
                    <a:pt x="4993" y="3289"/>
                  </a:lnTo>
                  <a:lnTo>
                    <a:pt x="4847" y="3435"/>
                  </a:lnTo>
                  <a:lnTo>
                    <a:pt x="4847" y="3435"/>
                  </a:lnTo>
                  <a:lnTo>
                    <a:pt x="4676" y="3581"/>
                  </a:lnTo>
                  <a:lnTo>
                    <a:pt x="4506" y="3703"/>
                  </a:lnTo>
                  <a:lnTo>
                    <a:pt x="4384" y="3776"/>
                  </a:lnTo>
                  <a:lnTo>
                    <a:pt x="4262" y="3800"/>
                  </a:lnTo>
                  <a:lnTo>
                    <a:pt x="4262" y="3800"/>
                  </a:lnTo>
                  <a:lnTo>
                    <a:pt x="4141" y="3849"/>
                  </a:lnTo>
                  <a:lnTo>
                    <a:pt x="3970" y="3971"/>
                  </a:lnTo>
                  <a:lnTo>
                    <a:pt x="3726" y="4165"/>
                  </a:lnTo>
                  <a:lnTo>
                    <a:pt x="3483" y="4409"/>
                  </a:lnTo>
                  <a:lnTo>
                    <a:pt x="3142" y="4750"/>
                  </a:lnTo>
                  <a:lnTo>
                    <a:pt x="3142" y="4750"/>
                  </a:lnTo>
                  <a:lnTo>
                    <a:pt x="3020" y="4847"/>
                  </a:lnTo>
                  <a:lnTo>
                    <a:pt x="2874" y="4969"/>
                  </a:lnTo>
                  <a:lnTo>
                    <a:pt x="2557" y="5164"/>
                  </a:lnTo>
                  <a:lnTo>
                    <a:pt x="2265" y="5286"/>
                  </a:lnTo>
                  <a:lnTo>
                    <a:pt x="2119" y="5310"/>
                  </a:lnTo>
                  <a:lnTo>
                    <a:pt x="1997" y="5335"/>
                  </a:lnTo>
                  <a:lnTo>
                    <a:pt x="1997" y="5335"/>
                  </a:lnTo>
                  <a:lnTo>
                    <a:pt x="1754" y="5335"/>
                  </a:lnTo>
                  <a:lnTo>
                    <a:pt x="1535" y="5383"/>
                  </a:lnTo>
                  <a:lnTo>
                    <a:pt x="1364" y="5456"/>
                  </a:lnTo>
                  <a:lnTo>
                    <a:pt x="1242" y="5529"/>
                  </a:lnTo>
                  <a:lnTo>
                    <a:pt x="1242" y="5529"/>
                  </a:lnTo>
                  <a:lnTo>
                    <a:pt x="1169" y="5602"/>
                  </a:lnTo>
                  <a:lnTo>
                    <a:pt x="1096" y="5700"/>
                  </a:lnTo>
                  <a:lnTo>
                    <a:pt x="1047" y="5797"/>
                  </a:lnTo>
                  <a:lnTo>
                    <a:pt x="1047" y="5895"/>
                  </a:lnTo>
                  <a:lnTo>
                    <a:pt x="1047" y="5895"/>
                  </a:lnTo>
                  <a:lnTo>
                    <a:pt x="1047" y="5992"/>
                  </a:lnTo>
                  <a:lnTo>
                    <a:pt x="1096" y="6090"/>
                  </a:lnTo>
                  <a:lnTo>
                    <a:pt x="1169" y="6187"/>
                  </a:lnTo>
                  <a:lnTo>
                    <a:pt x="1242" y="6284"/>
                  </a:lnTo>
                  <a:lnTo>
                    <a:pt x="1242" y="6284"/>
                  </a:lnTo>
                  <a:lnTo>
                    <a:pt x="1315" y="6357"/>
                  </a:lnTo>
                  <a:lnTo>
                    <a:pt x="1413" y="6406"/>
                  </a:lnTo>
                  <a:lnTo>
                    <a:pt x="1535" y="6455"/>
                  </a:lnTo>
                  <a:lnTo>
                    <a:pt x="1608" y="6455"/>
                  </a:lnTo>
                  <a:lnTo>
                    <a:pt x="1608" y="6455"/>
                  </a:lnTo>
                  <a:lnTo>
                    <a:pt x="1729" y="6504"/>
                  </a:lnTo>
                  <a:lnTo>
                    <a:pt x="1876" y="6601"/>
                  </a:lnTo>
                  <a:lnTo>
                    <a:pt x="2070" y="6747"/>
                  </a:lnTo>
                  <a:lnTo>
                    <a:pt x="2290" y="6942"/>
                  </a:lnTo>
                  <a:lnTo>
                    <a:pt x="2290" y="6942"/>
                  </a:lnTo>
                  <a:lnTo>
                    <a:pt x="2484" y="7137"/>
                  </a:lnTo>
                  <a:lnTo>
                    <a:pt x="2679" y="7283"/>
                  </a:lnTo>
                  <a:lnTo>
                    <a:pt x="2825" y="7380"/>
                  </a:lnTo>
                  <a:lnTo>
                    <a:pt x="2947" y="7405"/>
                  </a:lnTo>
                  <a:lnTo>
                    <a:pt x="2947" y="7405"/>
                  </a:lnTo>
                  <a:lnTo>
                    <a:pt x="3093" y="7380"/>
                  </a:lnTo>
                  <a:lnTo>
                    <a:pt x="3166" y="7356"/>
                  </a:lnTo>
                  <a:lnTo>
                    <a:pt x="3239" y="7332"/>
                  </a:lnTo>
                  <a:lnTo>
                    <a:pt x="3239" y="7332"/>
                  </a:lnTo>
                  <a:lnTo>
                    <a:pt x="3288" y="7283"/>
                  </a:lnTo>
                  <a:lnTo>
                    <a:pt x="3410" y="7259"/>
                  </a:lnTo>
                  <a:lnTo>
                    <a:pt x="3556" y="7234"/>
                  </a:lnTo>
                  <a:lnTo>
                    <a:pt x="3702" y="7234"/>
                  </a:lnTo>
                  <a:lnTo>
                    <a:pt x="3702" y="7234"/>
                  </a:lnTo>
                  <a:lnTo>
                    <a:pt x="3873" y="7234"/>
                  </a:lnTo>
                  <a:lnTo>
                    <a:pt x="4019" y="7283"/>
                  </a:lnTo>
                  <a:lnTo>
                    <a:pt x="4165" y="7332"/>
                  </a:lnTo>
                  <a:lnTo>
                    <a:pt x="4262" y="7429"/>
                  </a:lnTo>
                  <a:lnTo>
                    <a:pt x="4262" y="7429"/>
                  </a:lnTo>
                  <a:lnTo>
                    <a:pt x="4360" y="7502"/>
                  </a:lnTo>
                  <a:lnTo>
                    <a:pt x="4457" y="7551"/>
                  </a:lnTo>
                  <a:lnTo>
                    <a:pt x="4555" y="7600"/>
                  </a:lnTo>
                  <a:lnTo>
                    <a:pt x="4652" y="7600"/>
                  </a:lnTo>
                  <a:lnTo>
                    <a:pt x="4652" y="7600"/>
                  </a:lnTo>
                  <a:lnTo>
                    <a:pt x="4749" y="7648"/>
                  </a:lnTo>
                  <a:lnTo>
                    <a:pt x="4896" y="7721"/>
                  </a:lnTo>
                  <a:lnTo>
                    <a:pt x="5066" y="7843"/>
                  </a:lnTo>
                  <a:lnTo>
                    <a:pt x="5212" y="7989"/>
                  </a:lnTo>
                  <a:lnTo>
                    <a:pt x="5212" y="7989"/>
                  </a:lnTo>
                  <a:lnTo>
                    <a:pt x="5383" y="8135"/>
                  </a:lnTo>
                  <a:lnTo>
                    <a:pt x="5553" y="8257"/>
                  </a:lnTo>
                  <a:lnTo>
                    <a:pt x="5699" y="8330"/>
                  </a:lnTo>
                  <a:lnTo>
                    <a:pt x="5797" y="8355"/>
                  </a:lnTo>
                  <a:lnTo>
                    <a:pt x="5797" y="8355"/>
                  </a:lnTo>
                  <a:lnTo>
                    <a:pt x="5870" y="8379"/>
                  </a:lnTo>
                  <a:lnTo>
                    <a:pt x="5992" y="8428"/>
                  </a:lnTo>
                  <a:lnTo>
                    <a:pt x="6089" y="8476"/>
                  </a:lnTo>
                  <a:lnTo>
                    <a:pt x="6162" y="8549"/>
                  </a:lnTo>
                  <a:lnTo>
                    <a:pt x="6162" y="8549"/>
                  </a:lnTo>
                  <a:lnTo>
                    <a:pt x="6259" y="8622"/>
                  </a:lnTo>
                  <a:lnTo>
                    <a:pt x="6357" y="8695"/>
                  </a:lnTo>
                  <a:lnTo>
                    <a:pt x="6454" y="8720"/>
                  </a:lnTo>
                  <a:lnTo>
                    <a:pt x="6552" y="8744"/>
                  </a:lnTo>
                  <a:lnTo>
                    <a:pt x="6552" y="8744"/>
                  </a:lnTo>
                  <a:lnTo>
                    <a:pt x="6649" y="8769"/>
                  </a:lnTo>
                  <a:lnTo>
                    <a:pt x="6747" y="8793"/>
                  </a:lnTo>
                  <a:lnTo>
                    <a:pt x="6844" y="8866"/>
                  </a:lnTo>
                  <a:lnTo>
                    <a:pt x="6941" y="8939"/>
                  </a:lnTo>
                  <a:lnTo>
                    <a:pt x="6941" y="8939"/>
                  </a:lnTo>
                  <a:lnTo>
                    <a:pt x="7014" y="9036"/>
                  </a:lnTo>
                  <a:lnTo>
                    <a:pt x="7063" y="9134"/>
                  </a:lnTo>
                  <a:lnTo>
                    <a:pt x="7112" y="9231"/>
                  </a:lnTo>
                  <a:lnTo>
                    <a:pt x="7112" y="9304"/>
                  </a:lnTo>
                  <a:lnTo>
                    <a:pt x="7112" y="9304"/>
                  </a:lnTo>
                  <a:lnTo>
                    <a:pt x="7112" y="9402"/>
                  </a:lnTo>
                  <a:lnTo>
                    <a:pt x="7063" y="9499"/>
                  </a:lnTo>
                  <a:lnTo>
                    <a:pt x="7014" y="9597"/>
                  </a:lnTo>
                  <a:lnTo>
                    <a:pt x="6941" y="9694"/>
                  </a:lnTo>
                  <a:lnTo>
                    <a:pt x="6941" y="9694"/>
                  </a:lnTo>
                  <a:lnTo>
                    <a:pt x="6868" y="9791"/>
                  </a:lnTo>
                  <a:lnTo>
                    <a:pt x="6795" y="9889"/>
                  </a:lnTo>
                  <a:lnTo>
                    <a:pt x="6747" y="9986"/>
                  </a:lnTo>
                  <a:lnTo>
                    <a:pt x="6747" y="10084"/>
                  </a:lnTo>
                  <a:lnTo>
                    <a:pt x="6747" y="10084"/>
                  </a:lnTo>
                  <a:lnTo>
                    <a:pt x="6722" y="10181"/>
                  </a:lnTo>
                  <a:lnTo>
                    <a:pt x="6625" y="10327"/>
                  </a:lnTo>
                  <a:lnTo>
                    <a:pt x="6503" y="10473"/>
                  </a:lnTo>
                  <a:lnTo>
                    <a:pt x="6357" y="10644"/>
                  </a:lnTo>
                  <a:lnTo>
                    <a:pt x="6357" y="10644"/>
                  </a:lnTo>
                  <a:lnTo>
                    <a:pt x="6211" y="10814"/>
                  </a:lnTo>
                  <a:lnTo>
                    <a:pt x="6089" y="10961"/>
                  </a:lnTo>
                  <a:lnTo>
                    <a:pt x="6016" y="11107"/>
                  </a:lnTo>
                  <a:lnTo>
                    <a:pt x="5992" y="11204"/>
                  </a:lnTo>
                  <a:lnTo>
                    <a:pt x="5992" y="11204"/>
                  </a:lnTo>
                  <a:lnTo>
                    <a:pt x="5943" y="11326"/>
                  </a:lnTo>
                  <a:lnTo>
                    <a:pt x="5870" y="11472"/>
                  </a:lnTo>
                  <a:lnTo>
                    <a:pt x="5748" y="11618"/>
                  </a:lnTo>
                  <a:lnTo>
                    <a:pt x="5602" y="11789"/>
                  </a:lnTo>
                  <a:lnTo>
                    <a:pt x="5602" y="11789"/>
                  </a:lnTo>
                  <a:lnTo>
                    <a:pt x="5456" y="11935"/>
                  </a:lnTo>
                  <a:lnTo>
                    <a:pt x="5334" y="12105"/>
                  </a:lnTo>
                  <a:lnTo>
                    <a:pt x="5261" y="12251"/>
                  </a:lnTo>
                  <a:lnTo>
                    <a:pt x="5212" y="12349"/>
                  </a:lnTo>
                  <a:lnTo>
                    <a:pt x="5212" y="12349"/>
                  </a:lnTo>
                  <a:lnTo>
                    <a:pt x="5188" y="12446"/>
                  </a:lnTo>
                  <a:lnTo>
                    <a:pt x="5139" y="12568"/>
                  </a:lnTo>
                  <a:lnTo>
                    <a:pt x="5042" y="12714"/>
                  </a:lnTo>
                  <a:lnTo>
                    <a:pt x="4944" y="12836"/>
                  </a:lnTo>
                  <a:lnTo>
                    <a:pt x="4944" y="12836"/>
                  </a:lnTo>
                  <a:lnTo>
                    <a:pt x="4822" y="12958"/>
                  </a:lnTo>
                  <a:lnTo>
                    <a:pt x="4725" y="13079"/>
                  </a:lnTo>
                  <a:lnTo>
                    <a:pt x="4676" y="13201"/>
                  </a:lnTo>
                  <a:lnTo>
                    <a:pt x="4652" y="13299"/>
                  </a:lnTo>
                  <a:lnTo>
                    <a:pt x="4652" y="13299"/>
                  </a:lnTo>
                  <a:lnTo>
                    <a:pt x="4676" y="13469"/>
                  </a:lnTo>
                  <a:lnTo>
                    <a:pt x="4701" y="13542"/>
                  </a:lnTo>
                  <a:lnTo>
                    <a:pt x="4749" y="13591"/>
                  </a:lnTo>
                  <a:lnTo>
                    <a:pt x="4749" y="13591"/>
                  </a:lnTo>
                  <a:lnTo>
                    <a:pt x="4774" y="13640"/>
                  </a:lnTo>
                  <a:lnTo>
                    <a:pt x="4822" y="13713"/>
                  </a:lnTo>
                  <a:lnTo>
                    <a:pt x="4847" y="13883"/>
                  </a:lnTo>
                  <a:lnTo>
                    <a:pt x="4847" y="13883"/>
                  </a:lnTo>
                  <a:lnTo>
                    <a:pt x="4822" y="13956"/>
                  </a:lnTo>
                  <a:lnTo>
                    <a:pt x="4774" y="14005"/>
                  </a:lnTo>
                  <a:lnTo>
                    <a:pt x="4725" y="14054"/>
                  </a:lnTo>
                  <a:lnTo>
                    <a:pt x="4652" y="14054"/>
                  </a:lnTo>
                  <a:lnTo>
                    <a:pt x="4652" y="14054"/>
                  </a:lnTo>
                  <a:lnTo>
                    <a:pt x="4555" y="14054"/>
                  </a:lnTo>
                  <a:lnTo>
                    <a:pt x="4457" y="14005"/>
                  </a:lnTo>
                  <a:lnTo>
                    <a:pt x="4360" y="13956"/>
                  </a:lnTo>
                  <a:lnTo>
                    <a:pt x="4262" y="13883"/>
                  </a:lnTo>
                  <a:lnTo>
                    <a:pt x="4262" y="13883"/>
                  </a:lnTo>
                  <a:lnTo>
                    <a:pt x="4189" y="13761"/>
                  </a:lnTo>
                  <a:lnTo>
                    <a:pt x="4141" y="13615"/>
                  </a:lnTo>
                  <a:lnTo>
                    <a:pt x="4092" y="13469"/>
                  </a:lnTo>
                  <a:lnTo>
                    <a:pt x="4092" y="13299"/>
                  </a:lnTo>
                  <a:lnTo>
                    <a:pt x="4092" y="13299"/>
                  </a:lnTo>
                  <a:lnTo>
                    <a:pt x="4067" y="13152"/>
                  </a:lnTo>
                  <a:lnTo>
                    <a:pt x="4019" y="12982"/>
                  </a:lnTo>
                  <a:lnTo>
                    <a:pt x="3970" y="12836"/>
                  </a:lnTo>
                  <a:lnTo>
                    <a:pt x="3897" y="12738"/>
                  </a:lnTo>
                  <a:lnTo>
                    <a:pt x="3897" y="12738"/>
                  </a:lnTo>
                  <a:lnTo>
                    <a:pt x="3848" y="12690"/>
                  </a:lnTo>
                  <a:lnTo>
                    <a:pt x="3824" y="12592"/>
                  </a:lnTo>
                  <a:lnTo>
                    <a:pt x="3751" y="12349"/>
                  </a:lnTo>
                  <a:lnTo>
                    <a:pt x="3726" y="12056"/>
                  </a:lnTo>
                  <a:lnTo>
                    <a:pt x="3702" y="11716"/>
                  </a:lnTo>
                  <a:lnTo>
                    <a:pt x="3702" y="11472"/>
                  </a:lnTo>
                  <a:lnTo>
                    <a:pt x="3702" y="11472"/>
                  </a:lnTo>
                  <a:lnTo>
                    <a:pt x="3702" y="11301"/>
                  </a:lnTo>
                  <a:lnTo>
                    <a:pt x="3653" y="11107"/>
                  </a:lnTo>
                  <a:lnTo>
                    <a:pt x="3629" y="10936"/>
                  </a:lnTo>
                  <a:lnTo>
                    <a:pt x="3556" y="10741"/>
                  </a:lnTo>
                  <a:lnTo>
                    <a:pt x="3483" y="10571"/>
                  </a:lnTo>
                  <a:lnTo>
                    <a:pt x="3410" y="10425"/>
                  </a:lnTo>
                  <a:lnTo>
                    <a:pt x="3312" y="10279"/>
                  </a:lnTo>
                  <a:lnTo>
                    <a:pt x="3239" y="10181"/>
                  </a:lnTo>
                  <a:lnTo>
                    <a:pt x="3239" y="10181"/>
                  </a:lnTo>
                  <a:lnTo>
                    <a:pt x="3045" y="9962"/>
                  </a:lnTo>
                  <a:lnTo>
                    <a:pt x="2898" y="9767"/>
                  </a:lnTo>
                  <a:lnTo>
                    <a:pt x="2801" y="9621"/>
                  </a:lnTo>
                  <a:lnTo>
                    <a:pt x="2752" y="9499"/>
                  </a:lnTo>
                  <a:lnTo>
                    <a:pt x="2752" y="9499"/>
                  </a:lnTo>
                  <a:lnTo>
                    <a:pt x="2728" y="9353"/>
                  </a:lnTo>
                  <a:lnTo>
                    <a:pt x="2704" y="9280"/>
                  </a:lnTo>
                  <a:lnTo>
                    <a:pt x="2655" y="9231"/>
                  </a:lnTo>
                  <a:lnTo>
                    <a:pt x="2655" y="9231"/>
                  </a:lnTo>
                  <a:lnTo>
                    <a:pt x="2631" y="9158"/>
                  </a:lnTo>
                  <a:lnTo>
                    <a:pt x="2582" y="9036"/>
                  </a:lnTo>
                  <a:lnTo>
                    <a:pt x="2582" y="8890"/>
                  </a:lnTo>
                  <a:lnTo>
                    <a:pt x="2557" y="8744"/>
                  </a:lnTo>
                  <a:lnTo>
                    <a:pt x="2557" y="8744"/>
                  </a:lnTo>
                  <a:lnTo>
                    <a:pt x="2582" y="8598"/>
                  </a:lnTo>
                  <a:lnTo>
                    <a:pt x="2582" y="8452"/>
                  </a:lnTo>
                  <a:lnTo>
                    <a:pt x="2631" y="8330"/>
                  </a:lnTo>
                  <a:lnTo>
                    <a:pt x="2655" y="8281"/>
                  </a:lnTo>
                  <a:lnTo>
                    <a:pt x="2655" y="8281"/>
                  </a:lnTo>
                  <a:lnTo>
                    <a:pt x="2704" y="8208"/>
                  </a:lnTo>
                  <a:lnTo>
                    <a:pt x="2728" y="8160"/>
                  </a:lnTo>
                  <a:lnTo>
                    <a:pt x="2752" y="7989"/>
                  </a:lnTo>
                  <a:lnTo>
                    <a:pt x="2752" y="7989"/>
                  </a:lnTo>
                  <a:lnTo>
                    <a:pt x="2728" y="7819"/>
                  </a:lnTo>
                  <a:lnTo>
                    <a:pt x="2704" y="7746"/>
                  </a:lnTo>
                  <a:lnTo>
                    <a:pt x="2655" y="7697"/>
                  </a:lnTo>
                  <a:lnTo>
                    <a:pt x="2655" y="7697"/>
                  </a:lnTo>
                  <a:lnTo>
                    <a:pt x="2606" y="7673"/>
                  </a:lnTo>
                  <a:lnTo>
                    <a:pt x="2533" y="7624"/>
                  </a:lnTo>
                  <a:lnTo>
                    <a:pt x="2363" y="7600"/>
                  </a:lnTo>
                  <a:lnTo>
                    <a:pt x="2363" y="7600"/>
                  </a:lnTo>
                  <a:lnTo>
                    <a:pt x="2265" y="7575"/>
                  </a:lnTo>
                  <a:lnTo>
                    <a:pt x="2119" y="7502"/>
                  </a:lnTo>
                  <a:lnTo>
                    <a:pt x="1973" y="7380"/>
                  </a:lnTo>
                  <a:lnTo>
                    <a:pt x="1802" y="7234"/>
                  </a:lnTo>
                  <a:lnTo>
                    <a:pt x="1802" y="7234"/>
                  </a:lnTo>
                  <a:lnTo>
                    <a:pt x="1632" y="7088"/>
                  </a:lnTo>
                  <a:lnTo>
                    <a:pt x="1486" y="6966"/>
                  </a:lnTo>
                  <a:lnTo>
                    <a:pt x="1340" y="6869"/>
                  </a:lnTo>
                  <a:lnTo>
                    <a:pt x="1242" y="6845"/>
                  </a:lnTo>
                  <a:lnTo>
                    <a:pt x="1242" y="6845"/>
                  </a:lnTo>
                  <a:lnTo>
                    <a:pt x="1121" y="6796"/>
                  </a:lnTo>
                  <a:lnTo>
                    <a:pt x="926" y="6674"/>
                  </a:lnTo>
                  <a:lnTo>
                    <a:pt x="706" y="6504"/>
                  </a:lnTo>
                  <a:lnTo>
                    <a:pt x="463" y="6284"/>
                  </a:lnTo>
                  <a:lnTo>
                    <a:pt x="463" y="6284"/>
                  </a:lnTo>
                  <a:lnTo>
                    <a:pt x="171" y="5919"/>
                  </a:lnTo>
                  <a:lnTo>
                    <a:pt x="0" y="5700"/>
                  </a:lnTo>
                  <a:lnTo>
                    <a:pt x="0" y="5700"/>
                  </a:lnTo>
                  <a:lnTo>
                    <a:pt x="0" y="5724"/>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756"/>
            <p:cNvSpPr/>
            <p:nvPr/>
          </p:nvSpPr>
          <p:spPr>
            <a:xfrm>
              <a:off x="6128575" y="3695900"/>
              <a:ext cx="86475" cy="47525"/>
            </a:xfrm>
            <a:custGeom>
              <a:avLst/>
              <a:gdLst/>
              <a:ahLst/>
              <a:cxnLst/>
              <a:rect l="0" t="0" r="0" b="0"/>
              <a:pathLst>
                <a:path w="3459" h="1901" fill="none" extrusionOk="0">
                  <a:moveTo>
                    <a:pt x="2022" y="1340"/>
                  </a:moveTo>
                  <a:lnTo>
                    <a:pt x="2022" y="1340"/>
                  </a:lnTo>
                  <a:lnTo>
                    <a:pt x="1924" y="1413"/>
                  </a:lnTo>
                  <a:lnTo>
                    <a:pt x="1827" y="1486"/>
                  </a:lnTo>
                  <a:lnTo>
                    <a:pt x="1729" y="1511"/>
                  </a:lnTo>
                  <a:lnTo>
                    <a:pt x="1632" y="1535"/>
                  </a:lnTo>
                  <a:lnTo>
                    <a:pt x="1632" y="1535"/>
                  </a:lnTo>
                  <a:lnTo>
                    <a:pt x="1559" y="1535"/>
                  </a:lnTo>
                  <a:lnTo>
                    <a:pt x="1461" y="1584"/>
                  </a:lnTo>
                  <a:lnTo>
                    <a:pt x="1340" y="1657"/>
                  </a:lnTo>
                  <a:lnTo>
                    <a:pt x="1267" y="1730"/>
                  </a:lnTo>
                  <a:lnTo>
                    <a:pt x="1267" y="1730"/>
                  </a:lnTo>
                  <a:lnTo>
                    <a:pt x="1169" y="1803"/>
                  </a:lnTo>
                  <a:lnTo>
                    <a:pt x="1072" y="1852"/>
                  </a:lnTo>
                  <a:lnTo>
                    <a:pt x="974" y="1900"/>
                  </a:lnTo>
                  <a:lnTo>
                    <a:pt x="877" y="1900"/>
                  </a:lnTo>
                  <a:lnTo>
                    <a:pt x="877" y="1900"/>
                  </a:lnTo>
                  <a:lnTo>
                    <a:pt x="779" y="1900"/>
                  </a:lnTo>
                  <a:lnTo>
                    <a:pt x="682" y="1852"/>
                  </a:lnTo>
                  <a:lnTo>
                    <a:pt x="585" y="1803"/>
                  </a:lnTo>
                  <a:lnTo>
                    <a:pt x="512" y="1730"/>
                  </a:lnTo>
                  <a:lnTo>
                    <a:pt x="512" y="1730"/>
                  </a:lnTo>
                  <a:lnTo>
                    <a:pt x="438" y="1633"/>
                  </a:lnTo>
                  <a:lnTo>
                    <a:pt x="414" y="1535"/>
                  </a:lnTo>
                  <a:lnTo>
                    <a:pt x="438" y="1438"/>
                  </a:lnTo>
                  <a:lnTo>
                    <a:pt x="512" y="1340"/>
                  </a:lnTo>
                  <a:lnTo>
                    <a:pt x="512" y="1340"/>
                  </a:lnTo>
                  <a:lnTo>
                    <a:pt x="585" y="1243"/>
                  </a:lnTo>
                  <a:lnTo>
                    <a:pt x="633" y="1145"/>
                  </a:lnTo>
                  <a:lnTo>
                    <a:pt x="682" y="1048"/>
                  </a:lnTo>
                  <a:lnTo>
                    <a:pt x="682" y="951"/>
                  </a:lnTo>
                  <a:lnTo>
                    <a:pt x="682" y="951"/>
                  </a:lnTo>
                  <a:lnTo>
                    <a:pt x="658" y="804"/>
                  </a:lnTo>
                  <a:lnTo>
                    <a:pt x="633" y="731"/>
                  </a:lnTo>
                  <a:lnTo>
                    <a:pt x="585" y="683"/>
                  </a:lnTo>
                  <a:lnTo>
                    <a:pt x="585" y="683"/>
                  </a:lnTo>
                  <a:lnTo>
                    <a:pt x="536" y="634"/>
                  </a:lnTo>
                  <a:lnTo>
                    <a:pt x="463" y="610"/>
                  </a:lnTo>
                  <a:lnTo>
                    <a:pt x="317" y="585"/>
                  </a:lnTo>
                  <a:lnTo>
                    <a:pt x="317" y="585"/>
                  </a:lnTo>
                  <a:lnTo>
                    <a:pt x="146" y="561"/>
                  </a:lnTo>
                  <a:lnTo>
                    <a:pt x="73" y="512"/>
                  </a:lnTo>
                  <a:lnTo>
                    <a:pt x="24" y="488"/>
                  </a:lnTo>
                  <a:lnTo>
                    <a:pt x="24" y="488"/>
                  </a:lnTo>
                  <a:lnTo>
                    <a:pt x="0" y="439"/>
                  </a:lnTo>
                  <a:lnTo>
                    <a:pt x="24" y="366"/>
                  </a:lnTo>
                  <a:lnTo>
                    <a:pt x="49" y="293"/>
                  </a:lnTo>
                  <a:lnTo>
                    <a:pt x="122" y="196"/>
                  </a:lnTo>
                  <a:lnTo>
                    <a:pt x="122" y="196"/>
                  </a:lnTo>
                  <a:lnTo>
                    <a:pt x="171" y="171"/>
                  </a:lnTo>
                  <a:lnTo>
                    <a:pt x="268" y="123"/>
                  </a:lnTo>
                  <a:lnTo>
                    <a:pt x="512" y="74"/>
                  </a:lnTo>
                  <a:lnTo>
                    <a:pt x="804" y="25"/>
                  </a:lnTo>
                  <a:lnTo>
                    <a:pt x="1145" y="1"/>
                  </a:lnTo>
                  <a:lnTo>
                    <a:pt x="2509" y="1"/>
                  </a:lnTo>
                  <a:lnTo>
                    <a:pt x="2509" y="1"/>
                  </a:lnTo>
                  <a:lnTo>
                    <a:pt x="2850" y="25"/>
                  </a:lnTo>
                  <a:lnTo>
                    <a:pt x="3142" y="49"/>
                  </a:lnTo>
                  <a:lnTo>
                    <a:pt x="3337" y="74"/>
                  </a:lnTo>
                  <a:lnTo>
                    <a:pt x="3434" y="98"/>
                  </a:lnTo>
                  <a:lnTo>
                    <a:pt x="3434" y="98"/>
                  </a:lnTo>
                  <a:lnTo>
                    <a:pt x="3458" y="123"/>
                  </a:lnTo>
                  <a:lnTo>
                    <a:pt x="3434" y="171"/>
                  </a:lnTo>
                  <a:lnTo>
                    <a:pt x="3361" y="317"/>
                  </a:lnTo>
                  <a:lnTo>
                    <a:pt x="3239" y="488"/>
                  </a:lnTo>
                  <a:lnTo>
                    <a:pt x="3069" y="683"/>
                  </a:lnTo>
                  <a:lnTo>
                    <a:pt x="3069" y="683"/>
                  </a:lnTo>
                  <a:lnTo>
                    <a:pt x="2874" y="853"/>
                  </a:lnTo>
                  <a:lnTo>
                    <a:pt x="2679" y="999"/>
                  </a:lnTo>
                  <a:lnTo>
                    <a:pt x="2509" y="1121"/>
                  </a:lnTo>
                  <a:lnTo>
                    <a:pt x="2411" y="1145"/>
                  </a:lnTo>
                  <a:lnTo>
                    <a:pt x="2411" y="1145"/>
                  </a:lnTo>
                  <a:lnTo>
                    <a:pt x="2314" y="1170"/>
                  </a:lnTo>
                  <a:lnTo>
                    <a:pt x="2216" y="1194"/>
                  </a:lnTo>
                  <a:lnTo>
                    <a:pt x="2119" y="1267"/>
                  </a:lnTo>
                  <a:lnTo>
                    <a:pt x="2022" y="1340"/>
                  </a:lnTo>
                  <a:lnTo>
                    <a:pt x="2022" y="134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757"/>
            <p:cNvSpPr/>
            <p:nvPr/>
          </p:nvSpPr>
          <p:spPr>
            <a:xfrm>
              <a:off x="6357500" y="3940075"/>
              <a:ext cx="18900" cy="34725"/>
            </a:xfrm>
            <a:custGeom>
              <a:avLst/>
              <a:gdLst/>
              <a:ahLst/>
              <a:cxnLst/>
              <a:rect l="0" t="0" r="0" b="0"/>
              <a:pathLst>
                <a:path w="756" h="1389" fill="none" extrusionOk="0">
                  <a:moveTo>
                    <a:pt x="585" y="682"/>
                  </a:moveTo>
                  <a:lnTo>
                    <a:pt x="585" y="682"/>
                  </a:lnTo>
                  <a:lnTo>
                    <a:pt x="512" y="779"/>
                  </a:lnTo>
                  <a:lnTo>
                    <a:pt x="439" y="877"/>
                  </a:lnTo>
                  <a:lnTo>
                    <a:pt x="390" y="974"/>
                  </a:lnTo>
                  <a:lnTo>
                    <a:pt x="390" y="1072"/>
                  </a:lnTo>
                  <a:lnTo>
                    <a:pt x="390" y="1072"/>
                  </a:lnTo>
                  <a:lnTo>
                    <a:pt x="366" y="1218"/>
                  </a:lnTo>
                  <a:lnTo>
                    <a:pt x="317" y="1291"/>
                  </a:lnTo>
                  <a:lnTo>
                    <a:pt x="293" y="1364"/>
                  </a:lnTo>
                  <a:lnTo>
                    <a:pt x="293" y="1364"/>
                  </a:lnTo>
                  <a:lnTo>
                    <a:pt x="244" y="1388"/>
                  </a:lnTo>
                  <a:lnTo>
                    <a:pt x="195" y="1388"/>
                  </a:lnTo>
                  <a:lnTo>
                    <a:pt x="147" y="1388"/>
                  </a:lnTo>
                  <a:lnTo>
                    <a:pt x="98" y="1364"/>
                  </a:lnTo>
                  <a:lnTo>
                    <a:pt x="98" y="1364"/>
                  </a:lnTo>
                  <a:lnTo>
                    <a:pt x="74" y="1291"/>
                  </a:lnTo>
                  <a:lnTo>
                    <a:pt x="25" y="1169"/>
                  </a:lnTo>
                  <a:lnTo>
                    <a:pt x="25" y="1023"/>
                  </a:lnTo>
                  <a:lnTo>
                    <a:pt x="1" y="877"/>
                  </a:lnTo>
                  <a:lnTo>
                    <a:pt x="1" y="877"/>
                  </a:lnTo>
                  <a:lnTo>
                    <a:pt x="25" y="706"/>
                  </a:lnTo>
                  <a:lnTo>
                    <a:pt x="98" y="536"/>
                  </a:lnTo>
                  <a:lnTo>
                    <a:pt x="171" y="365"/>
                  </a:lnTo>
                  <a:lnTo>
                    <a:pt x="293" y="219"/>
                  </a:lnTo>
                  <a:lnTo>
                    <a:pt x="293" y="219"/>
                  </a:lnTo>
                  <a:lnTo>
                    <a:pt x="415" y="122"/>
                  </a:lnTo>
                  <a:lnTo>
                    <a:pt x="512" y="49"/>
                  </a:lnTo>
                  <a:lnTo>
                    <a:pt x="609" y="0"/>
                  </a:lnTo>
                  <a:lnTo>
                    <a:pt x="682" y="24"/>
                  </a:lnTo>
                  <a:lnTo>
                    <a:pt x="682" y="24"/>
                  </a:lnTo>
                  <a:lnTo>
                    <a:pt x="707" y="73"/>
                  </a:lnTo>
                  <a:lnTo>
                    <a:pt x="731" y="146"/>
                  </a:lnTo>
                  <a:lnTo>
                    <a:pt x="756" y="317"/>
                  </a:lnTo>
                  <a:lnTo>
                    <a:pt x="756" y="317"/>
                  </a:lnTo>
                  <a:lnTo>
                    <a:pt x="756" y="390"/>
                  </a:lnTo>
                  <a:lnTo>
                    <a:pt x="707" y="487"/>
                  </a:lnTo>
                  <a:lnTo>
                    <a:pt x="658" y="609"/>
                  </a:lnTo>
                  <a:lnTo>
                    <a:pt x="585" y="682"/>
                  </a:lnTo>
                  <a:lnTo>
                    <a:pt x="585" y="682"/>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3" name="Shape 758"/>
            <p:cNvSpPr/>
            <p:nvPr/>
          </p:nvSpPr>
          <p:spPr>
            <a:xfrm>
              <a:off x="6202850" y="3720875"/>
              <a:ext cx="204000" cy="278875"/>
            </a:xfrm>
            <a:custGeom>
              <a:avLst/>
              <a:gdLst/>
              <a:ahLst/>
              <a:cxnLst/>
              <a:rect l="0" t="0" r="0" b="0"/>
              <a:pathLst>
                <a:path w="8160" h="11155" fill="none" extrusionOk="0">
                  <a:moveTo>
                    <a:pt x="8159" y="4774"/>
                  </a:moveTo>
                  <a:lnTo>
                    <a:pt x="8159" y="4774"/>
                  </a:lnTo>
                  <a:lnTo>
                    <a:pt x="7599" y="4701"/>
                  </a:lnTo>
                  <a:lnTo>
                    <a:pt x="7283" y="4652"/>
                  </a:lnTo>
                  <a:lnTo>
                    <a:pt x="7136" y="4603"/>
                  </a:lnTo>
                  <a:lnTo>
                    <a:pt x="7136" y="4603"/>
                  </a:lnTo>
                  <a:lnTo>
                    <a:pt x="7088" y="4579"/>
                  </a:lnTo>
                  <a:lnTo>
                    <a:pt x="7015" y="4555"/>
                  </a:lnTo>
                  <a:lnTo>
                    <a:pt x="6844" y="4530"/>
                  </a:lnTo>
                  <a:lnTo>
                    <a:pt x="6844" y="4530"/>
                  </a:lnTo>
                  <a:lnTo>
                    <a:pt x="6747" y="4506"/>
                  </a:lnTo>
                  <a:lnTo>
                    <a:pt x="6649" y="4457"/>
                  </a:lnTo>
                  <a:lnTo>
                    <a:pt x="6552" y="4409"/>
                  </a:lnTo>
                  <a:lnTo>
                    <a:pt x="6454" y="4336"/>
                  </a:lnTo>
                  <a:lnTo>
                    <a:pt x="6454" y="4336"/>
                  </a:lnTo>
                  <a:lnTo>
                    <a:pt x="6381" y="4262"/>
                  </a:lnTo>
                  <a:lnTo>
                    <a:pt x="6308" y="4214"/>
                  </a:lnTo>
                  <a:lnTo>
                    <a:pt x="6235" y="4214"/>
                  </a:lnTo>
                  <a:lnTo>
                    <a:pt x="6187" y="4238"/>
                  </a:lnTo>
                  <a:lnTo>
                    <a:pt x="6187" y="4238"/>
                  </a:lnTo>
                  <a:lnTo>
                    <a:pt x="6162" y="4287"/>
                  </a:lnTo>
                  <a:lnTo>
                    <a:pt x="6162" y="4360"/>
                  </a:lnTo>
                  <a:lnTo>
                    <a:pt x="6211" y="4433"/>
                  </a:lnTo>
                  <a:lnTo>
                    <a:pt x="6284" y="4530"/>
                  </a:lnTo>
                  <a:lnTo>
                    <a:pt x="6284" y="4530"/>
                  </a:lnTo>
                  <a:lnTo>
                    <a:pt x="6357" y="4603"/>
                  </a:lnTo>
                  <a:lnTo>
                    <a:pt x="6454" y="4652"/>
                  </a:lnTo>
                  <a:lnTo>
                    <a:pt x="6576" y="4701"/>
                  </a:lnTo>
                  <a:lnTo>
                    <a:pt x="6649" y="4701"/>
                  </a:lnTo>
                  <a:lnTo>
                    <a:pt x="6649" y="4701"/>
                  </a:lnTo>
                  <a:lnTo>
                    <a:pt x="6747" y="4725"/>
                  </a:lnTo>
                  <a:lnTo>
                    <a:pt x="6844" y="4774"/>
                  </a:lnTo>
                  <a:lnTo>
                    <a:pt x="6942" y="4823"/>
                  </a:lnTo>
                  <a:lnTo>
                    <a:pt x="7039" y="4896"/>
                  </a:lnTo>
                  <a:lnTo>
                    <a:pt x="7039" y="4896"/>
                  </a:lnTo>
                  <a:lnTo>
                    <a:pt x="7063" y="4944"/>
                  </a:lnTo>
                  <a:lnTo>
                    <a:pt x="7088" y="4993"/>
                  </a:lnTo>
                  <a:lnTo>
                    <a:pt x="7063" y="5139"/>
                  </a:lnTo>
                  <a:lnTo>
                    <a:pt x="6966" y="5310"/>
                  </a:lnTo>
                  <a:lnTo>
                    <a:pt x="6844" y="5480"/>
                  </a:lnTo>
                  <a:lnTo>
                    <a:pt x="6844" y="5480"/>
                  </a:lnTo>
                  <a:lnTo>
                    <a:pt x="6674" y="5626"/>
                  </a:lnTo>
                  <a:lnTo>
                    <a:pt x="6528" y="5748"/>
                  </a:lnTo>
                  <a:lnTo>
                    <a:pt x="6381" y="5821"/>
                  </a:lnTo>
                  <a:lnTo>
                    <a:pt x="6284" y="5846"/>
                  </a:lnTo>
                  <a:lnTo>
                    <a:pt x="6284" y="5846"/>
                  </a:lnTo>
                  <a:lnTo>
                    <a:pt x="6113" y="5870"/>
                  </a:lnTo>
                  <a:lnTo>
                    <a:pt x="6040" y="5894"/>
                  </a:lnTo>
                  <a:lnTo>
                    <a:pt x="5992" y="5943"/>
                  </a:lnTo>
                  <a:lnTo>
                    <a:pt x="5992" y="5943"/>
                  </a:lnTo>
                  <a:lnTo>
                    <a:pt x="5943" y="5967"/>
                  </a:lnTo>
                  <a:lnTo>
                    <a:pt x="5894" y="5992"/>
                  </a:lnTo>
                  <a:lnTo>
                    <a:pt x="5846" y="5967"/>
                  </a:lnTo>
                  <a:lnTo>
                    <a:pt x="5797" y="5943"/>
                  </a:lnTo>
                  <a:lnTo>
                    <a:pt x="5797" y="5943"/>
                  </a:lnTo>
                  <a:lnTo>
                    <a:pt x="5773" y="5894"/>
                  </a:lnTo>
                  <a:lnTo>
                    <a:pt x="5724" y="5821"/>
                  </a:lnTo>
                  <a:lnTo>
                    <a:pt x="5699" y="5651"/>
                  </a:lnTo>
                  <a:lnTo>
                    <a:pt x="5699" y="5651"/>
                  </a:lnTo>
                  <a:lnTo>
                    <a:pt x="5675" y="5553"/>
                  </a:lnTo>
                  <a:lnTo>
                    <a:pt x="5602" y="5407"/>
                  </a:lnTo>
                  <a:lnTo>
                    <a:pt x="5480" y="5261"/>
                  </a:lnTo>
                  <a:lnTo>
                    <a:pt x="5334" y="5091"/>
                  </a:lnTo>
                  <a:lnTo>
                    <a:pt x="5334" y="5091"/>
                  </a:lnTo>
                  <a:lnTo>
                    <a:pt x="5188" y="4920"/>
                  </a:lnTo>
                  <a:lnTo>
                    <a:pt x="5066" y="4774"/>
                  </a:lnTo>
                  <a:lnTo>
                    <a:pt x="4969" y="4628"/>
                  </a:lnTo>
                  <a:lnTo>
                    <a:pt x="4944" y="4530"/>
                  </a:lnTo>
                  <a:lnTo>
                    <a:pt x="4944" y="4530"/>
                  </a:lnTo>
                  <a:lnTo>
                    <a:pt x="4944" y="4457"/>
                  </a:lnTo>
                  <a:lnTo>
                    <a:pt x="4920" y="4409"/>
                  </a:lnTo>
                  <a:lnTo>
                    <a:pt x="4896" y="4409"/>
                  </a:lnTo>
                  <a:lnTo>
                    <a:pt x="4847" y="4433"/>
                  </a:lnTo>
                  <a:lnTo>
                    <a:pt x="4847" y="4433"/>
                  </a:lnTo>
                  <a:lnTo>
                    <a:pt x="4823" y="4482"/>
                  </a:lnTo>
                  <a:lnTo>
                    <a:pt x="4774" y="4555"/>
                  </a:lnTo>
                  <a:lnTo>
                    <a:pt x="4750" y="4701"/>
                  </a:lnTo>
                  <a:lnTo>
                    <a:pt x="4750" y="4701"/>
                  </a:lnTo>
                  <a:lnTo>
                    <a:pt x="4774" y="4798"/>
                  </a:lnTo>
                  <a:lnTo>
                    <a:pt x="4847" y="4920"/>
                  </a:lnTo>
                  <a:lnTo>
                    <a:pt x="4920" y="5066"/>
                  </a:lnTo>
                  <a:lnTo>
                    <a:pt x="5042" y="5188"/>
                  </a:lnTo>
                  <a:lnTo>
                    <a:pt x="5042" y="5188"/>
                  </a:lnTo>
                  <a:lnTo>
                    <a:pt x="5139" y="5310"/>
                  </a:lnTo>
                  <a:lnTo>
                    <a:pt x="5237" y="5431"/>
                  </a:lnTo>
                  <a:lnTo>
                    <a:pt x="5310" y="5553"/>
                  </a:lnTo>
                  <a:lnTo>
                    <a:pt x="5334" y="5651"/>
                  </a:lnTo>
                  <a:lnTo>
                    <a:pt x="5334" y="5651"/>
                  </a:lnTo>
                  <a:lnTo>
                    <a:pt x="5334" y="5748"/>
                  </a:lnTo>
                  <a:lnTo>
                    <a:pt x="5383" y="5846"/>
                  </a:lnTo>
                  <a:lnTo>
                    <a:pt x="5432" y="5943"/>
                  </a:lnTo>
                  <a:lnTo>
                    <a:pt x="5505" y="6040"/>
                  </a:lnTo>
                  <a:lnTo>
                    <a:pt x="5505" y="6040"/>
                  </a:lnTo>
                  <a:lnTo>
                    <a:pt x="5626" y="6113"/>
                  </a:lnTo>
                  <a:lnTo>
                    <a:pt x="5773" y="6162"/>
                  </a:lnTo>
                  <a:lnTo>
                    <a:pt x="5919" y="6211"/>
                  </a:lnTo>
                  <a:lnTo>
                    <a:pt x="6089" y="6235"/>
                  </a:lnTo>
                  <a:lnTo>
                    <a:pt x="6089" y="6235"/>
                  </a:lnTo>
                  <a:lnTo>
                    <a:pt x="6235" y="6235"/>
                  </a:lnTo>
                  <a:lnTo>
                    <a:pt x="6357" y="6284"/>
                  </a:lnTo>
                  <a:lnTo>
                    <a:pt x="6430" y="6333"/>
                  </a:lnTo>
                  <a:lnTo>
                    <a:pt x="6454" y="6381"/>
                  </a:lnTo>
                  <a:lnTo>
                    <a:pt x="6454" y="6430"/>
                  </a:lnTo>
                  <a:lnTo>
                    <a:pt x="6454" y="6430"/>
                  </a:lnTo>
                  <a:lnTo>
                    <a:pt x="6430" y="6527"/>
                  </a:lnTo>
                  <a:lnTo>
                    <a:pt x="6308" y="6722"/>
                  </a:lnTo>
                  <a:lnTo>
                    <a:pt x="6113" y="6941"/>
                  </a:lnTo>
                  <a:lnTo>
                    <a:pt x="5894" y="7185"/>
                  </a:lnTo>
                  <a:lnTo>
                    <a:pt x="5894" y="7185"/>
                  </a:lnTo>
                  <a:lnTo>
                    <a:pt x="5675" y="7429"/>
                  </a:lnTo>
                  <a:lnTo>
                    <a:pt x="5505" y="7696"/>
                  </a:lnTo>
                  <a:lnTo>
                    <a:pt x="5358" y="7940"/>
                  </a:lnTo>
                  <a:lnTo>
                    <a:pt x="5334" y="8037"/>
                  </a:lnTo>
                  <a:lnTo>
                    <a:pt x="5334" y="8135"/>
                  </a:lnTo>
                  <a:lnTo>
                    <a:pt x="5334" y="8135"/>
                  </a:lnTo>
                  <a:lnTo>
                    <a:pt x="5334" y="8281"/>
                  </a:lnTo>
                  <a:lnTo>
                    <a:pt x="5358" y="8427"/>
                  </a:lnTo>
                  <a:lnTo>
                    <a:pt x="5383" y="8525"/>
                  </a:lnTo>
                  <a:lnTo>
                    <a:pt x="5432" y="8598"/>
                  </a:lnTo>
                  <a:lnTo>
                    <a:pt x="5432" y="8598"/>
                  </a:lnTo>
                  <a:lnTo>
                    <a:pt x="5456" y="8646"/>
                  </a:lnTo>
                  <a:lnTo>
                    <a:pt x="5480" y="8719"/>
                  </a:lnTo>
                  <a:lnTo>
                    <a:pt x="5505" y="8890"/>
                  </a:lnTo>
                  <a:lnTo>
                    <a:pt x="5505" y="8890"/>
                  </a:lnTo>
                  <a:lnTo>
                    <a:pt x="5480" y="8987"/>
                  </a:lnTo>
                  <a:lnTo>
                    <a:pt x="5383" y="9158"/>
                  </a:lnTo>
                  <a:lnTo>
                    <a:pt x="5237" y="9353"/>
                  </a:lnTo>
                  <a:lnTo>
                    <a:pt x="5042" y="9547"/>
                  </a:lnTo>
                  <a:lnTo>
                    <a:pt x="5042" y="9547"/>
                  </a:lnTo>
                  <a:lnTo>
                    <a:pt x="4847" y="9742"/>
                  </a:lnTo>
                  <a:lnTo>
                    <a:pt x="4701" y="9937"/>
                  </a:lnTo>
                  <a:lnTo>
                    <a:pt x="4603" y="10108"/>
                  </a:lnTo>
                  <a:lnTo>
                    <a:pt x="4555" y="10205"/>
                  </a:lnTo>
                  <a:lnTo>
                    <a:pt x="4555" y="10205"/>
                  </a:lnTo>
                  <a:lnTo>
                    <a:pt x="4530" y="10327"/>
                  </a:lnTo>
                  <a:lnTo>
                    <a:pt x="4457" y="10473"/>
                  </a:lnTo>
                  <a:lnTo>
                    <a:pt x="4336" y="10619"/>
                  </a:lnTo>
                  <a:lnTo>
                    <a:pt x="4189" y="10790"/>
                  </a:lnTo>
                  <a:lnTo>
                    <a:pt x="4189" y="10790"/>
                  </a:lnTo>
                  <a:lnTo>
                    <a:pt x="4019" y="10936"/>
                  </a:lnTo>
                  <a:lnTo>
                    <a:pt x="3873" y="11057"/>
                  </a:lnTo>
                  <a:lnTo>
                    <a:pt x="3727" y="11131"/>
                  </a:lnTo>
                  <a:lnTo>
                    <a:pt x="3605" y="11155"/>
                  </a:lnTo>
                  <a:lnTo>
                    <a:pt x="3605" y="11155"/>
                  </a:lnTo>
                  <a:lnTo>
                    <a:pt x="3532" y="11155"/>
                  </a:lnTo>
                  <a:lnTo>
                    <a:pt x="3434" y="11106"/>
                  </a:lnTo>
                  <a:lnTo>
                    <a:pt x="3337" y="11057"/>
                  </a:lnTo>
                  <a:lnTo>
                    <a:pt x="3240" y="10984"/>
                  </a:lnTo>
                  <a:lnTo>
                    <a:pt x="3240" y="10984"/>
                  </a:lnTo>
                  <a:lnTo>
                    <a:pt x="3167" y="10887"/>
                  </a:lnTo>
                  <a:lnTo>
                    <a:pt x="3093" y="10790"/>
                  </a:lnTo>
                  <a:lnTo>
                    <a:pt x="3069" y="10692"/>
                  </a:lnTo>
                  <a:lnTo>
                    <a:pt x="3045" y="10595"/>
                  </a:lnTo>
                  <a:lnTo>
                    <a:pt x="3045" y="10595"/>
                  </a:lnTo>
                  <a:lnTo>
                    <a:pt x="3020" y="10424"/>
                  </a:lnTo>
                  <a:lnTo>
                    <a:pt x="2996" y="10351"/>
                  </a:lnTo>
                  <a:lnTo>
                    <a:pt x="2947" y="10302"/>
                  </a:lnTo>
                  <a:lnTo>
                    <a:pt x="2947" y="10302"/>
                  </a:lnTo>
                  <a:lnTo>
                    <a:pt x="2923" y="10254"/>
                  </a:lnTo>
                  <a:lnTo>
                    <a:pt x="2874" y="10181"/>
                  </a:lnTo>
                  <a:lnTo>
                    <a:pt x="2850" y="10035"/>
                  </a:lnTo>
                  <a:lnTo>
                    <a:pt x="2850" y="10035"/>
                  </a:lnTo>
                  <a:lnTo>
                    <a:pt x="2826" y="9864"/>
                  </a:lnTo>
                  <a:lnTo>
                    <a:pt x="2801" y="9791"/>
                  </a:lnTo>
                  <a:lnTo>
                    <a:pt x="2752" y="9742"/>
                  </a:lnTo>
                  <a:lnTo>
                    <a:pt x="2752" y="9742"/>
                  </a:lnTo>
                  <a:lnTo>
                    <a:pt x="2728" y="9669"/>
                  </a:lnTo>
                  <a:lnTo>
                    <a:pt x="2704" y="9572"/>
                  </a:lnTo>
                  <a:lnTo>
                    <a:pt x="2679" y="9426"/>
                  </a:lnTo>
                  <a:lnTo>
                    <a:pt x="2655" y="9255"/>
                  </a:lnTo>
                  <a:lnTo>
                    <a:pt x="2655" y="9255"/>
                  </a:lnTo>
                  <a:lnTo>
                    <a:pt x="2679" y="9109"/>
                  </a:lnTo>
                  <a:lnTo>
                    <a:pt x="2704" y="8963"/>
                  </a:lnTo>
                  <a:lnTo>
                    <a:pt x="2728" y="8866"/>
                  </a:lnTo>
                  <a:lnTo>
                    <a:pt x="2752" y="8792"/>
                  </a:lnTo>
                  <a:lnTo>
                    <a:pt x="2752" y="8792"/>
                  </a:lnTo>
                  <a:lnTo>
                    <a:pt x="2801" y="8744"/>
                  </a:lnTo>
                  <a:lnTo>
                    <a:pt x="2826" y="8671"/>
                  </a:lnTo>
                  <a:lnTo>
                    <a:pt x="2850" y="8500"/>
                  </a:lnTo>
                  <a:lnTo>
                    <a:pt x="2850" y="8500"/>
                  </a:lnTo>
                  <a:lnTo>
                    <a:pt x="2826" y="8403"/>
                  </a:lnTo>
                  <a:lnTo>
                    <a:pt x="2777" y="8281"/>
                  </a:lnTo>
                  <a:lnTo>
                    <a:pt x="2679" y="8159"/>
                  </a:lnTo>
                  <a:lnTo>
                    <a:pt x="2582" y="8037"/>
                  </a:lnTo>
                  <a:lnTo>
                    <a:pt x="2582" y="8037"/>
                  </a:lnTo>
                  <a:lnTo>
                    <a:pt x="2460" y="7891"/>
                  </a:lnTo>
                  <a:lnTo>
                    <a:pt x="2363" y="7721"/>
                  </a:lnTo>
                  <a:lnTo>
                    <a:pt x="2314" y="7526"/>
                  </a:lnTo>
                  <a:lnTo>
                    <a:pt x="2290" y="7356"/>
                  </a:lnTo>
                  <a:lnTo>
                    <a:pt x="2290" y="7356"/>
                  </a:lnTo>
                  <a:lnTo>
                    <a:pt x="2290" y="7209"/>
                  </a:lnTo>
                  <a:lnTo>
                    <a:pt x="2265" y="7063"/>
                  </a:lnTo>
                  <a:lnTo>
                    <a:pt x="2217" y="6966"/>
                  </a:lnTo>
                  <a:lnTo>
                    <a:pt x="2192" y="6893"/>
                  </a:lnTo>
                  <a:lnTo>
                    <a:pt x="2192" y="6893"/>
                  </a:lnTo>
                  <a:lnTo>
                    <a:pt x="2144" y="6844"/>
                  </a:lnTo>
                  <a:lnTo>
                    <a:pt x="2071" y="6820"/>
                  </a:lnTo>
                  <a:lnTo>
                    <a:pt x="1900" y="6795"/>
                  </a:lnTo>
                  <a:lnTo>
                    <a:pt x="1900" y="6795"/>
                  </a:lnTo>
                  <a:lnTo>
                    <a:pt x="1754" y="6820"/>
                  </a:lnTo>
                  <a:lnTo>
                    <a:pt x="1681" y="6844"/>
                  </a:lnTo>
                  <a:lnTo>
                    <a:pt x="1632" y="6893"/>
                  </a:lnTo>
                  <a:lnTo>
                    <a:pt x="1632" y="6893"/>
                  </a:lnTo>
                  <a:lnTo>
                    <a:pt x="1559" y="6941"/>
                  </a:lnTo>
                  <a:lnTo>
                    <a:pt x="1437" y="6966"/>
                  </a:lnTo>
                  <a:lnTo>
                    <a:pt x="1291" y="6990"/>
                  </a:lnTo>
                  <a:lnTo>
                    <a:pt x="1145" y="6990"/>
                  </a:lnTo>
                  <a:lnTo>
                    <a:pt x="1145" y="6990"/>
                  </a:lnTo>
                  <a:lnTo>
                    <a:pt x="975" y="6966"/>
                  </a:lnTo>
                  <a:lnTo>
                    <a:pt x="780" y="6868"/>
                  </a:lnTo>
                  <a:lnTo>
                    <a:pt x="561" y="6747"/>
                  </a:lnTo>
                  <a:lnTo>
                    <a:pt x="390" y="6601"/>
                  </a:lnTo>
                  <a:lnTo>
                    <a:pt x="390" y="6601"/>
                  </a:lnTo>
                  <a:lnTo>
                    <a:pt x="317" y="6527"/>
                  </a:lnTo>
                  <a:lnTo>
                    <a:pt x="244" y="6406"/>
                  </a:lnTo>
                  <a:lnTo>
                    <a:pt x="122" y="6113"/>
                  </a:lnTo>
                  <a:lnTo>
                    <a:pt x="49" y="5797"/>
                  </a:lnTo>
                  <a:lnTo>
                    <a:pt x="0" y="5480"/>
                  </a:lnTo>
                  <a:lnTo>
                    <a:pt x="0" y="5480"/>
                  </a:lnTo>
                  <a:lnTo>
                    <a:pt x="25" y="5310"/>
                  </a:lnTo>
                  <a:lnTo>
                    <a:pt x="49" y="5139"/>
                  </a:lnTo>
                  <a:lnTo>
                    <a:pt x="147" y="4798"/>
                  </a:lnTo>
                  <a:lnTo>
                    <a:pt x="220" y="4628"/>
                  </a:lnTo>
                  <a:lnTo>
                    <a:pt x="293" y="4482"/>
                  </a:lnTo>
                  <a:lnTo>
                    <a:pt x="390" y="4336"/>
                  </a:lnTo>
                  <a:lnTo>
                    <a:pt x="487" y="4238"/>
                  </a:lnTo>
                  <a:lnTo>
                    <a:pt x="487" y="4238"/>
                  </a:lnTo>
                  <a:lnTo>
                    <a:pt x="682" y="4043"/>
                  </a:lnTo>
                  <a:lnTo>
                    <a:pt x="877" y="3897"/>
                  </a:lnTo>
                  <a:lnTo>
                    <a:pt x="1048" y="3800"/>
                  </a:lnTo>
                  <a:lnTo>
                    <a:pt x="1145" y="3751"/>
                  </a:lnTo>
                  <a:lnTo>
                    <a:pt x="1145" y="3751"/>
                  </a:lnTo>
                  <a:lnTo>
                    <a:pt x="1316" y="3727"/>
                  </a:lnTo>
                  <a:lnTo>
                    <a:pt x="1389" y="3702"/>
                  </a:lnTo>
                  <a:lnTo>
                    <a:pt x="1437" y="3654"/>
                  </a:lnTo>
                  <a:lnTo>
                    <a:pt x="1437" y="3654"/>
                  </a:lnTo>
                  <a:lnTo>
                    <a:pt x="1510" y="3629"/>
                  </a:lnTo>
                  <a:lnTo>
                    <a:pt x="1608" y="3605"/>
                  </a:lnTo>
                  <a:lnTo>
                    <a:pt x="1754" y="3581"/>
                  </a:lnTo>
                  <a:lnTo>
                    <a:pt x="1900" y="3581"/>
                  </a:lnTo>
                  <a:lnTo>
                    <a:pt x="1900" y="3581"/>
                  </a:lnTo>
                  <a:lnTo>
                    <a:pt x="2071" y="3581"/>
                  </a:lnTo>
                  <a:lnTo>
                    <a:pt x="2241" y="3629"/>
                  </a:lnTo>
                  <a:lnTo>
                    <a:pt x="2363" y="3678"/>
                  </a:lnTo>
                  <a:lnTo>
                    <a:pt x="2485" y="3751"/>
                  </a:lnTo>
                  <a:lnTo>
                    <a:pt x="2485" y="3751"/>
                  </a:lnTo>
                  <a:lnTo>
                    <a:pt x="2558" y="3824"/>
                  </a:lnTo>
                  <a:lnTo>
                    <a:pt x="2655" y="3897"/>
                  </a:lnTo>
                  <a:lnTo>
                    <a:pt x="2777" y="3946"/>
                  </a:lnTo>
                  <a:lnTo>
                    <a:pt x="2850" y="3946"/>
                  </a:lnTo>
                  <a:lnTo>
                    <a:pt x="2850" y="3946"/>
                  </a:lnTo>
                  <a:lnTo>
                    <a:pt x="3020" y="3970"/>
                  </a:lnTo>
                  <a:lnTo>
                    <a:pt x="3093" y="4019"/>
                  </a:lnTo>
                  <a:lnTo>
                    <a:pt x="3142" y="4043"/>
                  </a:lnTo>
                  <a:lnTo>
                    <a:pt x="3142" y="4043"/>
                  </a:lnTo>
                  <a:lnTo>
                    <a:pt x="3191" y="4068"/>
                  </a:lnTo>
                  <a:lnTo>
                    <a:pt x="3240" y="4092"/>
                  </a:lnTo>
                  <a:lnTo>
                    <a:pt x="3288" y="4068"/>
                  </a:lnTo>
                  <a:lnTo>
                    <a:pt x="3337" y="4043"/>
                  </a:lnTo>
                  <a:lnTo>
                    <a:pt x="3337" y="4043"/>
                  </a:lnTo>
                  <a:lnTo>
                    <a:pt x="3386" y="4019"/>
                  </a:lnTo>
                  <a:lnTo>
                    <a:pt x="3459" y="3970"/>
                  </a:lnTo>
                  <a:lnTo>
                    <a:pt x="3605" y="3946"/>
                  </a:lnTo>
                  <a:lnTo>
                    <a:pt x="3605" y="3946"/>
                  </a:lnTo>
                  <a:lnTo>
                    <a:pt x="3775" y="3970"/>
                  </a:lnTo>
                  <a:lnTo>
                    <a:pt x="3848" y="4019"/>
                  </a:lnTo>
                  <a:lnTo>
                    <a:pt x="3897" y="4043"/>
                  </a:lnTo>
                  <a:lnTo>
                    <a:pt x="3897" y="4043"/>
                  </a:lnTo>
                  <a:lnTo>
                    <a:pt x="3970" y="4092"/>
                  </a:lnTo>
                  <a:lnTo>
                    <a:pt x="4068" y="4116"/>
                  </a:lnTo>
                  <a:lnTo>
                    <a:pt x="4214" y="4141"/>
                  </a:lnTo>
                  <a:lnTo>
                    <a:pt x="4384" y="4141"/>
                  </a:lnTo>
                  <a:lnTo>
                    <a:pt x="4384" y="4141"/>
                  </a:lnTo>
                  <a:lnTo>
                    <a:pt x="4530" y="4141"/>
                  </a:lnTo>
                  <a:lnTo>
                    <a:pt x="4677" y="4116"/>
                  </a:lnTo>
                  <a:lnTo>
                    <a:pt x="4774" y="4092"/>
                  </a:lnTo>
                  <a:lnTo>
                    <a:pt x="4847" y="4043"/>
                  </a:lnTo>
                  <a:lnTo>
                    <a:pt x="4847" y="4043"/>
                  </a:lnTo>
                  <a:lnTo>
                    <a:pt x="4896" y="3995"/>
                  </a:lnTo>
                  <a:lnTo>
                    <a:pt x="4920" y="3921"/>
                  </a:lnTo>
                  <a:lnTo>
                    <a:pt x="4944" y="3751"/>
                  </a:lnTo>
                  <a:lnTo>
                    <a:pt x="4944" y="3751"/>
                  </a:lnTo>
                  <a:lnTo>
                    <a:pt x="4944" y="3727"/>
                  </a:lnTo>
                  <a:lnTo>
                    <a:pt x="4920" y="3678"/>
                  </a:lnTo>
                  <a:lnTo>
                    <a:pt x="4823" y="3629"/>
                  </a:lnTo>
                  <a:lnTo>
                    <a:pt x="4701" y="3581"/>
                  </a:lnTo>
                  <a:lnTo>
                    <a:pt x="4555" y="3581"/>
                  </a:lnTo>
                  <a:lnTo>
                    <a:pt x="4555" y="3581"/>
                  </a:lnTo>
                  <a:lnTo>
                    <a:pt x="4409" y="3556"/>
                  </a:lnTo>
                  <a:lnTo>
                    <a:pt x="4238" y="3507"/>
                  </a:lnTo>
                  <a:lnTo>
                    <a:pt x="4092" y="3459"/>
                  </a:lnTo>
                  <a:lnTo>
                    <a:pt x="3995" y="3386"/>
                  </a:lnTo>
                  <a:lnTo>
                    <a:pt x="3995" y="3386"/>
                  </a:lnTo>
                  <a:lnTo>
                    <a:pt x="3897" y="3313"/>
                  </a:lnTo>
                  <a:lnTo>
                    <a:pt x="3800" y="3240"/>
                  </a:lnTo>
                  <a:lnTo>
                    <a:pt x="3702" y="3215"/>
                  </a:lnTo>
                  <a:lnTo>
                    <a:pt x="3605" y="3191"/>
                  </a:lnTo>
                  <a:lnTo>
                    <a:pt x="3605" y="3191"/>
                  </a:lnTo>
                  <a:lnTo>
                    <a:pt x="3532" y="3166"/>
                  </a:lnTo>
                  <a:lnTo>
                    <a:pt x="3434" y="3142"/>
                  </a:lnTo>
                  <a:lnTo>
                    <a:pt x="3337" y="3069"/>
                  </a:lnTo>
                  <a:lnTo>
                    <a:pt x="3240" y="2996"/>
                  </a:lnTo>
                  <a:lnTo>
                    <a:pt x="3240" y="2996"/>
                  </a:lnTo>
                  <a:lnTo>
                    <a:pt x="3167" y="2923"/>
                  </a:lnTo>
                  <a:lnTo>
                    <a:pt x="3069" y="2899"/>
                  </a:lnTo>
                  <a:lnTo>
                    <a:pt x="2996" y="2874"/>
                  </a:lnTo>
                  <a:lnTo>
                    <a:pt x="2947" y="2899"/>
                  </a:lnTo>
                  <a:lnTo>
                    <a:pt x="2947" y="2899"/>
                  </a:lnTo>
                  <a:lnTo>
                    <a:pt x="2899" y="2923"/>
                  </a:lnTo>
                  <a:lnTo>
                    <a:pt x="2826" y="2923"/>
                  </a:lnTo>
                  <a:lnTo>
                    <a:pt x="2752" y="2874"/>
                  </a:lnTo>
                  <a:lnTo>
                    <a:pt x="2655" y="2801"/>
                  </a:lnTo>
                  <a:lnTo>
                    <a:pt x="2655" y="2801"/>
                  </a:lnTo>
                  <a:lnTo>
                    <a:pt x="2582" y="2752"/>
                  </a:lnTo>
                  <a:lnTo>
                    <a:pt x="2509" y="2704"/>
                  </a:lnTo>
                  <a:lnTo>
                    <a:pt x="2436" y="2704"/>
                  </a:lnTo>
                  <a:lnTo>
                    <a:pt x="2387" y="2704"/>
                  </a:lnTo>
                  <a:lnTo>
                    <a:pt x="2387" y="2704"/>
                  </a:lnTo>
                  <a:lnTo>
                    <a:pt x="2338" y="2752"/>
                  </a:lnTo>
                  <a:lnTo>
                    <a:pt x="2265" y="2777"/>
                  </a:lnTo>
                  <a:lnTo>
                    <a:pt x="2095" y="2801"/>
                  </a:lnTo>
                  <a:lnTo>
                    <a:pt x="2095" y="2801"/>
                  </a:lnTo>
                  <a:lnTo>
                    <a:pt x="1997" y="2850"/>
                  </a:lnTo>
                  <a:lnTo>
                    <a:pt x="1851" y="2923"/>
                  </a:lnTo>
                  <a:lnTo>
                    <a:pt x="1681" y="3045"/>
                  </a:lnTo>
                  <a:lnTo>
                    <a:pt x="1535" y="3191"/>
                  </a:lnTo>
                  <a:lnTo>
                    <a:pt x="1535" y="3191"/>
                  </a:lnTo>
                  <a:lnTo>
                    <a:pt x="1364" y="3337"/>
                  </a:lnTo>
                  <a:lnTo>
                    <a:pt x="1194" y="3459"/>
                  </a:lnTo>
                  <a:lnTo>
                    <a:pt x="1072" y="3532"/>
                  </a:lnTo>
                  <a:lnTo>
                    <a:pt x="950" y="3581"/>
                  </a:lnTo>
                  <a:lnTo>
                    <a:pt x="950" y="3581"/>
                  </a:lnTo>
                  <a:lnTo>
                    <a:pt x="804" y="3532"/>
                  </a:lnTo>
                  <a:lnTo>
                    <a:pt x="731" y="3507"/>
                  </a:lnTo>
                  <a:lnTo>
                    <a:pt x="682" y="3483"/>
                  </a:lnTo>
                  <a:lnTo>
                    <a:pt x="682" y="3483"/>
                  </a:lnTo>
                  <a:lnTo>
                    <a:pt x="634" y="3434"/>
                  </a:lnTo>
                  <a:lnTo>
                    <a:pt x="609" y="3361"/>
                  </a:lnTo>
                  <a:lnTo>
                    <a:pt x="585" y="3191"/>
                  </a:lnTo>
                  <a:lnTo>
                    <a:pt x="585" y="3191"/>
                  </a:lnTo>
                  <a:lnTo>
                    <a:pt x="609" y="3020"/>
                  </a:lnTo>
                  <a:lnTo>
                    <a:pt x="634" y="2947"/>
                  </a:lnTo>
                  <a:lnTo>
                    <a:pt x="682" y="2899"/>
                  </a:lnTo>
                  <a:lnTo>
                    <a:pt x="682" y="2899"/>
                  </a:lnTo>
                  <a:lnTo>
                    <a:pt x="731" y="2874"/>
                  </a:lnTo>
                  <a:lnTo>
                    <a:pt x="853" y="2850"/>
                  </a:lnTo>
                  <a:lnTo>
                    <a:pt x="999" y="2826"/>
                  </a:lnTo>
                  <a:lnTo>
                    <a:pt x="1145" y="2801"/>
                  </a:lnTo>
                  <a:lnTo>
                    <a:pt x="1145" y="2801"/>
                  </a:lnTo>
                  <a:lnTo>
                    <a:pt x="1291" y="2801"/>
                  </a:lnTo>
                  <a:lnTo>
                    <a:pt x="1413" y="2752"/>
                  </a:lnTo>
                  <a:lnTo>
                    <a:pt x="1486" y="2704"/>
                  </a:lnTo>
                  <a:lnTo>
                    <a:pt x="1510" y="2655"/>
                  </a:lnTo>
                  <a:lnTo>
                    <a:pt x="1535" y="2631"/>
                  </a:lnTo>
                  <a:lnTo>
                    <a:pt x="1535" y="2631"/>
                  </a:lnTo>
                  <a:lnTo>
                    <a:pt x="1486" y="2460"/>
                  </a:lnTo>
                  <a:lnTo>
                    <a:pt x="1462" y="2387"/>
                  </a:lnTo>
                  <a:lnTo>
                    <a:pt x="1437" y="2338"/>
                  </a:lnTo>
                  <a:lnTo>
                    <a:pt x="1437" y="2338"/>
                  </a:lnTo>
                  <a:lnTo>
                    <a:pt x="1389" y="2290"/>
                  </a:lnTo>
                  <a:lnTo>
                    <a:pt x="1389" y="2241"/>
                  </a:lnTo>
                  <a:lnTo>
                    <a:pt x="1389" y="2192"/>
                  </a:lnTo>
                  <a:lnTo>
                    <a:pt x="1437" y="2144"/>
                  </a:lnTo>
                  <a:lnTo>
                    <a:pt x="1437" y="2144"/>
                  </a:lnTo>
                  <a:lnTo>
                    <a:pt x="1486" y="2119"/>
                  </a:lnTo>
                  <a:lnTo>
                    <a:pt x="1559" y="2070"/>
                  </a:lnTo>
                  <a:lnTo>
                    <a:pt x="1705" y="2046"/>
                  </a:lnTo>
                  <a:lnTo>
                    <a:pt x="1705" y="2046"/>
                  </a:lnTo>
                  <a:lnTo>
                    <a:pt x="1803" y="2046"/>
                  </a:lnTo>
                  <a:lnTo>
                    <a:pt x="1900" y="1997"/>
                  </a:lnTo>
                  <a:lnTo>
                    <a:pt x="1997" y="1924"/>
                  </a:lnTo>
                  <a:lnTo>
                    <a:pt x="2095" y="1851"/>
                  </a:lnTo>
                  <a:lnTo>
                    <a:pt x="2095" y="1851"/>
                  </a:lnTo>
                  <a:lnTo>
                    <a:pt x="2168" y="1778"/>
                  </a:lnTo>
                  <a:lnTo>
                    <a:pt x="2241" y="1681"/>
                  </a:lnTo>
                  <a:lnTo>
                    <a:pt x="2265" y="1559"/>
                  </a:lnTo>
                  <a:lnTo>
                    <a:pt x="2290" y="1486"/>
                  </a:lnTo>
                  <a:lnTo>
                    <a:pt x="2290" y="1486"/>
                  </a:lnTo>
                  <a:lnTo>
                    <a:pt x="2265" y="1315"/>
                  </a:lnTo>
                  <a:lnTo>
                    <a:pt x="2217" y="1242"/>
                  </a:lnTo>
                  <a:lnTo>
                    <a:pt x="2192" y="1194"/>
                  </a:lnTo>
                  <a:lnTo>
                    <a:pt x="2192" y="1194"/>
                  </a:lnTo>
                  <a:lnTo>
                    <a:pt x="2192" y="1169"/>
                  </a:lnTo>
                  <a:lnTo>
                    <a:pt x="2192" y="1121"/>
                  </a:lnTo>
                  <a:lnTo>
                    <a:pt x="2265" y="999"/>
                  </a:lnTo>
                  <a:lnTo>
                    <a:pt x="2387" y="828"/>
                  </a:lnTo>
                  <a:lnTo>
                    <a:pt x="2582" y="634"/>
                  </a:lnTo>
                  <a:lnTo>
                    <a:pt x="2582" y="634"/>
                  </a:lnTo>
                  <a:lnTo>
                    <a:pt x="2679" y="536"/>
                  </a:lnTo>
                  <a:lnTo>
                    <a:pt x="2826" y="439"/>
                  </a:lnTo>
                  <a:lnTo>
                    <a:pt x="2972" y="366"/>
                  </a:lnTo>
                  <a:lnTo>
                    <a:pt x="3142" y="293"/>
                  </a:lnTo>
                  <a:lnTo>
                    <a:pt x="3483" y="195"/>
                  </a:lnTo>
                  <a:lnTo>
                    <a:pt x="3654" y="171"/>
                  </a:lnTo>
                  <a:lnTo>
                    <a:pt x="3800" y="146"/>
                  </a:lnTo>
                  <a:lnTo>
                    <a:pt x="3800" y="146"/>
                  </a:lnTo>
                  <a:lnTo>
                    <a:pt x="4116" y="171"/>
                  </a:lnTo>
                  <a:lnTo>
                    <a:pt x="4360" y="171"/>
                  </a:lnTo>
                  <a:lnTo>
                    <a:pt x="4555" y="220"/>
                  </a:lnTo>
                  <a:lnTo>
                    <a:pt x="4652" y="244"/>
                  </a:lnTo>
                  <a:lnTo>
                    <a:pt x="4652" y="244"/>
                  </a:lnTo>
                  <a:lnTo>
                    <a:pt x="4701" y="268"/>
                  </a:lnTo>
                  <a:lnTo>
                    <a:pt x="4750" y="293"/>
                  </a:lnTo>
                  <a:lnTo>
                    <a:pt x="4798" y="268"/>
                  </a:lnTo>
                  <a:lnTo>
                    <a:pt x="4847" y="244"/>
                  </a:lnTo>
                  <a:lnTo>
                    <a:pt x="4847" y="244"/>
                  </a:lnTo>
                  <a:lnTo>
                    <a:pt x="5018" y="195"/>
                  </a:lnTo>
                  <a:lnTo>
                    <a:pt x="5407" y="122"/>
                  </a:lnTo>
                  <a:lnTo>
                    <a:pt x="5821" y="25"/>
                  </a:lnTo>
                  <a:lnTo>
                    <a:pt x="6138"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graphicFrame>
        <p:nvGraphicFramePr>
          <p:cNvPr id="15" name="Diagram 14"/>
          <p:cNvGraphicFramePr/>
          <p:nvPr>
            <p:extLst>
              <p:ext uri="{D42A27DB-BD31-4B8C-83A1-F6EECF244321}">
                <p14:modId xmlns:p14="http://schemas.microsoft.com/office/powerpoint/2010/main" val="2089827383"/>
              </p:ext>
            </p:extLst>
          </p:nvPr>
        </p:nvGraphicFramePr>
        <p:xfrm>
          <a:off x="7260586" y="2611970"/>
          <a:ext cx="4709201" cy="28315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4" name="Diagram 23"/>
          <p:cNvGraphicFramePr/>
          <p:nvPr>
            <p:extLst>
              <p:ext uri="{D42A27DB-BD31-4B8C-83A1-F6EECF244321}">
                <p14:modId xmlns:p14="http://schemas.microsoft.com/office/powerpoint/2010/main" val="1731266290"/>
              </p:ext>
            </p:extLst>
          </p:nvPr>
        </p:nvGraphicFramePr>
        <p:xfrm>
          <a:off x="7152357" y="2475517"/>
          <a:ext cx="4809515" cy="301967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25" name="Diagram 24"/>
          <p:cNvGraphicFramePr/>
          <p:nvPr>
            <p:extLst>
              <p:ext uri="{D42A27DB-BD31-4B8C-83A1-F6EECF244321}">
                <p14:modId xmlns:p14="http://schemas.microsoft.com/office/powerpoint/2010/main" val="3433139378"/>
              </p:ext>
            </p:extLst>
          </p:nvPr>
        </p:nvGraphicFramePr>
        <p:xfrm>
          <a:off x="6979692" y="2402694"/>
          <a:ext cx="4998946" cy="311636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26" name="Diagram 25"/>
          <p:cNvGraphicFramePr/>
          <p:nvPr>
            <p:extLst>
              <p:ext uri="{D42A27DB-BD31-4B8C-83A1-F6EECF244321}">
                <p14:modId xmlns:p14="http://schemas.microsoft.com/office/powerpoint/2010/main" val="2658310095"/>
              </p:ext>
            </p:extLst>
          </p:nvPr>
        </p:nvGraphicFramePr>
        <p:xfrm>
          <a:off x="6780997" y="2551315"/>
          <a:ext cx="5359536" cy="2952842"/>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27" name="Diagram 26"/>
          <p:cNvGraphicFramePr/>
          <p:nvPr>
            <p:extLst>
              <p:ext uri="{D42A27DB-BD31-4B8C-83A1-F6EECF244321}">
                <p14:modId xmlns:p14="http://schemas.microsoft.com/office/powerpoint/2010/main" val="1806469218"/>
              </p:ext>
            </p:extLst>
          </p:nvPr>
        </p:nvGraphicFramePr>
        <p:xfrm>
          <a:off x="7135591" y="2402694"/>
          <a:ext cx="4826281" cy="3076051"/>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
        <p:nvSpPr>
          <p:cNvPr id="28" name="TextBox 27"/>
          <p:cNvSpPr txBox="1"/>
          <p:nvPr/>
        </p:nvSpPr>
        <p:spPr>
          <a:xfrm>
            <a:off x="11105284" y="2522440"/>
            <a:ext cx="356188" cy="276999"/>
          </a:xfrm>
          <a:prstGeom prst="rect">
            <a:avLst/>
          </a:prstGeom>
          <a:noFill/>
        </p:spPr>
        <p:txBody>
          <a:bodyPr wrap="none" rtlCol="0">
            <a:spAutoFit/>
          </a:bodyPr>
          <a:lstStyle/>
          <a:p>
            <a:r>
              <a:rPr lang="en-GB" sz="1200" dirty="0">
                <a:solidFill>
                  <a:schemeClr val="tx2">
                    <a:lumMod val="75000"/>
                  </a:schemeClr>
                </a:solidFill>
              </a:rPr>
              <a:t>[1]</a:t>
            </a:r>
          </a:p>
        </p:txBody>
      </p:sp>
      <p:sp>
        <p:nvSpPr>
          <p:cNvPr id="29" name="TextBox 28"/>
          <p:cNvSpPr txBox="1"/>
          <p:nvPr/>
        </p:nvSpPr>
        <p:spPr>
          <a:xfrm>
            <a:off x="0" y="6552632"/>
            <a:ext cx="6915676" cy="215444"/>
          </a:xfrm>
          <a:prstGeom prst="rect">
            <a:avLst/>
          </a:prstGeom>
          <a:noFill/>
        </p:spPr>
        <p:txBody>
          <a:bodyPr wrap="none" rtlCol="0">
            <a:spAutoFit/>
          </a:bodyPr>
          <a:lstStyle/>
          <a:p>
            <a:r>
              <a:rPr lang="en-GB" sz="800" dirty="0">
                <a:solidFill>
                  <a:schemeClr val="tx2">
                    <a:lumMod val="50000"/>
                  </a:schemeClr>
                </a:solidFill>
                <a:latin typeface="Roboto Condensed" panose="020B0604020202020204"/>
              </a:rPr>
              <a:t>[1] Imgur, “Teen Controls His Bionic Arm with App on His iPhone”, https://imgur.com/gallery/teen-controls-his-bionic-arm-with-app-his-iphone-PwiO7</a:t>
            </a:r>
          </a:p>
        </p:txBody>
      </p:sp>
      <p:sp>
        <p:nvSpPr>
          <p:cNvPr id="30" name="TextBox 29"/>
          <p:cNvSpPr txBox="1"/>
          <p:nvPr/>
        </p:nvSpPr>
        <p:spPr>
          <a:xfrm>
            <a:off x="0" y="6543757"/>
            <a:ext cx="7410639" cy="338554"/>
          </a:xfrm>
          <a:prstGeom prst="rect">
            <a:avLst/>
          </a:prstGeom>
          <a:noFill/>
        </p:spPr>
        <p:txBody>
          <a:bodyPr wrap="square" rtlCol="0">
            <a:spAutoFit/>
          </a:bodyPr>
          <a:lstStyle/>
          <a:p>
            <a:r>
              <a:rPr lang="en-GB" sz="800" dirty="0">
                <a:solidFill>
                  <a:schemeClr val="tx2">
                    <a:lumMod val="50000"/>
                  </a:schemeClr>
                </a:solidFill>
              </a:rPr>
              <a:t>[2] GeekWire, “</a:t>
            </a:r>
            <a:r>
              <a:rPr lang="en-GB" sz="800" dirty="0" err="1">
                <a:solidFill>
                  <a:schemeClr val="tx2">
                    <a:lumMod val="50000"/>
                  </a:schemeClr>
                </a:solidFill>
              </a:rPr>
              <a:t>HaptX</a:t>
            </a:r>
            <a:r>
              <a:rPr lang="en-GB" sz="800" dirty="0">
                <a:solidFill>
                  <a:schemeClr val="tx2">
                    <a:lumMod val="50000"/>
                  </a:schemeClr>
                </a:solidFill>
              </a:rPr>
              <a:t> raises $12M, partners with Advanced Input Systems to develop next-generation VR gloves”, 2019, https://www.geekwire.com/2019/haptx-raises-12m-partners-advanced-input-systems-develop-next-generation-vr-gloves/</a:t>
            </a:r>
            <a:endParaRPr lang="en-GB" sz="800" dirty="0">
              <a:solidFill>
                <a:schemeClr val="tx2">
                  <a:lumMod val="50000"/>
                </a:schemeClr>
              </a:solidFill>
              <a:latin typeface="Roboto Condensed" panose="020B0604020202020204"/>
            </a:endParaRPr>
          </a:p>
        </p:txBody>
      </p:sp>
      <p:sp>
        <p:nvSpPr>
          <p:cNvPr id="31" name="TextBox 30"/>
          <p:cNvSpPr txBox="1"/>
          <p:nvPr/>
        </p:nvSpPr>
        <p:spPr>
          <a:xfrm>
            <a:off x="11101564" y="2520021"/>
            <a:ext cx="356188" cy="276999"/>
          </a:xfrm>
          <a:prstGeom prst="rect">
            <a:avLst/>
          </a:prstGeom>
          <a:noFill/>
        </p:spPr>
        <p:txBody>
          <a:bodyPr wrap="none" rtlCol="0">
            <a:spAutoFit/>
          </a:bodyPr>
          <a:lstStyle/>
          <a:p>
            <a:r>
              <a:rPr lang="en-GB" sz="1200" dirty="0">
                <a:solidFill>
                  <a:schemeClr val="tx2">
                    <a:lumMod val="75000"/>
                  </a:schemeClr>
                </a:solidFill>
              </a:rPr>
              <a:t>[2]</a:t>
            </a:r>
          </a:p>
        </p:txBody>
      </p:sp>
      <p:sp>
        <p:nvSpPr>
          <p:cNvPr id="32" name="TextBox 31"/>
          <p:cNvSpPr txBox="1"/>
          <p:nvPr/>
        </p:nvSpPr>
        <p:spPr>
          <a:xfrm>
            <a:off x="11118330" y="2520021"/>
            <a:ext cx="356188" cy="276999"/>
          </a:xfrm>
          <a:prstGeom prst="rect">
            <a:avLst/>
          </a:prstGeom>
          <a:noFill/>
        </p:spPr>
        <p:txBody>
          <a:bodyPr wrap="none" rtlCol="0">
            <a:spAutoFit/>
          </a:bodyPr>
          <a:lstStyle/>
          <a:p>
            <a:r>
              <a:rPr lang="en-GB" sz="1200" dirty="0">
                <a:solidFill>
                  <a:schemeClr val="tx2">
                    <a:lumMod val="75000"/>
                  </a:schemeClr>
                </a:solidFill>
              </a:rPr>
              <a:t>[3]</a:t>
            </a:r>
          </a:p>
        </p:txBody>
      </p:sp>
      <p:sp>
        <p:nvSpPr>
          <p:cNvPr id="33" name="TextBox 32"/>
          <p:cNvSpPr txBox="1"/>
          <p:nvPr/>
        </p:nvSpPr>
        <p:spPr>
          <a:xfrm>
            <a:off x="11118330" y="2523697"/>
            <a:ext cx="356188" cy="276999"/>
          </a:xfrm>
          <a:prstGeom prst="rect">
            <a:avLst/>
          </a:prstGeom>
          <a:noFill/>
        </p:spPr>
        <p:txBody>
          <a:bodyPr wrap="none" rtlCol="0">
            <a:spAutoFit/>
          </a:bodyPr>
          <a:lstStyle/>
          <a:p>
            <a:r>
              <a:rPr lang="en-GB" sz="1200" dirty="0">
                <a:solidFill>
                  <a:schemeClr val="tx2">
                    <a:lumMod val="75000"/>
                  </a:schemeClr>
                </a:solidFill>
              </a:rPr>
              <a:t>[4]</a:t>
            </a:r>
          </a:p>
        </p:txBody>
      </p:sp>
      <p:sp>
        <p:nvSpPr>
          <p:cNvPr id="34" name="TextBox 33"/>
          <p:cNvSpPr txBox="1"/>
          <p:nvPr/>
        </p:nvSpPr>
        <p:spPr>
          <a:xfrm>
            <a:off x="11109479" y="2513941"/>
            <a:ext cx="356188" cy="276999"/>
          </a:xfrm>
          <a:prstGeom prst="rect">
            <a:avLst/>
          </a:prstGeom>
          <a:noFill/>
        </p:spPr>
        <p:txBody>
          <a:bodyPr wrap="none" rtlCol="0">
            <a:spAutoFit/>
          </a:bodyPr>
          <a:lstStyle/>
          <a:p>
            <a:r>
              <a:rPr lang="en-GB" sz="1200" dirty="0">
                <a:solidFill>
                  <a:schemeClr val="tx2">
                    <a:lumMod val="75000"/>
                  </a:schemeClr>
                </a:solidFill>
              </a:rPr>
              <a:t>[5]</a:t>
            </a:r>
          </a:p>
        </p:txBody>
      </p:sp>
      <p:sp>
        <p:nvSpPr>
          <p:cNvPr id="35" name="TextBox 34"/>
          <p:cNvSpPr txBox="1"/>
          <p:nvPr/>
        </p:nvSpPr>
        <p:spPr>
          <a:xfrm>
            <a:off x="0" y="6553678"/>
            <a:ext cx="7172508" cy="338554"/>
          </a:xfrm>
          <a:prstGeom prst="rect">
            <a:avLst/>
          </a:prstGeom>
          <a:noFill/>
        </p:spPr>
        <p:txBody>
          <a:bodyPr wrap="square" rtlCol="0">
            <a:spAutoFit/>
          </a:bodyPr>
          <a:lstStyle/>
          <a:p>
            <a:r>
              <a:rPr lang="en-GB" sz="800" dirty="0">
                <a:solidFill>
                  <a:schemeClr val="tx2">
                    <a:lumMod val="50000"/>
                  </a:schemeClr>
                </a:solidFill>
                <a:latin typeface="Roboto Condensed" panose="020B0604020202020204"/>
              </a:rPr>
              <a:t>[3] </a:t>
            </a:r>
            <a:r>
              <a:rPr lang="en-GB" sz="800" dirty="0" err="1">
                <a:solidFill>
                  <a:schemeClr val="tx2">
                    <a:lumMod val="50000"/>
                  </a:schemeClr>
                </a:solidFill>
              </a:rPr>
              <a:t>Freepik</a:t>
            </a:r>
            <a:r>
              <a:rPr lang="en-GB" sz="800" dirty="0">
                <a:solidFill>
                  <a:schemeClr val="tx2">
                    <a:lumMod val="50000"/>
                  </a:schemeClr>
                </a:solidFill>
              </a:rPr>
              <a:t>, “Handshake of a human hand and a robot hand: collaboration between human and machine”, https://www.freepik.com/premium-ai-image/handshake-human-hand-robot-hand-collaboration-human-machine-isolated_51414450.htm</a:t>
            </a:r>
            <a:endParaRPr lang="en-GB" sz="800" dirty="0">
              <a:solidFill>
                <a:schemeClr val="tx2">
                  <a:lumMod val="50000"/>
                </a:schemeClr>
              </a:solidFill>
              <a:latin typeface="Roboto Condensed" panose="020B0604020202020204"/>
            </a:endParaRPr>
          </a:p>
        </p:txBody>
      </p:sp>
      <p:sp>
        <p:nvSpPr>
          <p:cNvPr id="36" name="TextBox 35"/>
          <p:cNvSpPr txBox="1"/>
          <p:nvPr/>
        </p:nvSpPr>
        <p:spPr>
          <a:xfrm>
            <a:off x="0" y="6542711"/>
            <a:ext cx="6631944" cy="215444"/>
          </a:xfrm>
          <a:prstGeom prst="rect">
            <a:avLst/>
          </a:prstGeom>
          <a:noFill/>
        </p:spPr>
        <p:txBody>
          <a:bodyPr wrap="none" rtlCol="0">
            <a:spAutoFit/>
          </a:bodyPr>
          <a:lstStyle/>
          <a:p>
            <a:r>
              <a:rPr lang="en-GB" sz="800" dirty="0">
                <a:solidFill>
                  <a:schemeClr val="tx2">
                    <a:lumMod val="50000"/>
                  </a:schemeClr>
                </a:solidFill>
                <a:latin typeface="Roboto Condensed" panose="020B0604020202020204"/>
              </a:rPr>
              <a:t>[4] </a:t>
            </a:r>
            <a:r>
              <a:rPr lang="en-GB" sz="800" dirty="0">
                <a:solidFill>
                  <a:schemeClr val="tx2">
                    <a:lumMod val="50000"/>
                  </a:schemeClr>
                </a:solidFill>
              </a:rPr>
              <a:t>Engineering.com, “</a:t>
            </a:r>
            <a:r>
              <a:rPr lang="en-GB" sz="800" dirty="0" err="1">
                <a:solidFill>
                  <a:schemeClr val="tx2">
                    <a:lumMod val="50000"/>
                  </a:schemeClr>
                </a:solidFill>
              </a:rPr>
              <a:t>Myo</a:t>
            </a:r>
            <a:r>
              <a:rPr lang="en-GB" sz="800" dirty="0">
                <a:solidFill>
                  <a:schemeClr val="tx2">
                    <a:lumMod val="50000"/>
                  </a:schemeClr>
                </a:solidFill>
              </a:rPr>
              <a:t> Armband in Use”, https://res.cloudinary.com/engineering-com/image/upload/w_350,c_limit/Myo-on-arm_dgslu4.jpg</a:t>
            </a:r>
            <a:endParaRPr lang="en-GB" sz="800" dirty="0">
              <a:solidFill>
                <a:schemeClr val="tx2">
                  <a:lumMod val="50000"/>
                </a:schemeClr>
              </a:solidFill>
              <a:latin typeface="Roboto Condensed" panose="020B0604020202020204"/>
            </a:endParaRPr>
          </a:p>
        </p:txBody>
      </p:sp>
      <p:sp>
        <p:nvSpPr>
          <p:cNvPr id="37" name="TextBox 36"/>
          <p:cNvSpPr txBox="1"/>
          <p:nvPr/>
        </p:nvSpPr>
        <p:spPr>
          <a:xfrm>
            <a:off x="0" y="6551586"/>
            <a:ext cx="8457765" cy="215444"/>
          </a:xfrm>
          <a:prstGeom prst="rect">
            <a:avLst/>
          </a:prstGeom>
          <a:noFill/>
        </p:spPr>
        <p:txBody>
          <a:bodyPr wrap="none" rtlCol="0">
            <a:spAutoFit/>
          </a:bodyPr>
          <a:lstStyle/>
          <a:p>
            <a:r>
              <a:rPr lang="en-GB" sz="800" dirty="0">
                <a:solidFill>
                  <a:schemeClr val="tx2">
                    <a:lumMod val="50000"/>
                  </a:schemeClr>
                </a:solidFill>
                <a:latin typeface="Roboto Condensed" panose="020B0604020202020204"/>
              </a:rPr>
              <a:t>[5] REST Publisher, “Title of the Paper”, Engineering and Automation Engineering, Vol. 2, No. 1, 2023, https://restpublisher.com/wp-content/uploads/2023/04/10.46632-eae-2-1-7.pdf</a:t>
            </a:r>
          </a:p>
        </p:txBody>
      </p:sp>
    </p:spTree>
    <p:extLst>
      <p:ext uri="{BB962C8B-B14F-4D97-AF65-F5344CB8AC3E}">
        <p14:creationId xmlns:p14="http://schemas.microsoft.com/office/powerpoint/2010/main" val="3274792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graphicEl>
                                              <a:dgm id="{DBCADE24-D5E0-4593-9F07-18ED10869600}"/>
                                            </p:graphicEl>
                                          </p:spTgt>
                                        </p:tgtEl>
                                        <p:attrNameLst>
                                          <p:attrName>style.visibility</p:attrName>
                                        </p:attrNameLst>
                                      </p:cBhvr>
                                      <p:to>
                                        <p:strVal val="visible"/>
                                      </p:to>
                                    </p:set>
                                    <p:animEffect transition="in" filter="fade">
                                      <p:cBhvr>
                                        <p:cTn id="15" dur="500"/>
                                        <p:tgtEl>
                                          <p:spTgt spid="15">
                                            <p:graphicEl>
                                              <a:dgm id="{DBCADE24-D5E0-4593-9F07-18ED10869600}"/>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graphicEl>
                                              <a:dgm id="{7CD24404-DC8F-4749-9C55-C95A3CB8F2FF}"/>
                                            </p:graphicEl>
                                          </p:spTgt>
                                        </p:tgtEl>
                                        <p:attrNameLst>
                                          <p:attrName>style.visibility</p:attrName>
                                        </p:attrNameLst>
                                      </p:cBhvr>
                                      <p:to>
                                        <p:strVal val="visible"/>
                                      </p:to>
                                    </p:set>
                                    <p:animEffect transition="in" filter="fade">
                                      <p:cBhvr>
                                        <p:cTn id="18" dur="500"/>
                                        <p:tgtEl>
                                          <p:spTgt spid="15">
                                            <p:graphicEl>
                                              <a:dgm id="{7CD24404-DC8F-4749-9C55-C95A3CB8F2FF}"/>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500"/>
                                        <p:tgtEl>
                                          <p:spTgt spid="15">
                                            <p:graphicEl>
                                              <a:dgm id="{DBCADE24-D5E0-4593-9F07-18ED10869600}"/>
                                            </p:graphicEl>
                                          </p:spTgt>
                                        </p:tgtEl>
                                      </p:cBhvr>
                                    </p:animEffect>
                                    <p:set>
                                      <p:cBhvr>
                                        <p:cTn id="29" dur="1" fill="hold">
                                          <p:stCondLst>
                                            <p:cond delay="499"/>
                                          </p:stCondLst>
                                        </p:cTn>
                                        <p:tgtEl>
                                          <p:spTgt spid="15">
                                            <p:graphicEl>
                                              <a:dgm id="{DBCADE24-D5E0-4593-9F07-18ED10869600}"/>
                                            </p:graphicEl>
                                          </p:spTgt>
                                        </p:tgtEl>
                                        <p:attrNameLst>
                                          <p:attrName>style.visibility</p:attrName>
                                        </p:attrNameLst>
                                      </p:cBhvr>
                                      <p:to>
                                        <p:strVal val="hidden"/>
                                      </p:to>
                                    </p:set>
                                  </p:childTnLst>
                                </p:cTn>
                              </p:par>
                              <p:par>
                                <p:cTn id="30" presetID="10" presetClass="exit" presetSubtype="0" fill="hold" grpId="1" nodeType="withEffect">
                                  <p:stCondLst>
                                    <p:cond delay="0"/>
                                  </p:stCondLst>
                                  <p:childTnLst>
                                    <p:animEffect transition="out" filter="fade">
                                      <p:cBhvr>
                                        <p:cTn id="31" dur="500"/>
                                        <p:tgtEl>
                                          <p:spTgt spid="15">
                                            <p:graphicEl>
                                              <a:dgm id="{7CD24404-DC8F-4749-9C55-C95A3CB8F2FF}"/>
                                            </p:graphicEl>
                                          </p:spTgt>
                                        </p:tgtEl>
                                      </p:cBhvr>
                                    </p:animEffect>
                                    <p:set>
                                      <p:cBhvr>
                                        <p:cTn id="32" dur="1" fill="hold">
                                          <p:stCondLst>
                                            <p:cond delay="499"/>
                                          </p:stCondLst>
                                        </p:cTn>
                                        <p:tgtEl>
                                          <p:spTgt spid="15">
                                            <p:graphicEl>
                                              <a:dgm id="{7CD24404-DC8F-4749-9C55-C95A3CB8F2FF}"/>
                                            </p:graphicEl>
                                          </p:spTgt>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500"/>
                                        <p:tgtEl>
                                          <p:spTgt spid="28"/>
                                        </p:tgtEl>
                                      </p:cBhvr>
                                    </p:animEffect>
                                    <p:set>
                                      <p:cBhvr>
                                        <p:cTn id="35" dur="1" fill="hold">
                                          <p:stCondLst>
                                            <p:cond delay="499"/>
                                          </p:stCondLst>
                                        </p:cTn>
                                        <p:tgtEl>
                                          <p:spTgt spid="28"/>
                                        </p:tgtEl>
                                        <p:attrNameLst>
                                          <p:attrName>style.visibility</p:attrName>
                                        </p:attrNameLst>
                                      </p:cBhvr>
                                      <p:to>
                                        <p:strVal val="hidden"/>
                                      </p:to>
                                    </p:set>
                                  </p:childTnLst>
                                </p:cTn>
                              </p:par>
                              <p:par>
                                <p:cTn id="36" presetID="10" presetClass="exit" presetSubtype="0" fill="hold" grpId="1" nodeType="withEffect">
                                  <p:stCondLst>
                                    <p:cond delay="0"/>
                                  </p:stCondLst>
                                  <p:childTnLst>
                                    <p:animEffect transition="out" filter="fade">
                                      <p:cBhvr>
                                        <p:cTn id="37" dur="500"/>
                                        <p:tgtEl>
                                          <p:spTgt spid="29"/>
                                        </p:tgtEl>
                                      </p:cBhvr>
                                    </p:animEffect>
                                    <p:set>
                                      <p:cBhvr>
                                        <p:cTn id="38" dur="1" fill="hold">
                                          <p:stCondLst>
                                            <p:cond delay="499"/>
                                          </p:stCondLst>
                                        </p:cTn>
                                        <p:tgtEl>
                                          <p:spTgt spid="29"/>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24">
                                            <p:graphicEl>
                                              <a:dgm id="{DBCADE24-D5E0-4593-9F07-18ED10869600}"/>
                                            </p:graphicEl>
                                          </p:spTgt>
                                        </p:tgtEl>
                                        <p:attrNameLst>
                                          <p:attrName>style.visibility</p:attrName>
                                        </p:attrNameLst>
                                      </p:cBhvr>
                                      <p:to>
                                        <p:strVal val="visible"/>
                                      </p:to>
                                    </p:set>
                                    <p:animEffect transition="in" filter="fade">
                                      <p:cBhvr>
                                        <p:cTn id="41" dur="500"/>
                                        <p:tgtEl>
                                          <p:spTgt spid="24">
                                            <p:graphicEl>
                                              <a:dgm id="{DBCADE24-D5E0-4593-9F07-18ED10869600}"/>
                                            </p:graphic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4">
                                            <p:graphicEl>
                                              <a:dgm id="{7CD24404-DC8F-4749-9C55-C95A3CB8F2FF}"/>
                                            </p:graphicEl>
                                          </p:spTgt>
                                        </p:tgtEl>
                                        <p:attrNameLst>
                                          <p:attrName>style.visibility</p:attrName>
                                        </p:attrNameLst>
                                      </p:cBhvr>
                                      <p:to>
                                        <p:strVal val="visible"/>
                                      </p:to>
                                    </p:set>
                                    <p:animEffect transition="in" filter="fade">
                                      <p:cBhvr>
                                        <p:cTn id="44" dur="500"/>
                                        <p:tgtEl>
                                          <p:spTgt spid="24">
                                            <p:graphicEl>
                                              <a:dgm id="{7CD24404-DC8F-4749-9C55-C95A3CB8F2FF}"/>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00"/>
                                        <p:tgtEl>
                                          <p:spTgt spid="3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grpId="1" nodeType="clickEffect">
                                  <p:stCondLst>
                                    <p:cond delay="0"/>
                                  </p:stCondLst>
                                  <p:childTnLst>
                                    <p:animEffect transition="out" filter="fade">
                                      <p:cBhvr>
                                        <p:cTn id="54" dur="500"/>
                                        <p:tgtEl>
                                          <p:spTgt spid="24">
                                            <p:graphicEl>
                                              <a:dgm id="{DBCADE24-D5E0-4593-9F07-18ED10869600}"/>
                                            </p:graphicEl>
                                          </p:spTgt>
                                        </p:tgtEl>
                                      </p:cBhvr>
                                    </p:animEffect>
                                    <p:set>
                                      <p:cBhvr>
                                        <p:cTn id="55" dur="1" fill="hold">
                                          <p:stCondLst>
                                            <p:cond delay="499"/>
                                          </p:stCondLst>
                                        </p:cTn>
                                        <p:tgtEl>
                                          <p:spTgt spid="24">
                                            <p:graphicEl>
                                              <a:dgm id="{DBCADE24-D5E0-4593-9F07-18ED10869600}"/>
                                            </p:graphicEl>
                                          </p:spTgt>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24">
                                            <p:graphicEl>
                                              <a:dgm id="{7CD24404-DC8F-4749-9C55-C95A3CB8F2FF}"/>
                                            </p:graphicEl>
                                          </p:spTgt>
                                        </p:tgtEl>
                                      </p:cBhvr>
                                    </p:animEffect>
                                    <p:set>
                                      <p:cBhvr>
                                        <p:cTn id="58" dur="1" fill="hold">
                                          <p:stCondLst>
                                            <p:cond delay="499"/>
                                          </p:stCondLst>
                                        </p:cTn>
                                        <p:tgtEl>
                                          <p:spTgt spid="24">
                                            <p:graphicEl>
                                              <a:dgm id="{7CD24404-DC8F-4749-9C55-C95A3CB8F2FF}"/>
                                            </p:graphicEl>
                                          </p:spTgt>
                                        </p:tgtEl>
                                        <p:attrNameLst>
                                          <p:attrName>style.visibility</p:attrName>
                                        </p:attrNameLst>
                                      </p:cBhvr>
                                      <p:to>
                                        <p:strVal val="hidden"/>
                                      </p:to>
                                    </p:set>
                                  </p:childTnLst>
                                </p:cTn>
                              </p:par>
                              <p:par>
                                <p:cTn id="59" presetID="10" presetClass="exit" presetSubtype="0" fill="hold" grpId="1" nodeType="withEffect">
                                  <p:stCondLst>
                                    <p:cond delay="0"/>
                                  </p:stCondLst>
                                  <p:childTnLst>
                                    <p:animEffect transition="out" filter="fade">
                                      <p:cBhvr>
                                        <p:cTn id="60" dur="500"/>
                                        <p:tgtEl>
                                          <p:spTgt spid="30"/>
                                        </p:tgtEl>
                                      </p:cBhvr>
                                    </p:animEffect>
                                    <p:set>
                                      <p:cBhvr>
                                        <p:cTn id="61" dur="1" fill="hold">
                                          <p:stCondLst>
                                            <p:cond delay="499"/>
                                          </p:stCondLst>
                                        </p:cTn>
                                        <p:tgtEl>
                                          <p:spTgt spid="30"/>
                                        </p:tgtEl>
                                        <p:attrNameLst>
                                          <p:attrName>style.visibility</p:attrName>
                                        </p:attrNameLst>
                                      </p:cBhvr>
                                      <p:to>
                                        <p:strVal val="hidden"/>
                                      </p:to>
                                    </p:set>
                                  </p:childTnLst>
                                </p:cTn>
                              </p:par>
                              <p:par>
                                <p:cTn id="62" presetID="10" presetClass="exit" presetSubtype="0" fill="hold" grpId="1" nodeType="withEffect">
                                  <p:stCondLst>
                                    <p:cond delay="0"/>
                                  </p:stCondLst>
                                  <p:childTnLst>
                                    <p:animEffect transition="out" filter="fade">
                                      <p:cBhvr>
                                        <p:cTn id="63" dur="500"/>
                                        <p:tgtEl>
                                          <p:spTgt spid="31"/>
                                        </p:tgtEl>
                                      </p:cBhvr>
                                    </p:animEffect>
                                    <p:set>
                                      <p:cBhvr>
                                        <p:cTn id="64" dur="1" fill="hold">
                                          <p:stCondLst>
                                            <p:cond delay="499"/>
                                          </p:stCondLst>
                                        </p:cTn>
                                        <p:tgtEl>
                                          <p:spTgt spid="31"/>
                                        </p:tgtEl>
                                        <p:attrNameLst>
                                          <p:attrName>style.visibility</p:attrName>
                                        </p:attrNameLst>
                                      </p:cBhvr>
                                      <p:to>
                                        <p:strVal val="hidden"/>
                                      </p:to>
                                    </p:set>
                                  </p:childTnLst>
                                </p:cTn>
                              </p:par>
                              <p:par>
                                <p:cTn id="65" presetID="10" presetClass="entr" presetSubtype="0" fill="hold" grpId="0" nodeType="withEffect">
                                  <p:stCondLst>
                                    <p:cond delay="0"/>
                                  </p:stCondLst>
                                  <p:childTnLst>
                                    <p:set>
                                      <p:cBhvr>
                                        <p:cTn id="66" dur="1" fill="hold">
                                          <p:stCondLst>
                                            <p:cond delay="0"/>
                                          </p:stCondLst>
                                        </p:cTn>
                                        <p:tgtEl>
                                          <p:spTgt spid="25">
                                            <p:graphicEl>
                                              <a:dgm id="{DBCADE24-D5E0-4593-9F07-18ED10869600}"/>
                                            </p:graphicEl>
                                          </p:spTgt>
                                        </p:tgtEl>
                                        <p:attrNameLst>
                                          <p:attrName>style.visibility</p:attrName>
                                        </p:attrNameLst>
                                      </p:cBhvr>
                                      <p:to>
                                        <p:strVal val="visible"/>
                                      </p:to>
                                    </p:set>
                                    <p:animEffect transition="in" filter="fade">
                                      <p:cBhvr>
                                        <p:cTn id="67" dur="500"/>
                                        <p:tgtEl>
                                          <p:spTgt spid="25">
                                            <p:graphicEl>
                                              <a:dgm id="{DBCADE24-D5E0-4593-9F07-18ED10869600}"/>
                                            </p:graphic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graphicEl>
                                              <a:dgm id="{7CD24404-DC8F-4749-9C55-C95A3CB8F2FF}"/>
                                            </p:graphicEl>
                                          </p:spTgt>
                                        </p:tgtEl>
                                        <p:attrNameLst>
                                          <p:attrName>style.visibility</p:attrName>
                                        </p:attrNameLst>
                                      </p:cBhvr>
                                      <p:to>
                                        <p:strVal val="visible"/>
                                      </p:to>
                                    </p:set>
                                    <p:animEffect transition="in" filter="fade">
                                      <p:cBhvr>
                                        <p:cTn id="70" dur="500"/>
                                        <p:tgtEl>
                                          <p:spTgt spid="25">
                                            <p:graphicEl>
                                              <a:dgm id="{7CD24404-DC8F-4749-9C55-C95A3CB8F2FF}"/>
                                            </p:graphic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500"/>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6" dur="500"/>
                                        <p:tgtEl>
                                          <p:spTgt spid="35"/>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xit" presetSubtype="0" fill="hold" grpId="1" nodeType="clickEffect">
                                  <p:stCondLst>
                                    <p:cond delay="0"/>
                                  </p:stCondLst>
                                  <p:childTnLst>
                                    <p:animEffect transition="out" filter="fade">
                                      <p:cBhvr>
                                        <p:cTn id="80" dur="500"/>
                                        <p:tgtEl>
                                          <p:spTgt spid="25">
                                            <p:graphicEl>
                                              <a:dgm id="{DBCADE24-D5E0-4593-9F07-18ED10869600}"/>
                                            </p:graphicEl>
                                          </p:spTgt>
                                        </p:tgtEl>
                                      </p:cBhvr>
                                    </p:animEffect>
                                    <p:set>
                                      <p:cBhvr>
                                        <p:cTn id="81" dur="1" fill="hold">
                                          <p:stCondLst>
                                            <p:cond delay="499"/>
                                          </p:stCondLst>
                                        </p:cTn>
                                        <p:tgtEl>
                                          <p:spTgt spid="25">
                                            <p:graphicEl>
                                              <a:dgm id="{DBCADE24-D5E0-4593-9F07-18ED10869600}"/>
                                            </p:graphicEl>
                                          </p:spTgt>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500"/>
                                        <p:tgtEl>
                                          <p:spTgt spid="25">
                                            <p:graphicEl>
                                              <a:dgm id="{7CD24404-DC8F-4749-9C55-C95A3CB8F2FF}"/>
                                            </p:graphicEl>
                                          </p:spTgt>
                                        </p:tgtEl>
                                      </p:cBhvr>
                                    </p:animEffect>
                                    <p:set>
                                      <p:cBhvr>
                                        <p:cTn id="84" dur="1" fill="hold">
                                          <p:stCondLst>
                                            <p:cond delay="499"/>
                                          </p:stCondLst>
                                        </p:cTn>
                                        <p:tgtEl>
                                          <p:spTgt spid="25">
                                            <p:graphicEl>
                                              <a:dgm id="{7CD24404-DC8F-4749-9C55-C95A3CB8F2FF}"/>
                                            </p:graphicEl>
                                          </p:spTgt>
                                        </p:tgtEl>
                                        <p:attrNameLst>
                                          <p:attrName>style.visibility</p:attrName>
                                        </p:attrNameLst>
                                      </p:cBhvr>
                                      <p:to>
                                        <p:strVal val="hidden"/>
                                      </p:to>
                                    </p:set>
                                  </p:childTnLst>
                                </p:cTn>
                              </p:par>
                              <p:par>
                                <p:cTn id="85" presetID="10" presetClass="exit" presetSubtype="0" fill="hold" grpId="1" nodeType="withEffect">
                                  <p:stCondLst>
                                    <p:cond delay="0"/>
                                  </p:stCondLst>
                                  <p:childTnLst>
                                    <p:animEffect transition="out" filter="fade">
                                      <p:cBhvr>
                                        <p:cTn id="86" dur="500"/>
                                        <p:tgtEl>
                                          <p:spTgt spid="32"/>
                                        </p:tgtEl>
                                      </p:cBhvr>
                                    </p:animEffect>
                                    <p:set>
                                      <p:cBhvr>
                                        <p:cTn id="87" dur="1" fill="hold">
                                          <p:stCondLst>
                                            <p:cond delay="499"/>
                                          </p:stCondLst>
                                        </p:cTn>
                                        <p:tgtEl>
                                          <p:spTgt spid="32"/>
                                        </p:tgtEl>
                                        <p:attrNameLst>
                                          <p:attrName>style.visibility</p:attrName>
                                        </p:attrNameLst>
                                      </p:cBhvr>
                                      <p:to>
                                        <p:strVal val="hidden"/>
                                      </p:to>
                                    </p:set>
                                  </p:childTnLst>
                                </p:cTn>
                              </p:par>
                              <p:par>
                                <p:cTn id="88" presetID="10" presetClass="exit" presetSubtype="0" fill="hold" grpId="1" nodeType="withEffect">
                                  <p:stCondLst>
                                    <p:cond delay="0"/>
                                  </p:stCondLst>
                                  <p:childTnLst>
                                    <p:animEffect transition="out" filter="fade">
                                      <p:cBhvr>
                                        <p:cTn id="89" dur="500"/>
                                        <p:tgtEl>
                                          <p:spTgt spid="35"/>
                                        </p:tgtEl>
                                      </p:cBhvr>
                                    </p:animEffect>
                                    <p:set>
                                      <p:cBhvr>
                                        <p:cTn id="90" dur="1" fill="hold">
                                          <p:stCondLst>
                                            <p:cond delay="499"/>
                                          </p:stCondLst>
                                        </p:cTn>
                                        <p:tgtEl>
                                          <p:spTgt spid="35"/>
                                        </p:tgtEl>
                                        <p:attrNameLst>
                                          <p:attrName>style.visibility</p:attrName>
                                        </p:attrNameLst>
                                      </p:cBhvr>
                                      <p:to>
                                        <p:strVal val="hidden"/>
                                      </p:to>
                                    </p:set>
                                  </p:childTnLst>
                                </p:cTn>
                              </p:par>
                              <p:par>
                                <p:cTn id="91" presetID="10" presetClass="entr" presetSubtype="0" fill="hold" nodeType="withEffect">
                                  <p:stCondLst>
                                    <p:cond delay="0"/>
                                  </p:stCondLst>
                                  <p:childTnLst>
                                    <p:set>
                                      <p:cBhvr>
                                        <p:cTn id="92" dur="1" fill="hold">
                                          <p:stCondLst>
                                            <p:cond delay="0"/>
                                          </p:stCondLst>
                                        </p:cTn>
                                        <p:tgtEl>
                                          <p:spTgt spid="3">
                                            <p:txEl>
                                              <p:pRg st="2" end="2"/>
                                            </p:txEl>
                                          </p:spTgt>
                                        </p:tgtEl>
                                        <p:attrNameLst>
                                          <p:attrName>style.visibility</p:attrName>
                                        </p:attrNameLst>
                                      </p:cBhvr>
                                      <p:to>
                                        <p:strVal val="visible"/>
                                      </p:to>
                                    </p:set>
                                    <p:animEffect transition="in" filter="fade">
                                      <p:cBhvr>
                                        <p:cTn id="93" dur="500"/>
                                        <p:tgtEl>
                                          <p:spTgt spid="3">
                                            <p:txEl>
                                              <p:pRg st="2" end="2"/>
                                            </p:txEl>
                                          </p:spTgt>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6">
                                            <p:graphicEl>
                                              <a:dgm id="{DBCADE24-D5E0-4593-9F07-18ED10869600}"/>
                                            </p:graphicEl>
                                          </p:spTgt>
                                        </p:tgtEl>
                                        <p:attrNameLst>
                                          <p:attrName>style.visibility</p:attrName>
                                        </p:attrNameLst>
                                      </p:cBhvr>
                                      <p:to>
                                        <p:strVal val="visible"/>
                                      </p:to>
                                    </p:set>
                                    <p:animEffect transition="in" filter="fade">
                                      <p:cBhvr>
                                        <p:cTn id="96" dur="500"/>
                                        <p:tgtEl>
                                          <p:spTgt spid="26">
                                            <p:graphicEl>
                                              <a:dgm id="{DBCADE24-D5E0-4593-9F07-18ED10869600}"/>
                                            </p:graphicEl>
                                          </p:spTgt>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6">
                                            <p:graphicEl>
                                              <a:dgm id="{7CD24404-DC8F-4749-9C55-C95A3CB8F2FF}"/>
                                            </p:graphicEl>
                                          </p:spTgt>
                                        </p:tgtEl>
                                        <p:attrNameLst>
                                          <p:attrName>style.visibility</p:attrName>
                                        </p:attrNameLst>
                                      </p:cBhvr>
                                      <p:to>
                                        <p:strVal val="visible"/>
                                      </p:to>
                                    </p:set>
                                    <p:animEffect transition="in" filter="fade">
                                      <p:cBhvr>
                                        <p:cTn id="99" dur="500"/>
                                        <p:tgtEl>
                                          <p:spTgt spid="26">
                                            <p:graphicEl>
                                              <a:dgm id="{7CD24404-DC8F-4749-9C55-C95A3CB8F2FF}"/>
                                            </p:graphicEl>
                                          </p:spTgt>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fade">
                                      <p:cBhvr>
                                        <p:cTn id="102" dur="500"/>
                                        <p:tgtEl>
                                          <p:spTgt spid="33"/>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xit" presetSubtype="0" fill="hold" grpId="1" nodeType="clickEffect">
                                  <p:stCondLst>
                                    <p:cond delay="0"/>
                                  </p:stCondLst>
                                  <p:childTnLst>
                                    <p:animEffect transition="out" filter="fade">
                                      <p:cBhvr>
                                        <p:cTn id="109" dur="500"/>
                                        <p:tgtEl>
                                          <p:spTgt spid="26">
                                            <p:graphicEl>
                                              <a:dgm id="{DBCADE24-D5E0-4593-9F07-18ED10869600}"/>
                                            </p:graphicEl>
                                          </p:spTgt>
                                        </p:tgtEl>
                                      </p:cBhvr>
                                    </p:animEffect>
                                    <p:set>
                                      <p:cBhvr>
                                        <p:cTn id="110" dur="1" fill="hold">
                                          <p:stCondLst>
                                            <p:cond delay="499"/>
                                          </p:stCondLst>
                                        </p:cTn>
                                        <p:tgtEl>
                                          <p:spTgt spid="26">
                                            <p:graphicEl>
                                              <a:dgm id="{DBCADE24-D5E0-4593-9F07-18ED10869600}"/>
                                            </p:graphicEl>
                                          </p:spTgt>
                                        </p:tgtEl>
                                        <p:attrNameLst>
                                          <p:attrName>style.visibility</p:attrName>
                                        </p:attrNameLst>
                                      </p:cBhvr>
                                      <p:to>
                                        <p:strVal val="hidden"/>
                                      </p:to>
                                    </p:set>
                                  </p:childTnLst>
                                </p:cTn>
                              </p:par>
                              <p:par>
                                <p:cTn id="111" presetID="10" presetClass="exit" presetSubtype="0" fill="hold" grpId="1" nodeType="withEffect">
                                  <p:stCondLst>
                                    <p:cond delay="0"/>
                                  </p:stCondLst>
                                  <p:childTnLst>
                                    <p:animEffect transition="out" filter="fade">
                                      <p:cBhvr>
                                        <p:cTn id="112" dur="500"/>
                                        <p:tgtEl>
                                          <p:spTgt spid="26">
                                            <p:graphicEl>
                                              <a:dgm id="{7CD24404-DC8F-4749-9C55-C95A3CB8F2FF}"/>
                                            </p:graphicEl>
                                          </p:spTgt>
                                        </p:tgtEl>
                                      </p:cBhvr>
                                    </p:animEffect>
                                    <p:set>
                                      <p:cBhvr>
                                        <p:cTn id="113" dur="1" fill="hold">
                                          <p:stCondLst>
                                            <p:cond delay="499"/>
                                          </p:stCondLst>
                                        </p:cTn>
                                        <p:tgtEl>
                                          <p:spTgt spid="26">
                                            <p:graphicEl>
                                              <a:dgm id="{7CD24404-DC8F-4749-9C55-C95A3CB8F2FF}"/>
                                            </p:graphicEl>
                                          </p:spTgt>
                                        </p:tgtEl>
                                        <p:attrNameLst>
                                          <p:attrName>style.visibility</p:attrName>
                                        </p:attrNameLst>
                                      </p:cBhvr>
                                      <p:to>
                                        <p:strVal val="hidden"/>
                                      </p:to>
                                    </p:set>
                                  </p:childTnLst>
                                </p:cTn>
                              </p:par>
                              <p:par>
                                <p:cTn id="114" presetID="10" presetClass="exit" presetSubtype="0" fill="hold" grpId="1" nodeType="withEffect">
                                  <p:stCondLst>
                                    <p:cond delay="0"/>
                                  </p:stCondLst>
                                  <p:childTnLst>
                                    <p:animEffect transition="out" filter="fade">
                                      <p:cBhvr>
                                        <p:cTn id="115" dur="500"/>
                                        <p:tgtEl>
                                          <p:spTgt spid="36"/>
                                        </p:tgtEl>
                                      </p:cBhvr>
                                    </p:animEffect>
                                    <p:set>
                                      <p:cBhvr>
                                        <p:cTn id="116" dur="1" fill="hold">
                                          <p:stCondLst>
                                            <p:cond delay="499"/>
                                          </p:stCondLst>
                                        </p:cTn>
                                        <p:tgtEl>
                                          <p:spTgt spid="36"/>
                                        </p:tgtEl>
                                        <p:attrNameLst>
                                          <p:attrName>style.visibility</p:attrName>
                                        </p:attrNameLst>
                                      </p:cBhvr>
                                      <p:to>
                                        <p:strVal val="hidden"/>
                                      </p:to>
                                    </p:set>
                                  </p:childTnLst>
                                </p:cTn>
                              </p:par>
                              <p:par>
                                <p:cTn id="117" presetID="10" presetClass="exit" presetSubtype="0" fill="hold" grpId="1" nodeType="withEffect">
                                  <p:stCondLst>
                                    <p:cond delay="0"/>
                                  </p:stCondLst>
                                  <p:childTnLst>
                                    <p:animEffect transition="out" filter="fade">
                                      <p:cBhvr>
                                        <p:cTn id="118" dur="500"/>
                                        <p:tgtEl>
                                          <p:spTgt spid="33"/>
                                        </p:tgtEl>
                                      </p:cBhvr>
                                    </p:animEffect>
                                    <p:set>
                                      <p:cBhvr>
                                        <p:cTn id="119" dur="1" fill="hold">
                                          <p:stCondLst>
                                            <p:cond delay="499"/>
                                          </p:stCondLst>
                                        </p:cTn>
                                        <p:tgtEl>
                                          <p:spTgt spid="33"/>
                                        </p:tgtEl>
                                        <p:attrNameLst>
                                          <p:attrName>style.visibility</p:attrName>
                                        </p:attrNameLst>
                                      </p:cBhvr>
                                      <p:to>
                                        <p:strVal val="hidden"/>
                                      </p:to>
                                    </p:set>
                                  </p:childTnLst>
                                </p:cTn>
                              </p:par>
                              <p:par>
                                <p:cTn id="120" presetID="10" presetClass="entr" presetSubtype="0" fill="hold" grpId="0" nodeType="withEffect">
                                  <p:stCondLst>
                                    <p:cond delay="0"/>
                                  </p:stCondLst>
                                  <p:childTnLst>
                                    <p:set>
                                      <p:cBhvr>
                                        <p:cTn id="121" dur="1" fill="hold">
                                          <p:stCondLst>
                                            <p:cond delay="0"/>
                                          </p:stCondLst>
                                        </p:cTn>
                                        <p:tgtEl>
                                          <p:spTgt spid="27">
                                            <p:graphicEl>
                                              <a:dgm id="{DBCADE24-D5E0-4593-9F07-18ED10869600}"/>
                                            </p:graphicEl>
                                          </p:spTgt>
                                        </p:tgtEl>
                                        <p:attrNameLst>
                                          <p:attrName>style.visibility</p:attrName>
                                        </p:attrNameLst>
                                      </p:cBhvr>
                                      <p:to>
                                        <p:strVal val="visible"/>
                                      </p:to>
                                    </p:set>
                                    <p:animEffect transition="in" filter="fade">
                                      <p:cBhvr>
                                        <p:cTn id="122" dur="500"/>
                                        <p:tgtEl>
                                          <p:spTgt spid="27">
                                            <p:graphicEl>
                                              <a:dgm id="{DBCADE24-D5E0-4593-9F07-18ED10869600}"/>
                                            </p:graphicEl>
                                          </p:spTgt>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27">
                                            <p:graphicEl>
                                              <a:dgm id="{7CD24404-DC8F-4749-9C55-C95A3CB8F2FF}"/>
                                            </p:graphicEl>
                                          </p:spTgt>
                                        </p:tgtEl>
                                        <p:attrNameLst>
                                          <p:attrName>style.visibility</p:attrName>
                                        </p:attrNameLst>
                                      </p:cBhvr>
                                      <p:to>
                                        <p:strVal val="visible"/>
                                      </p:to>
                                    </p:set>
                                    <p:animEffect transition="in" filter="fade">
                                      <p:cBhvr>
                                        <p:cTn id="125" dur="500"/>
                                        <p:tgtEl>
                                          <p:spTgt spid="27">
                                            <p:graphicEl>
                                              <a:dgm id="{7CD24404-DC8F-4749-9C55-C95A3CB8F2FF}"/>
                                            </p:graphicEl>
                                          </p:spTgt>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34"/>
                                        </p:tgtEl>
                                        <p:attrNameLst>
                                          <p:attrName>style.visibility</p:attrName>
                                        </p:attrNameLst>
                                      </p:cBhvr>
                                      <p:to>
                                        <p:strVal val="visible"/>
                                      </p:to>
                                    </p:set>
                                    <p:animEffect transition="in" filter="fade">
                                      <p:cBhvr>
                                        <p:cTn id="128" dur="500"/>
                                        <p:tgtEl>
                                          <p:spTgt spid="34"/>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37"/>
                                        </p:tgtEl>
                                        <p:attrNameLst>
                                          <p:attrName>style.visibility</p:attrName>
                                        </p:attrNameLst>
                                      </p:cBhvr>
                                      <p:to>
                                        <p:strVal val="visible"/>
                                      </p:to>
                                    </p:set>
                                    <p:animEffect transition="in" filter="fade">
                                      <p:cBhvr>
                                        <p:cTn id="13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Graphic spid="15" grpId="0">
        <p:bldSub>
          <a:bldDgm bld="one"/>
        </p:bldSub>
      </p:bldGraphic>
      <p:bldGraphic spid="15" grpId="1" uiExpand="1">
        <p:bldSub>
          <a:bldDgm bld="one"/>
        </p:bldSub>
      </p:bldGraphic>
      <p:bldGraphic spid="24" grpId="0">
        <p:bldSub>
          <a:bldDgm bld="one"/>
        </p:bldSub>
      </p:bldGraphic>
      <p:bldGraphic spid="24" grpId="1" uiExpand="1">
        <p:bldSub>
          <a:bldDgm bld="one"/>
        </p:bldSub>
      </p:bldGraphic>
      <p:bldGraphic spid="25" grpId="0">
        <p:bldSub>
          <a:bldDgm bld="one"/>
        </p:bldSub>
      </p:bldGraphic>
      <p:bldGraphic spid="25" grpId="1" uiExpand="1">
        <p:bldSub>
          <a:bldDgm bld="one"/>
        </p:bldSub>
      </p:bldGraphic>
      <p:bldGraphic spid="26" grpId="0">
        <p:bldSub>
          <a:bldDgm bld="one"/>
        </p:bldSub>
      </p:bldGraphic>
      <p:bldGraphic spid="26" grpId="1" uiExpand="1">
        <p:bldSub>
          <a:bldDgm bld="one"/>
        </p:bldSub>
      </p:bldGraphic>
      <p:bldGraphic spid="27" grpId="0">
        <p:bldSub>
          <a:bldDgm bld="one"/>
        </p:bldSub>
      </p:bldGraphic>
      <p:bldP spid="28" grpId="0"/>
      <p:bldP spid="28" grpId="1"/>
      <p:bldP spid="29" grpId="0"/>
      <p:bldP spid="29" grpId="1"/>
      <p:bldP spid="30" grpId="0"/>
      <p:bldP spid="30" grpId="1"/>
      <p:bldP spid="31" grpId="0"/>
      <p:bldP spid="31" grpId="1"/>
      <p:bldP spid="32" grpId="0"/>
      <p:bldP spid="32" grpId="1"/>
      <p:bldP spid="33" grpId="0"/>
      <p:bldP spid="33" grpId="1"/>
      <p:bldP spid="34" grpId="0"/>
      <p:bldP spid="35" grpId="0"/>
      <p:bldP spid="35" grpId="1"/>
      <p:bldP spid="36" grpId="0"/>
      <p:bldP spid="36" grpId="1"/>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p:txBody>
          <a:bodyPr/>
          <a:lstStyle/>
          <a:p>
            <a:r>
              <a:rPr lang="fr-FR" sz="2800" dirty="0"/>
              <a:t>Background: EMG Signals</a:t>
            </a:r>
            <a:endParaRPr lang="fr-FR" sz="2800"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5</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pic>
        <p:nvPicPr>
          <p:cNvPr id="3" name="Picture-EMG: Electrical signals from muscle contraction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8103" y="2537478"/>
            <a:ext cx="4424804" cy="3052554"/>
          </a:xfrm>
          <a:prstGeom prst="rect">
            <a:avLst/>
          </a:prstGeom>
        </p:spPr>
      </p:pic>
      <p:pic>
        <p:nvPicPr>
          <p:cNvPr id="13" name="Picture_gel-Captured via surface (gelled/dry) or inserted (needle/fine-wire) electrode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23543" y="2092060"/>
            <a:ext cx="3725390" cy="2557435"/>
          </a:xfrm>
          <a:prstGeom prst="rect">
            <a:avLst/>
          </a:prstGeom>
        </p:spPr>
      </p:pic>
      <p:grpSp>
        <p:nvGrpSpPr>
          <p:cNvPr id="24" name="Shape_gell-Captured via surface (gelled/dry) or inserted (needle/fine-wire) electrodes."/>
          <p:cNvGrpSpPr/>
          <p:nvPr/>
        </p:nvGrpSpPr>
        <p:grpSpPr>
          <a:xfrm flipV="1">
            <a:off x="7417582" y="4353408"/>
            <a:ext cx="4092712" cy="741919"/>
            <a:chOff x="-1535283" y="1287959"/>
            <a:chExt cx="11486579" cy="2067200"/>
          </a:xfrm>
        </p:grpSpPr>
        <p:sp>
          <p:nvSpPr>
            <p:cNvPr id="25" name="Shape 390"/>
            <p:cNvSpPr/>
            <p:nvPr/>
          </p:nvSpPr>
          <p:spPr>
            <a:xfrm>
              <a:off x="8699476" y="1287959"/>
              <a:ext cx="1243800" cy="414299"/>
            </a:xfrm>
            <a:prstGeom prst="triangle">
              <a:avLst>
                <a:gd name="adj" fmla="val 0"/>
              </a:avLst>
            </a:prstGeom>
            <a:solidFill>
              <a:srgbClr val="D26F00"/>
            </a:solidFill>
            <a:ln>
              <a:noFill/>
            </a:ln>
          </p:spPr>
          <p:txBody>
            <a:bodyPr lIns="121900" tIns="121900" rIns="121900" bIns="121900" anchor="ctr" anchorCtr="0">
              <a:noAutofit/>
            </a:bodyPr>
            <a:lstStyle/>
            <a:p>
              <a:endParaRPr sz="1867">
                <a:latin typeface="Arvo"/>
                <a:ea typeface="Arvo"/>
                <a:cs typeface="Arvo"/>
                <a:sym typeface="Arvo"/>
              </a:endParaRPr>
            </a:p>
          </p:txBody>
        </p:sp>
        <p:sp>
          <p:nvSpPr>
            <p:cNvPr id="26" name="Shape 391"/>
            <p:cNvSpPr/>
            <p:nvPr/>
          </p:nvSpPr>
          <p:spPr>
            <a:xfrm rot="10800000" flipH="1">
              <a:off x="-308909" y="1697038"/>
              <a:ext cx="9030600" cy="1243800"/>
            </a:xfrm>
            <a:prstGeom prst="rect">
              <a:avLst/>
            </a:prstGeom>
            <a:solidFill>
              <a:srgbClr val="FF9800"/>
            </a:solidFill>
            <a:ln>
              <a:noFill/>
            </a:ln>
          </p:spPr>
          <p:txBody>
            <a:bodyPr lIns="121900" tIns="121900" rIns="121900" bIns="121900" anchor="ctr" anchorCtr="0">
              <a:noAutofit/>
            </a:bodyPr>
            <a:lstStyle/>
            <a:p>
              <a:pPr algn="ctr"/>
              <a:r>
                <a:rPr lang="en-GB" sz="1867" b="1" dirty="0">
                  <a:latin typeface="Roboto Condensed" panose="020B0604020202020204"/>
                  <a:ea typeface="Arvo"/>
                  <a:cs typeface="Arvo"/>
                  <a:sym typeface="Arvo"/>
                </a:rPr>
                <a:t>Gelled Electrodes</a:t>
              </a:r>
              <a:endParaRPr sz="1867" b="1" dirty="0">
                <a:latin typeface="Roboto Condensed" panose="020B0604020202020204"/>
                <a:ea typeface="Arvo"/>
                <a:cs typeface="Arvo"/>
                <a:sym typeface="Arvo"/>
              </a:endParaRPr>
            </a:p>
          </p:txBody>
        </p:sp>
        <p:sp>
          <p:nvSpPr>
            <p:cNvPr id="27" name="Shape 392"/>
            <p:cNvSpPr/>
            <p:nvPr/>
          </p:nvSpPr>
          <p:spPr>
            <a:xfrm rot="10800000" flipH="1">
              <a:off x="8707495" y="1697042"/>
              <a:ext cx="1243800" cy="1243800"/>
            </a:xfrm>
            <a:prstGeom prst="rtTriangle">
              <a:avLst/>
            </a:prstGeom>
            <a:solidFill>
              <a:srgbClr val="FF9800"/>
            </a:solidFill>
            <a:ln>
              <a:noFill/>
            </a:ln>
          </p:spPr>
          <p:txBody>
            <a:bodyPr lIns="121900" tIns="121900" rIns="121900" bIns="121900" anchor="ctr" anchorCtr="0">
              <a:noAutofit/>
            </a:bodyPr>
            <a:lstStyle/>
            <a:p>
              <a:endParaRPr sz="1867">
                <a:latin typeface="Arvo"/>
                <a:ea typeface="Arvo"/>
                <a:cs typeface="Arvo"/>
                <a:sym typeface="Arvo"/>
              </a:endParaRPr>
            </a:p>
          </p:txBody>
        </p:sp>
        <p:sp>
          <p:nvSpPr>
            <p:cNvPr id="28" name="Shape 393"/>
            <p:cNvSpPr/>
            <p:nvPr/>
          </p:nvSpPr>
          <p:spPr>
            <a:xfrm flipH="1">
              <a:off x="-1535283" y="1697042"/>
              <a:ext cx="1243800" cy="1243800"/>
            </a:xfrm>
            <a:prstGeom prst="rtTriangle">
              <a:avLst/>
            </a:prstGeom>
            <a:solidFill>
              <a:srgbClr val="FF9800"/>
            </a:solidFill>
            <a:ln>
              <a:noFill/>
            </a:ln>
          </p:spPr>
          <p:txBody>
            <a:bodyPr lIns="121900" tIns="121900" rIns="121900" bIns="121900" anchor="ctr" anchorCtr="0">
              <a:noAutofit/>
            </a:bodyPr>
            <a:lstStyle/>
            <a:p>
              <a:endParaRPr sz="1867">
                <a:latin typeface="Arvo"/>
                <a:ea typeface="Arvo"/>
                <a:cs typeface="Arvo"/>
                <a:sym typeface="Arvo"/>
              </a:endParaRPr>
            </a:p>
          </p:txBody>
        </p:sp>
        <p:sp>
          <p:nvSpPr>
            <p:cNvPr id="29" name="Shape 394"/>
            <p:cNvSpPr/>
            <p:nvPr/>
          </p:nvSpPr>
          <p:spPr>
            <a:xfrm rot="10800000">
              <a:off x="-1535278" y="2940859"/>
              <a:ext cx="1243800" cy="414300"/>
            </a:xfrm>
            <a:prstGeom prst="triangle">
              <a:avLst>
                <a:gd name="adj" fmla="val 0"/>
              </a:avLst>
            </a:prstGeom>
            <a:solidFill>
              <a:srgbClr val="D26F00"/>
            </a:solidFill>
            <a:ln>
              <a:noFill/>
            </a:ln>
          </p:spPr>
          <p:txBody>
            <a:bodyPr lIns="121900" tIns="121900" rIns="121900" bIns="121900" anchor="ctr" anchorCtr="0">
              <a:noAutofit/>
            </a:bodyPr>
            <a:lstStyle/>
            <a:p>
              <a:endParaRPr sz="1867">
                <a:latin typeface="Arvo"/>
                <a:ea typeface="Arvo"/>
                <a:cs typeface="Arvo"/>
                <a:sym typeface="Arvo"/>
              </a:endParaRPr>
            </a:p>
          </p:txBody>
        </p:sp>
      </p:grpSp>
      <p:pic>
        <p:nvPicPr>
          <p:cNvPr id="30" name="Picture_dry-Captured via surface (gelled/dry) or inserted (needle/fine-wire) electrodes."/>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7127582" y="2375035"/>
            <a:ext cx="4046277" cy="2274460"/>
          </a:xfrm>
          <a:prstGeom prst="rect">
            <a:avLst/>
          </a:prstGeom>
        </p:spPr>
      </p:pic>
      <p:grpSp>
        <p:nvGrpSpPr>
          <p:cNvPr id="31" name="Shape_dry-Captured via surface (gelled/dry) or inserted (needle/fine-wire) electrodes."/>
          <p:cNvGrpSpPr/>
          <p:nvPr/>
        </p:nvGrpSpPr>
        <p:grpSpPr>
          <a:xfrm flipV="1">
            <a:off x="7423543" y="4352469"/>
            <a:ext cx="4092712" cy="741919"/>
            <a:chOff x="-1535283" y="1287959"/>
            <a:chExt cx="11486579" cy="2067200"/>
          </a:xfrm>
        </p:grpSpPr>
        <p:sp>
          <p:nvSpPr>
            <p:cNvPr id="32" name="Shape 390"/>
            <p:cNvSpPr/>
            <p:nvPr/>
          </p:nvSpPr>
          <p:spPr>
            <a:xfrm>
              <a:off x="8699476" y="1287959"/>
              <a:ext cx="1243800" cy="414299"/>
            </a:xfrm>
            <a:prstGeom prst="triangle">
              <a:avLst>
                <a:gd name="adj" fmla="val 0"/>
              </a:avLst>
            </a:prstGeom>
            <a:solidFill>
              <a:srgbClr val="D26F00"/>
            </a:solidFill>
            <a:ln>
              <a:noFill/>
            </a:ln>
          </p:spPr>
          <p:txBody>
            <a:bodyPr lIns="121900" tIns="121900" rIns="121900" bIns="121900" anchor="ctr" anchorCtr="0">
              <a:noAutofit/>
            </a:bodyPr>
            <a:lstStyle/>
            <a:p>
              <a:endParaRPr sz="1867">
                <a:latin typeface="Arvo"/>
                <a:ea typeface="Arvo"/>
                <a:cs typeface="Arvo"/>
                <a:sym typeface="Arvo"/>
              </a:endParaRPr>
            </a:p>
          </p:txBody>
        </p:sp>
        <p:sp>
          <p:nvSpPr>
            <p:cNvPr id="33" name="Shape 391"/>
            <p:cNvSpPr/>
            <p:nvPr/>
          </p:nvSpPr>
          <p:spPr>
            <a:xfrm rot="10800000" flipH="1">
              <a:off x="-308909" y="1697038"/>
              <a:ext cx="9030600" cy="1243800"/>
            </a:xfrm>
            <a:prstGeom prst="rect">
              <a:avLst/>
            </a:prstGeom>
            <a:solidFill>
              <a:srgbClr val="FF9800"/>
            </a:solidFill>
            <a:ln>
              <a:noFill/>
            </a:ln>
          </p:spPr>
          <p:txBody>
            <a:bodyPr lIns="121900" tIns="121900" rIns="121900" bIns="121900" anchor="ctr" anchorCtr="0">
              <a:noAutofit/>
            </a:bodyPr>
            <a:lstStyle/>
            <a:p>
              <a:pPr algn="ctr"/>
              <a:r>
                <a:rPr lang="en-GB" sz="1867" b="1" dirty="0">
                  <a:latin typeface="Roboto Condensed" panose="020B0604020202020204"/>
                  <a:ea typeface="Arvo"/>
                  <a:cs typeface="Arvo"/>
                  <a:sym typeface="Arvo"/>
                </a:rPr>
                <a:t>Dry Electrodes</a:t>
              </a:r>
              <a:endParaRPr sz="1867" b="1" dirty="0">
                <a:latin typeface="Roboto Condensed" panose="020B0604020202020204"/>
                <a:ea typeface="Arvo"/>
                <a:cs typeface="Arvo"/>
                <a:sym typeface="Arvo"/>
              </a:endParaRPr>
            </a:p>
          </p:txBody>
        </p:sp>
        <p:sp>
          <p:nvSpPr>
            <p:cNvPr id="34" name="Shape 392"/>
            <p:cNvSpPr/>
            <p:nvPr/>
          </p:nvSpPr>
          <p:spPr>
            <a:xfrm rot="10800000" flipH="1">
              <a:off x="8707495" y="1697042"/>
              <a:ext cx="1243800" cy="1243800"/>
            </a:xfrm>
            <a:prstGeom prst="rtTriangle">
              <a:avLst/>
            </a:prstGeom>
            <a:solidFill>
              <a:srgbClr val="FF9800"/>
            </a:solidFill>
            <a:ln>
              <a:noFill/>
            </a:ln>
          </p:spPr>
          <p:txBody>
            <a:bodyPr lIns="121900" tIns="121900" rIns="121900" bIns="121900" anchor="ctr" anchorCtr="0">
              <a:noAutofit/>
            </a:bodyPr>
            <a:lstStyle/>
            <a:p>
              <a:endParaRPr sz="1867">
                <a:latin typeface="Arvo"/>
                <a:ea typeface="Arvo"/>
                <a:cs typeface="Arvo"/>
                <a:sym typeface="Arvo"/>
              </a:endParaRPr>
            </a:p>
          </p:txBody>
        </p:sp>
        <p:sp>
          <p:nvSpPr>
            <p:cNvPr id="35" name="Shape 393"/>
            <p:cNvSpPr/>
            <p:nvPr/>
          </p:nvSpPr>
          <p:spPr>
            <a:xfrm flipH="1">
              <a:off x="-1535283" y="1697042"/>
              <a:ext cx="1243800" cy="1243800"/>
            </a:xfrm>
            <a:prstGeom prst="rtTriangle">
              <a:avLst/>
            </a:prstGeom>
            <a:solidFill>
              <a:srgbClr val="FF9800"/>
            </a:solidFill>
            <a:ln>
              <a:noFill/>
            </a:ln>
          </p:spPr>
          <p:txBody>
            <a:bodyPr lIns="121900" tIns="121900" rIns="121900" bIns="121900" anchor="ctr" anchorCtr="0">
              <a:noAutofit/>
            </a:bodyPr>
            <a:lstStyle/>
            <a:p>
              <a:endParaRPr sz="1867">
                <a:latin typeface="Arvo"/>
                <a:ea typeface="Arvo"/>
                <a:cs typeface="Arvo"/>
                <a:sym typeface="Arvo"/>
              </a:endParaRPr>
            </a:p>
          </p:txBody>
        </p:sp>
        <p:sp>
          <p:nvSpPr>
            <p:cNvPr id="36" name="Shape 394"/>
            <p:cNvSpPr/>
            <p:nvPr/>
          </p:nvSpPr>
          <p:spPr>
            <a:xfrm rot="10800000">
              <a:off x="-1535278" y="2940859"/>
              <a:ext cx="1243800" cy="414300"/>
            </a:xfrm>
            <a:prstGeom prst="triangle">
              <a:avLst>
                <a:gd name="adj" fmla="val 0"/>
              </a:avLst>
            </a:prstGeom>
            <a:solidFill>
              <a:srgbClr val="D26F00"/>
            </a:solidFill>
            <a:ln>
              <a:noFill/>
            </a:ln>
          </p:spPr>
          <p:txBody>
            <a:bodyPr lIns="121900" tIns="121900" rIns="121900" bIns="121900" anchor="ctr" anchorCtr="0">
              <a:noAutofit/>
            </a:bodyPr>
            <a:lstStyle/>
            <a:p>
              <a:endParaRPr sz="1867">
                <a:latin typeface="Arvo"/>
                <a:ea typeface="Arvo"/>
                <a:cs typeface="Arvo"/>
                <a:sym typeface="Arvo"/>
              </a:endParaRPr>
            </a:p>
          </p:txBody>
        </p:sp>
      </p:grpSp>
      <p:pic>
        <p:nvPicPr>
          <p:cNvPr id="37" name="Picture_needle-Captured via surface (gelled/dry) or inserted (needle/fine-wire) electrodes."/>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56475" y="2092060"/>
            <a:ext cx="3227853" cy="3002328"/>
          </a:xfrm>
          <a:prstGeom prst="rect">
            <a:avLst/>
          </a:prstGeom>
        </p:spPr>
      </p:pic>
      <p:grpSp>
        <p:nvGrpSpPr>
          <p:cNvPr id="38" name="Shape_needle-Captured via surface (gelled/dry) or inserted (needle/fine-wire) electrodes."/>
          <p:cNvGrpSpPr/>
          <p:nvPr/>
        </p:nvGrpSpPr>
        <p:grpSpPr>
          <a:xfrm flipV="1">
            <a:off x="7414725" y="4352472"/>
            <a:ext cx="4092712" cy="741919"/>
            <a:chOff x="-1535283" y="1287959"/>
            <a:chExt cx="11486579" cy="2067200"/>
          </a:xfrm>
        </p:grpSpPr>
        <p:sp>
          <p:nvSpPr>
            <p:cNvPr id="39" name="Shape 390"/>
            <p:cNvSpPr/>
            <p:nvPr/>
          </p:nvSpPr>
          <p:spPr>
            <a:xfrm>
              <a:off x="8699476" y="1287959"/>
              <a:ext cx="1243800" cy="414299"/>
            </a:xfrm>
            <a:prstGeom prst="triangle">
              <a:avLst>
                <a:gd name="adj" fmla="val 0"/>
              </a:avLst>
            </a:prstGeom>
            <a:solidFill>
              <a:srgbClr val="D26F00"/>
            </a:solidFill>
            <a:ln>
              <a:noFill/>
            </a:ln>
          </p:spPr>
          <p:txBody>
            <a:bodyPr lIns="121900" tIns="121900" rIns="121900" bIns="121900" anchor="ctr" anchorCtr="0">
              <a:noAutofit/>
            </a:bodyPr>
            <a:lstStyle/>
            <a:p>
              <a:endParaRPr sz="1867">
                <a:latin typeface="Arvo"/>
                <a:ea typeface="Arvo"/>
                <a:cs typeface="Arvo"/>
                <a:sym typeface="Arvo"/>
              </a:endParaRPr>
            </a:p>
          </p:txBody>
        </p:sp>
        <p:sp>
          <p:nvSpPr>
            <p:cNvPr id="40" name="Shape 391"/>
            <p:cNvSpPr/>
            <p:nvPr/>
          </p:nvSpPr>
          <p:spPr>
            <a:xfrm rot="10800000" flipH="1">
              <a:off x="-308909" y="1697038"/>
              <a:ext cx="9030600" cy="1243800"/>
            </a:xfrm>
            <a:prstGeom prst="rect">
              <a:avLst/>
            </a:prstGeom>
            <a:solidFill>
              <a:srgbClr val="FF9800"/>
            </a:solidFill>
            <a:ln>
              <a:noFill/>
            </a:ln>
          </p:spPr>
          <p:txBody>
            <a:bodyPr lIns="121900" tIns="121900" rIns="121900" bIns="121900" anchor="ctr" anchorCtr="0">
              <a:noAutofit/>
            </a:bodyPr>
            <a:lstStyle/>
            <a:p>
              <a:pPr algn="ctr"/>
              <a:r>
                <a:rPr lang="en-GB" sz="1867" b="1" dirty="0">
                  <a:latin typeface="Roboto Condensed" panose="020B0604020202020204"/>
                  <a:ea typeface="Arvo"/>
                  <a:cs typeface="Arvo"/>
                  <a:sym typeface="Arvo"/>
                </a:rPr>
                <a:t>Needle Electrode</a:t>
              </a:r>
              <a:endParaRPr sz="1867" b="1" dirty="0">
                <a:latin typeface="Roboto Condensed" panose="020B0604020202020204"/>
                <a:ea typeface="Arvo"/>
                <a:cs typeface="Arvo"/>
                <a:sym typeface="Arvo"/>
              </a:endParaRPr>
            </a:p>
          </p:txBody>
        </p:sp>
        <p:sp>
          <p:nvSpPr>
            <p:cNvPr id="41" name="Shape 392"/>
            <p:cNvSpPr/>
            <p:nvPr/>
          </p:nvSpPr>
          <p:spPr>
            <a:xfrm rot="10800000" flipH="1">
              <a:off x="8707495" y="1697042"/>
              <a:ext cx="1243800" cy="1243800"/>
            </a:xfrm>
            <a:prstGeom prst="rtTriangle">
              <a:avLst/>
            </a:prstGeom>
            <a:solidFill>
              <a:srgbClr val="FF9800"/>
            </a:solidFill>
            <a:ln>
              <a:noFill/>
            </a:ln>
          </p:spPr>
          <p:txBody>
            <a:bodyPr lIns="121900" tIns="121900" rIns="121900" bIns="121900" anchor="ctr" anchorCtr="0">
              <a:noAutofit/>
            </a:bodyPr>
            <a:lstStyle/>
            <a:p>
              <a:endParaRPr sz="1867">
                <a:latin typeface="Arvo"/>
                <a:ea typeface="Arvo"/>
                <a:cs typeface="Arvo"/>
                <a:sym typeface="Arvo"/>
              </a:endParaRPr>
            </a:p>
          </p:txBody>
        </p:sp>
        <p:sp>
          <p:nvSpPr>
            <p:cNvPr id="42" name="Shape 393"/>
            <p:cNvSpPr/>
            <p:nvPr/>
          </p:nvSpPr>
          <p:spPr>
            <a:xfrm flipH="1">
              <a:off x="-1535283" y="1697042"/>
              <a:ext cx="1243800" cy="1243800"/>
            </a:xfrm>
            <a:prstGeom prst="rtTriangle">
              <a:avLst/>
            </a:prstGeom>
            <a:solidFill>
              <a:srgbClr val="FF9800"/>
            </a:solidFill>
            <a:ln>
              <a:noFill/>
            </a:ln>
          </p:spPr>
          <p:txBody>
            <a:bodyPr lIns="121900" tIns="121900" rIns="121900" bIns="121900" anchor="ctr" anchorCtr="0">
              <a:noAutofit/>
            </a:bodyPr>
            <a:lstStyle/>
            <a:p>
              <a:endParaRPr sz="1867">
                <a:latin typeface="Arvo"/>
                <a:ea typeface="Arvo"/>
                <a:cs typeface="Arvo"/>
                <a:sym typeface="Arvo"/>
              </a:endParaRPr>
            </a:p>
          </p:txBody>
        </p:sp>
        <p:sp>
          <p:nvSpPr>
            <p:cNvPr id="43" name="Shape 394"/>
            <p:cNvSpPr/>
            <p:nvPr/>
          </p:nvSpPr>
          <p:spPr>
            <a:xfrm rot="10800000">
              <a:off x="-1535278" y="2940859"/>
              <a:ext cx="1243800" cy="414300"/>
            </a:xfrm>
            <a:prstGeom prst="triangle">
              <a:avLst>
                <a:gd name="adj" fmla="val 0"/>
              </a:avLst>
            </a:prstGeom>
            <a:solidFill>
              <a:srgbClr val="D26F00"/>
            </a:solidFill>
            <a:ln>
              <a:noFill/>
            </a:ln>
          </p:spPr>
          <p:txBody>
            <a:bodyPr lIns="121900" tIns="121900" rIns="121900" bIns="121900" anchor="ctr" anchorCtr="0">
              <a:noAutofit/>
            </a:bodyPr>
            <a:lstStyle/>
            <a:p>
              <a:endParaRPr sz="1867">
                <a:latin typeface="Arvo"/>
                <a:ea typeface="Arvo"/>
                <a:cs typeface="Arvo"/>
                <a:sym typeface="Arvo"/>
              </a:endParaRPr>
            </a:p>
          </p:txBody>
        </p:sp>
      </p:grpSp>
      <p:sp>
        <p:nvSpPr>
          <p:cNvPr id="44" name="TextBox 43"/>
          <p:cNvSpPr txBox="1"/>
          <p:nvPr/>
        </p:nvSpPr>
        <p:spPr>
          <a:xfrm>
            <a:off x="69448" y="6480508"/>
            <a:ext cx="8562109" cy="338554"/>
          </a:xfrm>
          <a:prstGeom prst="rect">
            <a:avLst/>
          </a:prstGeom>
          <a:noFill/>
        </p:spPr>
        <p:txBody>
          <a:bodyPr wrap="square" rtlCol="0">
            <a:spAutoFit/>
          </a:bodyPr>
          <a:lstStyle/>
          <a:p>
            <a:r>
              <a:rPr lang="en-GB" sz="800" dirty="0">
                <a:solidFill>
                  <a:schemeClr val="tx2">
                    <a:lumMod val="50000"/>
                  </a:schemeClr>
                </a:solidFill>
                <a:latin typeface="Roboto Condensed" panose="020B0604020202020204"/>
              </a:rPr>
              <a:t>[6] </a:t>
            </a:r>
            <a:r>
              <a:rPr lang="en-GB" sz="800" dirty="0" err="1">
                <a:solidFill>
                  <a:schemeClr val="tx2">
                    <a:lumMod val="50000"/>
                  </a:schemeClr>
                </a:solidFill>
                <a:latin typeface="Roboto Condensed" panose="020B0604020202020204"/>
              </a:rPr>
              <a:t>Depositphotos</a:t>
            </a:r>
            <a:r>
              <a:rPr lang="en-GB" sz="800" dirty="0">
                <a:solidFill>
                  <a:schemeClr val="tx2">
                    <a:lumMod val="50000"/>
                  </a:schemeClr>
                </a:solidFill>
                <a:latin typeface="Roboto Condensed" panose="020B0604020202020204"/>
              </a:rPr>
              <a:t>, “Experiment recording electrical impulses (EMGs - electromyograms) from muscles”, https://depositphotos.com/fr/vector/experiment-recording-electrical-impulses-emgs-electromyograms-muscles-vector-illustration-506786168.html</a:t>
            </a:r>
          </a:p>
        </p:txBody>
      </p:sp>
      <p:sp>
        <p:nvSpPr>
          <p:cNvPr id="45" name="TextBox 44"/>
          <p:cNvSpPr txBox="1"/>
          <p:nvPr/>
        </p:nvSpPr>
        <p:spPr>
          <a:xfrm>
            <a:off x="69448" y="6479769"/>
            <a:ext cx="6639959" cy="215444"/>
          </a:xfrm>
          <a:prstGeom prst="rect">
            <a:avLst/>
          </a:prstGeom>
          <a:noFill/>
        </p:spPr>
        <p:txBody>
          <a:bodyPr wrap="none" rtlCol="0">
            <a:spAutoFit/>
          </a:bodyPr>
          <a:lstStyle/>
          <a:p>
            <a:r>
              <a:rPr lang="en-GB" sz="800" dirty="0">
                <a:solidFill>
                  <a:schemeClr val="tx2">
                    <a:lumMod val="50000"/>
                  </a:schemeClr>
                </a:solidFill>
                <a:latin typeface="Roboto Condensed" panose="020B0604020202020204"/>
              </a:rPr>
              <a:t>[7] Wikipedia, “Postoperative residual </a:t>
            </a:r>
            <a:r>
              <a:rPr lang="en-GB" sz="800" dirty="0" err="1">
                <a:solidFill>
                  <a:schemeClr val="tx2">
                    <a:lumMod val="50000"/>
                  </a:schemeClr>
                </a:solidFill>
                <a:latin typeface="Roboto Condensed" panose="020B0604020202020204"/>
              </a:rPr>
              <a:t>curarization</a:t>
            </a:r>
            <a:r>
              <a:rPr lang="en-GB" sz="800" dirty="0">
                <a:solidFill>
                  <a:schemeClr val="tx2">
                    <a:lumMod val="50000"/>
                  </a:schemeClr>
                </a:solidFill>
                <a:latin typeface="Roboto Condensed" panose="020B0604020202020204"/>
              </a:rPr>
              <a:t>”,https://en.wikipedia.org/wiki/</a:t>
            </a:r>
            <a:r>
              <a:rPr lang="en-GB" sz="800" dirty="0" err="1">
                <a:solidFill>
                  <a:schemeClr val="tx2">
                    <a:lumMod val="50000"/>
                  </a:schemeClr>
                </a:solidFill>
                <a:latin typeface="Roboto Condensed" panose="020B0604020202020204"/>
              </a:rPr>
              <a:t>Postoperative_residual_curarization</a:t>
            </a:r>
            <a:r>
              <a:rPr lang="en-GB" sz="800" dirty="0">
                <a:solidFill>
                  <a:schemeClr val="tx2">
                    <a:lumMod val="50000"/>
                  </a:schemeClr>
                </a:solidFill>
                <a:latin typeface="Roboto Condensed" panose="020B0604020202020204"/>
              </a:rPr>
              <a:t> (accessed June 20, 2025)</a:t>
            </a:r>
          </a:p>
        </p:txBody>
      </p:sp>
      <p:sp>
        <p:nvSpPr>
          <p:cNvPr id="46" name="TextBox 45"/>
          <p:cNvSpPr txBox="1"/>
          <p:nvPr/>
        </p:nvSpPr>
        <p:spPr>
          <a:xfrm>
            <a:off x="69448" y="6495078"/>
            <a:ext cx="6463629" cy="215444"/>
          </a:xfrm>
          <a:prstGeom prst="rect">
            <a:avLst/>
          </a:prstGeom>
          <a:noFill/>
        </p:spPr>
        <p:txBody>
          <a:bodyPr wrap="none" rtlCol="0">
            <a:spAutoFit/>
          </a:bodyPr>
          <a:lstStyle/>
          <a:p>
            <a:r>
              <a:rPr lang="en-GB" sz="800" dirty="0">
                <a:solidFill>
                  <a:schemeClr val="tx2">
                    <a:lumMod val="50000"/>
                  </a:schemeClr>
                </a:solidFill>
                <a:latin typeface="Roboto Condensed" panose="020B0604020202020204"/>
              </a:rPr>
              <a:t>[8] Wearable Sensing, “Electromyography (EMG)”, product information page, https://wearablesensing.com/emg/ (accessed June 20, 2025)</a:t>
            </a:r>
          </a:p>
        </p:txBody>
      </p:sp>
      <p:sp>
        <p:nvSpPr>
          <p:cNvPr id="47" name="TextBox 46"/>
          <p:cNvSpPr txBox="1"/>
          <p:nvPr/>
        </p:nvSpPr>
        <p:spPr>
          <a:xfrm>
            <a:off x="69448" y="6479769"/>
            <a:ext cx="8845691" cy="215444"/>
          </a:xfrm>
          <a:prstGeom prst="rect">
            <a:avLst/>
          </a:prstGeom>
          <a:noFill/>
        </p:spPr>
        <p:txBody>
          <a:bodyPr wrap="none" rtlCol="0">
            <a:spAutoFit/>
          </a:bodyPr>
          <a:lstStyle/>
          <a:p>
            <a:r>
              <a:rPr lang="en-GB" sz="800" dirty="0">
                <a:solidFill>
                  <a:schemeClr val="tx2">
                    <a:lumMod val="50000"/>
                  </a:schemeClr>
                </a:solidFill>
                <a:latin typeface="Roboto Condensed" panose="020B0604020202020204"/>
              </a:rPr>
              <a:t>[9] </a:t>
            </a:r>
            <a:r>
              <a:rPr lang="en-GB" sz="800" dirty="0" err="1">
                <a:solidFill>
                  <a:schemeClr val="tx2">
                    <a:lumMod val="50000"/>
                  </a:schemeClr>
                </a:solidFill>
                <a:latin typeface="Roboto Condensed" panose="020B0604020202020204"/>
              </a:rPr>
              <a:t>Bestfoot</a:t>
            </a:r>
            <a:r>
              <a:rPr lang="en-GB" sz="800" dirty="0">
                <a:solidFill>
                  <a:schemeClr val="tx2">
                    <a:lumMod val="50000"/>
                  </a:schemeClr>
                </a:solidFill>
                <a:latin typeface="Roboto Condensed" panose="020B0604020202020204"/>
              </a:rPr>
              <a:t> 4 Ward Blog, “NCS VS EMG: What’s Needed for a CMT Diagnosis”, January 21, 2020, https://bestfoot4wardblog.com/2020/01/21/ncs-vs-emg-whats-needed-for-a-cmt-diagnosis/ </a:t>
            </a:r>
          </a:p>
        </p:txBody>
      </p:sp>
      <p:sp>
        <p:nvSpPr>
          <p:cNvPr id="48" name="TextBox 47"/>
          <p:cNvSpPr txBox="1"/>
          <p:nvPr/>
        </p:nvSpPr>
        <p:spPr>
          <a:xfrm>
            <a:off x="11094342" y="2472806"/>
            <a:ext cx="356188" cy="276999"/>
          </a:xfrm>
          <a:prstGeom prst="rect">
            <a:avLst/>
          </a:prstGeom>
          <a:noFill/>
        </p:spPr>
        <p:txBody>
          <a:bodyPr wrap="none" rtlCol="0">
            <a:spAutoFit/>
          </a:bodyPr>
          <a:lstStyle/>
          <a:p>
            <a:r>
              <a:rPr lang="en-GB" sz="1200" dirty="0">
                <a:solidFill>
                  <a:schemeClr val="tx2">
                    <a:lumMod val="75000"/>
                  </a:schemeClr>
                </a:solidFill>
              </a:rPr>
              <a:t>[7]</a:t>
            </a:r>
          </a:p>
        </p:txBody>
      </p:sp>
      <p:sp>
        <p:nvSpPr>
          <p:cNvPr id="49" name="TextBox 48"/>
          <p:cNvSpPr txBox="1"/>
          <p:nvPr/>
        </p:nvSpPr>
        <p:spPr>
          <a:xfrm>
            <a:off x="11085547" y="2469180"/>
            <a:ext cx="356188" cy="276999"/>
          </a:xfrm>
          <a:prstGeom prst="rect">
            <a:avLst/>
          </a:prstGeom>
          <a:noFill/>
        </p:spPr>
        <p:txBody>
          <a:bodyPr wrap="none" rtlCol="0">
            <a:spAutoFit/>
          </a:bodyPr>
          <a:lstStyle/>
          <a:p>
            <a:r>
              <a:rPr lang="en-GB" sz="1200" dirty="0">
                <a:solidFill>
                  <a:schemeClr val="tx2">
                    <a:lumMod val="75000"/>
                  </a:schemeClr>
                </a:solidFill>
              </a:rPr>
              <a:t>[6]</a:t>
            </a:r>
          </a:p>
        </p:txBody>
      </p:sp>
      <p:sp>
        <p:nvSpPr>
          <p:cNvPr id="50" name="TextBox 49"/>
          <p:cNvSpPr txBox="1"/>
          <p:nvPr/>
        </p:nvSpPr>
        <p:spPr>
          <a:xfrm>
            <a:off x="11103137" y="2469724"/>
            <a:ext cx="356188" cy="276999"/>
          </a:xfrm>
          <a:prstGeom prst="rect">
            <a:avLst/>
          </a:prstGeom>
          <a:noFill/>
        </p:spPr>
        <p:txBody>
          <a:bodyPr wrap="none" rtlCol="0">
            <a:spAutoFit/>
          </a:bodyPr>
          <a:lstStyle/>
          <a:p>
            <a:r>
              <a:rPr lang="en-GB" sz="1200" dirty="0">
                <a:solidFill>
                  <a:schemeClr val="tx2">
                    <a:lumMod val="75000"/>
                  </a:schemeClr>
                </a:solidFill>
              </a:rPr>
              <a:t>[8]</a:t>
            </a:r>
          </a:p>
        </p:txBody>
      </p:sp>
      <p:sp>
        <p:nvSpPr>
          <p:cNvPr id="51" name="TextBox 50"/>
          <p:cNvSpPr txBox="1"/>
          <p:nvPr/>
        </p:nvSpPr>
        <p:spPr>
          <a:xfrm>
            <a:off x="11094342" y="2466724"/>
            <a:ext cx="356188" cy="276999"/>
          </a:xfrm>
          <a:prstGeom prst="rect">
            <a:avLst/>
          </a:prstGeom>
          <a:noFill/>
        </p:spPr>
        <p:txBody>
          <a:bodyPr wrap="none" rtlCol="0">
            <a:spAutoFit/>
          </a:bodyPr>
          <a:lstStyle/>
          <a:p>
            <a:r>
              <a:rPr lang="en-GB" sz="1200" dirty="0">
                <a:solidFill>
                  <a:schemeClr val="tx2">
                    <a:lumMod val="75000"/>
                  </a:schemeClr>
                </a:solidFill>
              </a:rPr>
              <a:t>[9]</a:t>
            </a:r>
          </a:p>
        </p:txBody>
      </p:sp>
      <p:sp>
        <p:nvSpPr>
          <p:cNvPr id="52" name="EMG are used for gesture recognition in prosthetics and HMIs."/>
          <p:cNvSpPr txBox="1">
            <a:spLocks/>
          </p:cNvSpPr>
          <p:nvPr/>
        </p:nvSpPr>
        <p:spPr>
          <a:xfrm>
            <a:off x="375932" y="2301960"/>
            <a:ext cx="7120712" cy="2816353"/>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a:spcAft>
                <a:spcPts val="2400"/>
              </a:spcAft>
              <a:buClr>
                <a:srgbClr val="FF9800"/>
              </a:buClr>
              <a:buNone/>
            </a:pPr>
            <a:endParaRPr lang="fr-FR" dirty="0"/>
          </a:p>
          <a:p>
            <a:pPr>
              <a:spcAft>
                <a:spcPts val="2400"/>
              </a:spcAft>
              <a:buClr>
                <a:srgbClr val="FF9800"/>
              </a:buClr>
              <a:buNone/>
            </a:pPr>
            <a:endParaRPr lang="fr-FR" b="1" dirty="0"/>
          </a:p>
          <a:p>
            <a:pPr marL="342900" indent="-342900">
              <a:spcAft>
                <a:spcPts val="1400"/>
              </a:spcAft>
              <a:buClr>
                <a:srgbClr val="FF9800"/>
              </a:buClr>
            </a:pPr>
            <a:r>
              <a:rPr lang="fr-FR" b="1" dirty="0" smtClean="0"/>
              <a:t>Electromyography (EMG):</a:t>
            </a:r>
            <a:r>
              <a:rPr lang="fr-FR" dirty="0" smtClean="0"/>
              <a:t> </a:t>
            </a:r>
            <a:r>
              <a:rPr lang="en-GB" dirty="0"/>
              <a:t>recording of the electrical activity produced by muscles during contraction.</a:t>
            </a:r>
          </a:p>
          <a:p>
            <a:pPr marL="342900" indent="-342900">
              <a:spcAft>
                <a:spcPts val="1400"/>
              </a:spcAft>
              <a:buClr>
                <a:srgbClr val="FF9800"/>
              </a:buClr>
            </a:pPr>
            <a:r>
              <a:rPr lang="en-GB" dirty="0"/>
              <a:t>EMG are used for gesture recognition in prosthetics and Human-Machine Interfaces.</a:t>
            </a:r>
          </a:p>
          <a:p>
            <a:pPr marL="342900" indent="-342900">
              <a:spcAft>
                <a:spcPts val="1400"/>
              </a:spcAft>
              <a:buClr>
                <a:srgbClr val="FF9800"/>
              </a:buClr>
            </a:pPr>
            <a:r>
              <a:rPr lang="en-GB" dirty="0"/>
              <a:t>Captured via surface (gelled/dry) or inserted (needle/fine-wire) electrodes.</a:t>
            </a:r>
          </a:p>
          <a:p>
            <a:pPr marL="342900" indent="-342900">
              <a:spcAft>
                <a:spcPts val="1400"/>
              </a:spcAft>
              <a:buClr>
                <a:srgbClr val="FF9800"/>
              </a:buClr>
            </a:pPr>
            <a:endParaRPr lang="en-GB" dirty="0"/>
          </a:p>
          <a:p>
            <a:pPr marL="342900" indent="-342900">
              <a:spcAft>
                <a:spcPts val="1400"/>
              </a:spcAft>
              <a:buClr>
                <a:srgbClr val="FF9800"/>
              </a:buClr>
            </a:pPr>
            <a:endParaRPr lang="fr-FR" dirty="0"/>
          </a:p>
        </p:txBody>
      </p:sp>
    </p:spTree>
    <p:extLst>
      <p:ext uri="{BB962C8B-B14F-4D97-AF65-F5344CB8AC3E}">
        <p14:creationId xmlns:p14="http://schemas.microsoft.com/office/powerpoint/2010/main" val="27666052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3"/>
                                        </p:tgtEl>
                                      </p:cBhvr>
                                    </p:animEffect>
                                    <p:set>
                                      <p:cBhvr>
                                        <p:cTn id="15" dur="1" fill="hold">
                                          <p:stCondLst>
                                            <p:cond delay="499"/>
                                          </p:stCondLst>
                                        </p:cTn>
                                        <p:tgtEl>
                                          <p:spTgt spid="3"/>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500"/>
                                        <p:tgtEl>
                                          <p:spTgt spid="44"/>
                                        </p:tgtEl>
                                      </p:cBhvr>
                                    </p:animEffect>
                                    <p:set>
                                      <p:cBhvr>
                                        <p:cTn id="18" dur="1" fill="hold">
                                          <p:stCondLst>
                                            <p:cond delay="499"/>
                                          </p:stCondLst>
                                        </p:cTn>
                                        <p:tgtEl>
                                          <p:spTgt spid="44"/>
                                        </p:tgtEl>
                                        <p:attrNameLst>
                                          <p:attrName>style.visibility</p:attrName>
                                        </p:attrNameLst>
                                      </p:cBhvr>
                                      <p:to>
                                        <p:strVal val="hidden"/>
                                      </p:to>
                                    </p:set>
                                  </p:childTnLst>
                                </p:cTn>
                              </p:par>
                              <p:par>
                                <p:cTn id="19" presetID="10" presetClass="exit" presetSubtype="0" fill="hold" grpId="1" nodeType="withEffect">
                                  <p:stCondLst>
                                    <p:cond delay="0"/>
                                  </p:stCondLst>
                                  <p:childTnLst>
                                    <p:animEffect transition="out" filter="fade">
                                      <p:cBhvr>
                                        <p:cTn id="20" dur="500"/>
                                        <p:tgtEl>
                                          <p:spTgt spid="49"/>
                                        </p:tgtEl>
                                      </p:cBhvr>
                                    </p:animEffect>
                                    <p:set>
                                      <p:cBhvr>
                                        <p:cTn id="21" dur="1" fill="hold">
                                          <p:stCondLst>
                                            <p:cond delay="499"/>
                                          </p:stCondLst>
                                        </p:cTn>
                                        <p:tgtEl>
                                          <p:spTgt spid="49"/>
                                        </p:tgtEl>
                                        <p:attrNameLst>
                                          <p:attrName>style.visibility</p:attrName>
                                        </p:attrNameLst>
                                      </p:cBhvr>
                                      <p:to>
                                        <p:strVal val="hidden"/>
                                      </p:to>
                                    </p:se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500"/>
                                        <p:tgtEl>
                                          <p:spTgt spid="4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fade">
                                      <p:cBhvr>
                                        <p:cTn id="30" dur="500"/>
                                        <p:tgtEl>
                                          <p:spTgt spid="48"/>
                                        </p:tgtEl>
                                      </p:cBhvr>
                                    </p:animEffect>
                                  </p:childTnLst>
                                </p:cTn>
                              </p:par>
                              <p:par>
                                <p:cTn id="31" presetID="10"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nodeType="clickEffect">
                                  <p:stCondLst>
                                    <p:cond delay="0"/>
                                  </p:stCondLst>
                                  <p:childTnLst>
                                    <p:animEffect transition="out" filter="fade">
                                      <p:cBhvr>
                                        <p:cTn id="37" dur="500"/>
                                        <p:tgtEl>
                                          <p:spTgt spid="13"/>
                                        </p:tgtEl>
                                      </p:cBhvr>
                                    </p:animEffect>
                                    <p:set>
                                      <p:cBhvr>
                                        <p:cTn id="38" dur="1" fill="hold">
                                          <p:stCondLst>
                                            <p:cond delay="499"/>
                                          </p:stCondLst>
                                        </p:cTn>
                                        <p:tgtEl>
                                          <p:spTgt spid="13"/>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500"/>
                                        <p:tgtEl>
                                          <p:spTgt spid="24"/>
                                        </p:tgtEl>
                                      </p:cBhvr>
                                    </p:animEffect>
                                    <p:set>
                                      <p:cBhvr>
                                        <p:cTn id="41" dur="1" fill="hold">
                                          <p:stCondLst>
                                            <p:cond delay="499"/>
                                          </p:stCondLst>
                                        </p:cTn>
                                        <p:tgtEl>
                                          <p:spTgt spid="24"/>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500"/>
                                        <p:tgtEl>
                                          <p:spTgt spid="45"/>
                                        </p:tgtEl>
                                      </p:cBhvr>
                                    </p:animEffect>
                                    <p:set>
                                      <p:cBhvr>
                                        <p:cTn id="44" dur="1" fill="hold">
                                          <p:stCondLst>
                                            <p:cond delay="499"/>
                                          </p:stCondLst>
                                        </p:cTn>
                                        <p:tgtEl>
                                          <p:spTgt spid="45"/>
                                        </p:tgtEl>
                                        <p:attrNameLst>
                                          <p:attrName>style.visibility</p:attrName>
                                        </p:attrNameLst>
                                      </p:cBhvr>
                                      <p:to>
                                        <p:strVal val="hidden"/>
                                      </p:to>
                                    </p:set>
                                  </p:childTnLst>
                                </p:cTn>
                              </p:par>
                              <p:par>
                                <p:cTn id="45" presetID="10" presetClass="exit" presetSubtype="0" fill="hold" grpId="1" nodeType="withEffect">
                                  <p:stCondLst>
                                    <p:cond delay="0"/>
                                  </p:stCondLst>
                                  <p:childTnLst>
                                    <p:animEffect transition="out" filter="fade">
                                      <p:cBhvr>
                                        <p:cTn id="46" dur="500"/>
                                        <p:tgtEl>
                                          <p:spTgt spid="48"/>
                                        </p:tgtEl>
                                      </p:cBhvr>
                                    </p:animEffect>
                                    <p:set>
                                      <p:cBhvr>
                                        <p:cTn id="47" dur="1" fill="hold">
                                          <p:stCondLst>
                                            <p:cond delay="499"/>
                                          </p:stCondLst>
                                        </p:cTn>
                                        <p:tgtEl>
                                          <p:spTgt spid="48"/>
                                        </p:tgtEl>
                                        <p:attrNameLst>
                                          <p:attrName>style.visibility</p:attrName>
                                        </p:attrNameLst>
                                      </p:cBhvr>
                                      <p:to>
                                        <p:strVal val="hidden"/>
                                      </p:to>
                                    </p:set>
                                  </p:childTnLst>
                                </p:cTn>
                              </p:par>
                              <p:par>
                                <p:cTn id="48" presetID="10" presetClass="entr" presetSubtype="0" fill="hold"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5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fade">
                                      <p:cBhvr>
                                        <p:cTn id="53" dur="500"/>
                                        <p:tgtEl>
                                          <p:spTgt spid="4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fade">
                                      <p:cBhvr>
                                        <p:cTn id="56" dur="500"/>
                                        <p:tgtEl>
                                          <p:spTgt spid="50"/>
                                        </p:tgtEl>
                                      </p:cBhvr>
                                    </p:animEffect>
                                  </p:childTnLst>
                                </p:cTn>
                              </p:par>
                              <p:par>
                                <p:cTn id="57" presetID="10" presetClass="entr" presetSubtype="0" fill="hold"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00"/>
                                        <p:tgtEl>
                                          <p:spTgt spid="3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xit" presetSubtype="0" fill="hold" nodeType="clickEffect">
                                  <p:stCondLst>
                                    <p:cond delay="0"/>
                                  </p:stCondLst>
                                  <p:childTnLst>
                                    <p:animEffect transition="out" filter="fade">
                                      <p:cBhvr>
                                        <p:cTn id="63" dur="500"/>
                                        <p:tgtEl>
                                          <p:spTgt spid="30"/>
                                        </p:tgtEl>
                                      </p:cBhvr>
                                    </p:animEffect>
                                    <p:set>
                                      <p:cBhvr>
                                        <p:cTn id="64" dur="1" fill="hold">
                                          <p:stCondLst>
                                            <p:cond delay="499"/>
                                          </p:stCondLst>
                                        </p:cTn>
                                        <p:tgtEl>
                                          <p:spTgt spid="30"/>
                                        </p:tgtEl>
                                        <p:attrNameLst>
                                          <p:attrName>style.visibility</p:attrName>
                                        </p:attrNameLst>
                                      </p:cBhvr>
                                      <p:to>
                                        <p:strVal val="hidden"/>
                                      </p:to>
                                    </p:set>
                                  </p:childTnLst>
                                </p:cTn>
                              </p:par>
                              <p:par>
                                <p:cTn id="65" presetID="10" presetClass="exit" presetSubtype="0" fill="hold" grpId="1" nodeType="withEffect">
                                  <p:stCondLst>
                                    <p:cond delay="0"/>
                                  </p:stCondLst>
                                  <p:childTnLst>
                                    <p:animEffect transition="out" filter="fade">
                                      <p:cBhvr>
                                        <p:cTn id="66" dur="500"/>
                                        <p:tgtEl>
                                          <p:spTgt spid="46"/>
                                        </p:tgtEl>
                                      </p:cBhvr>
                                    </p:animEffect>
                                    <p:set>
                                      <p:cBhvr>
                                        <p:cTn id="67" dur="1" fill="hold">
                                          <p:stCondLst>
                                            <p:cond delay="499"/>
                                          </p:stCondLst>
                                        </p:cTn>
                                        <p:tgtEl>
                                          <p:spTgt spid="46"/>
                                        </p:tgtEl>
                                        <p:attrNameLst>
                                          <p:attrName>style.visibility</p:attrName>
                                        </p:attrNameLst>
                                      </p:cBhvr>
                                      <p:to>
                                        <p:strVal val="hidden"/>
                                      </p:to>
                                    </p:set>
                                  </p:childTnLst>
                                </p:cTn>
                              </p:par>
                              <p:par>
                                <p:cTn id="68" presetID="10" presetClass="exit" presetSubtype="0" fill="hold" grpId="1" nodeType="withEffect">
                                  <p:stCondLst>
                                    <p:cond delay="0"/>
                                  </p:stCondLst>
                                  <p:childTnLst>
                                    <p:animEffect transition="out" filter="fade">
                                      <p:cBhvr>
                                        <p:cTn id="69" dur="500"/>
                                        <p:tgtEl>
                                          <p:spTgt spid="50"/>
                                        </p:tgtEl>
                                      </p:cBhvr>
                                    </p:animEffect>
                                    <p:set>
                                      <p:cBhvr>
                                        <p:cTn id="70" dur="1" fill="hold">
                                          <p:stCondLst>
                                            <p:cond delay="499"/>
                                          </p:stCondLst>
                                        </p:cTn>
                                        <p:tgtEl>
                                          <p:spTgt spid="50"/>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500"/>
                                        <p:tgtEl>
                                          <p:spTgt spid="31"/>
                                        </p:tgtEl>
                                      </p:cBhvr>
                                    </p:animEffect>
                                    <p:set>
                                      <p:cBhvr>
                                        <p:cTn id="73" dur="1" fill="hold">
                                          <p:stCondLst>
                                            <p:cond delay="499"/>
                                          </p:stCondLst>
                                        </p:cTn>
                                        <p:tgtEl>
                                          <p:spTgt spid="31"/>
                                        </p:tgtEl>
                                        <p:attrNameLst>
                                          <p:attrName>style.visibility</p:attrName>
                                        </p:attrNameLst>
                                      </p:cBhvr>
                                      <p:to>
                                        <p:strVal val="hidden"/>
                                      </p:to>
                                    </p:set>
                                  </p:childTnLst>
                                </p:cTn>
                              </p:par>
                              <p:par>
                                <p:cTn id="74" presetID="10" presetClass="entr" presetSubtype="0" fill="hold" nodeType="with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500"/>
                                        <p:tgtEl>
                                          <p:spTgt spid="37"/>
                                        </p:tgtEl>
                                      </p:cBhvr>
                                    </p:animEffect>
                                  </p:childTnLst>
                                </p:cTn>
                              </p:par>
                              <p:par>
                                <p:cTn id="77" presetID="10" presetClass="entr" presetSubtype="0" fill="hold" nodeType="withEffect">
                                  <p:stCondLst>
                                    <p:cond delay="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500"/>
                                        <p:tgtEl>
                                          <p:spTgt spid="3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7"/>
                                        </p:tgtEl>
                                        <p:attrNameLst>
                                          <p:attrName>style.visibility</p:attrName>
                                        </p:attrNameLst>
                                      </p:cBhvr>
                                      <p:to>
                                        <p:strVal val="visible"/>
                                      </p:to>
                                    </p:set>
                                    <p:animEffect transition="in" filter="fade">
                                      <p:cBhvr>
                                        <p:cTn id="82" dur="500"/>
                                        <p:tgtEl>
                                          <p:spTgt spid="4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fade">
                                      <p:cBhvr>
                                        <p:cTn id="85"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4" grpId="1"/>
      <p:bldP spid="45" grpId="0"/>
      <p:bldP spid="45" grpId="1"/>
      <p:bldP spid="46" grpId="0"/>
      <p:bldP spid="46" grpId="1"/>
      <p:bldP spid="47" grpId="0"/>
      <p:bldP spid="48" grpId="0"/>
      <p:bldP spid="48" grpId="1"/>
      <p:bldP spid="49" grpId="0"/>
      <p:bldP spid="49" grpId="1"/>
      <p:bldP spid="50" grpId="0"/>
      <p:bldP spid="50" grpId="1"/>
      <p:bldP spid="5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a:xfrm>
            <a:off x="851249" y="711851"/>
            <a:ext cx="8066422" cy="1021600"/>
          </a:xfrm>
        </p:spPr>
        <p:txBody>
          <a:bodyPr/>
          <a:lstStyle/>
          <a:p>
            <a:r>
              <a:rPr lang="fr-FR" sz="2800" dirty="0"/>
              <a:t>Background: </a:t>
            </a:r>
            <a:r>
              <a:rPr lang="en-GB" sz="2400" dirty="0"/>
              <a:t>EMG Signal Generation</a:t>
            </a:r>
            <a:r>
              <a:rPr lang="en-GB" sz="2800" dirty="0"/>
              <a:t/>
            </a:r>
            <a:br>
              <a:rPr lang="en-GB" sz="2800" dirty="0"/>
            </a:br>
            <a:r>
              <a:rPr lang="fr-FR" sz="2800" dirty="0"/>
              <a:t>  </a:t>
            </a:r>
            <a:endParaRPr lang="fr-FR" sz="2800"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6</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15" name="EMG: Electrical signals from muscle contractions."/>
          <p:cNvSpPr txBox="1">
            <a:spLocks/>
          </p:cNvSpPr>
          <p:nvPr/>
        </p:nvSpPr>
        <p:spPr>
          <a:xfrm>
            <a:off x="441376" y="2468697"/>
            <a:ext cx="6995009" cy="3017886"/>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342900" indent="-342900">
              <a:spcAft>
                <a:spcPts val="1400"/>
              </a:spcAft>
              <a:buClr>
                <a:srgbClr val="FF9800"/>
              </a:buClr>
            </a:pPr>
            <a:r>
              <a:rPr lang="en-GB" dirty="0"/>
              <a:t>An alpha motor neuron (in the spinal cord) sends an electrical impulse (action potential) down its axon</a:t>
            </a:r>
            <a:r>
              <a:rPr lang="fr-FR" dirty="0"/>
              <a:t>.</a:t>
            </a:r>
          </a:p>
          <a:p>
            <a:pPr marL="342900" indent="-342900">
              <a:spcAft>
                <a:spcPts val="1400"/>
              </a:spcAft>
              <a:buClr>
                <a:srgbClr val="FF9800"/>
              </a:buClr>
            </a:pPr>
            <a:r>
              <a:rPr lang="en-GB" dirty="0"/>
              <a:t>The action potential arrives at the neuromuscular junction.</a:t>
            </a:r>
          </a:p>
          <a:p>
            <a:pPr marL="342900" indent="-342900">
              <a:spcAft>
                <a:spcPts val="1400"/>
              </a:spcAft>
              <a:buClr>
                <a:srgbClr val="FF9800"/>
              </a:buClr>
            </a:pPr>
            <a:r>
              <a:rPr lang="en-GB" dirty="0"/>
              <a:t>Muscle </a:t>
            </a:r>
            <a:r>
              <a:rPr lang="en-GB" dirty="0" err="1">
                <a:solidFill>
                  <a:schemeClr val="tx1"/>
                </a:solidFill>
              </a:rPr>
              <a:t>fiber</a:t>
            </a:r>
            <a:r>
              <a:rPr lang="en-GB" dirty="0"/>
              <a:t> generates its own action potential.</a:t>
            </a:r>
          </a:p>
          <a:p>
            <a:pPr marL="342900" indent="-342900">
              <a:spcAft>
                <a:spcPts val="1400"/>
              </a:spcAft>
              <a:buClr>
                <a:srgbClr val="FF9800"/>
              </a:buClr>
            </a:pPr>
            <a:r>
              <a:rPr lang="en-GB" dirty="0"/>
              <a:t>EMG electrodes detect summed bioelectric potentials from activated muscle </a:t>
            </a:r>
            <a:r>
              <a:rPr lang="en-GB" dirty="0" err="1">
                <a:solidFill>
                  <a:schemeClr val="tx1"/>
                </a:solidFill>
              </a:rPr>
              <a:t>fibers</a:t>
            </a:r>
            <a:r>
              <a:rPr lang="en-GB" dirty="0"/>
              <a:t>.</a:t>
            </a:r>
            <a:endParaRPr lang="fr-FR" dirty="0"/>
          </a:p>
        </p:txBody>
      </p:sp>
      <p:grpSp>
        <p:nvGrpSpPr>
          <p:cNvPr id="44" name="Group 43"/>
          <p:cNvGrpSpPr/>
          <p:nvPr/>
        </p:nvGrpSpPr>
        <p:grpSpPr>
          <a:xfrm>
            <a:off x="7228474" y="1785216"/>
            <a:ext cx="4912059" cy="4040168"/>
            <a:chOff x="7228474" y="1785216"/>
            <a:chExt cx="4912059" cy="4040168"/>
          </a:xfrm>
        </p:grpSpPr>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8474" y="1785216"/>
              <a:ext cx="4912059" cy="4040168"/>
            </a:xfrm>
            <a:prstGeom prst="rect">
              <a:avLst/>
            </a:prstGeom>
          </p:spPr>
        </p:pic>
        <p:sp>
          <p:nvSpPr>
            <p:cNvPr id="19" name="TextBox 18"/>
            <p:cNvSpPr txBox="1"/>
            <p:nvPr/>
          </p:nvSpPr>
          <p:spPr>
            <a:xfrm>
              <a:off x="10355707" y="3968115"/>
              <a:ext cx="1533018" cy="492443"/>
            </a:xfrm>
            <a:prstGeom prst="rect">
              <a:avLst/>
            </a:prstGeom>
            <a:noFill/>
          </p:spPr>
          <p:txBody>
            <a:bodyPr wrap="square" rtlCol="0">
              <a:spAutoFit/>
            </a:bodyPr>
            <a:lstStyle/>
            <a:p>
              <a:pPr algn="ctr"/>
              <a:r>
                <a:rPr lang="en-GB" sz="1250" b="1" dirty="0">
                  <a:latin typeface="Roboto Condensed" panose="020B0604020202020204"/>
                </a:rPr>
                <a:t>Neuromuscular junction</a:t>
              </a:r>
            </a:p>
          </p:txBody>
        </p:sp>
        <p:cxnSp>
          <p:nvCxnSpPr>
            <p:cNvPr id="21" name="Straight Connector 20"/>
            <p:cNvCxnSpPr>
              <a:endCxn id="19" idx="2"/>
            </p:cNvCxnSpPr>
            <p:nvPr/>
          </p:nvCxnSpPr>
          <p:spPr>
            <a:xfrm flipV="1">
              <a:off x="11059956" y="4460558"/>
              <a:ext cx="62260" cy="803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 name="TextBox 16"/>
          <p:cNvSpPr txBox="1"/>
          <p:nvPr/>
        </p:nvSpPr>
        <p:spPr>
          <a:xfrm>
            <a:off x="11335642" y="1475014"/>
            <a:ext cx="441146" cy="276999"/>
          </a:xfrm>
          <a:prstGeom prst="rect">
            <a:avLst/>
          </a:prstGeom>
          <a:noFill/>
        </p:spPr>
        <p:txBody>
          <a:bodyPr wrap="none" rtlCol="0">
            <a:spAutoFit/>
          </a:bodyPr>
          <a:lstStyle/>
          <a:p>
            <a:r>
              <a:rPr lang="en-GB" sz="1200" dirty="0">
                <a:solidFill>
                  <a:schemeClr val="tx2">
                    <a:lumMod val="75000"/>
                  </a:schemeClr>
                </a:solidFill>
              </a:rPr>
              <a:t>[10]</a:t>
            </a:r>
          </a:p>
        </p:txBody>
      </p:sp>
      <p:sp>
        <p:nvSpPr>
          <p:cNvPr id="18" name="TextBox 17"/>
          <p:cNvSpPr txBox="1"/>
          <p:nvPr/>
        </p:nvSpPr>
        <p:spPr>
          <a:xfrm>
            <a:off x="0" y="6602800"/>
            <a:ext cx="7366119" cy="215444"/>
          </a:xfrm>
          <a:prstGeom prst="rect">
            <a:avLst/>
          </a:prstGeom>
          <a:noFill/>
        </p:spPr>
        <p:txBody>
          <a:bodyPr wrap="none" rtlCol="0">
            <a:spAutoFit/>
          </a:bodyPr>
          <a:lstStyle/>
          <a:p>
            <a:r>
              <a:rPr lang="en-GB" sz="800" dirty="0">
                <a:solidFill>
                  <a:schemeClr val="tx2">
                    <a:lumMod val="50000"/>
                  </a:schemeClr>
                </a:solidFill>
                <a:latin typeface="Roboto Condensed" panose="020B0604020202020204"/>
              </a:rPr>
              <a:t>[10] GetBodySmart (Scott A. Sheffield, MS), “Types of Neurons”, updated November 1, 2022, https://www.getbodysmart.com/nerve-cells/neurons-classification/</a:t>
            </a:r>
          </a:p>
        </p:txBody>
      </p:sp>
    </p:spTree>
    <p:extLst>
      <p:ext uri="{BB962C8B-B14F-4D97-AF65-F5344CB8AC3E}">
        <p14:creationId xmlns:p14="http://schemas.microsoft.com/office/powerpoint/2010/main" val="20336096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Shape 221"/>
          <p:cNvSpPr txBox="1">
            <a:spLocks noGrp="1"/>
          </p:cNvSpPr>
          <p:nvPr>
            <p:ph type="ctrTitle"/>
          </p:nvPr>
        </p:nvSpPr>
        <p:spPr>
          <a:xfrm>
            <a:off x="506822" y="4342045"/>
            <a:ext cx="5746191" cy="1546400"/>
          </a:xfrm>
          <a:prstGeom prst="rect">
            <a:avLst/>
          </a:prstGeom>
        </p:spPr>
        <p:txBody>
          <a:bodyPr lIns="121900" tIns="121900" rIns="121900" bIns="121900" anchor="b" anchorCtr="0">
            <a:noAutofit/>
          </a:bodyPr>
          <a:lstStyle/>
          <a:p>
            <a:pPr marL="342900" indent="-342900">
              <a:buClr>
                <a:srgbClr val="FF9800"/>
              </a:buClr>
            </a:pPr>
            <a:r>
              <a:rPr lang="fr-FR" dirty="0">
                <a:solidFill>
                  <a:schemeClr val="bg1"/>
                </a:solidFill>
              </a:rPr>
              <a:t>Problem </a:t>
            </a:r>
            <a:r>
              <a:rPr lang="en-GB" dirty="0">
                <a:solidFill>
                  <a:schemeClr val="bg1"/>
                </a:solidFill>
              </a:rPr>
              <a:t>Statement and</a:t>
            </a:r>
            <a:br>
              <a:rPr lang="en-GB" dirty="0">
                <a:solidFill>
                  <a:schemeClr val="bg1"/>
                </a:solidFill>
              </a:rPr>
            </a:br>
            <a:r>
              <a:rPr lang="en-GB" dirty="0">
                <a:solidFill>
                  <a:schemeClr val="bg1"/>
                </a:solidFill>
              </a:rPr>
              <a:t>Approach Motivation    </a:t>
            </a:r>
            <a:endParaRPr lang="fr-FR" dirty="0">
              <a:solidFill>
                <a:schemeClr val="bg1"/>
              </a:solidFill>
            </a:endParaRPr>
          </a:p>
        </p:txBody>
      </p:sp>
      <p:sp>
        <p:nvSpPr>
          <p:cNvPr id="223" name="Shape 223"/>
          <p:cNvSpPr txBox="1">
            <a:spLocks noGrp="1"/>
          </p:cNvSpPr>
          <p:nvPr>
            <p:ph type="sldNum" idx="12"/>
          </p:nvPr>
        </p:nvSpPr>
        <p:spPr>
          <a:xfrm>
            <a:off x="10157333" y="6182000"/>
            <a:ext cx="1983200" cy="420800"/>
          </a:xfrm>
          <a:prstGeom prst="rect">
            <a:avLst/>
          </a:prstGeom>
          <a:noFill/>
          <a:ln>
            <a:noFill/>
          </a:ln>
        </p:spPr>
        <p:txBody>
          <a:bodyPr lIns="91425" tIns="91425" rIns="91425" bIns="91425" anchor="ctr" anchorCtr="0">
            <a:noAutofit/>
          </a:bodyPr>
          <a:lstStyle/>
          <a:p>
            <a:fld id="{00000000-1234-1234-1234-123412341234}" type="slidenum">
              <a:rPr lang="en" sz="1800" smtClean="0">
                <a:solidFill>
                  <a:srgbClr val="3F5378"/>
                </a:solidFill>
                <a:latin typeface="Roboto Condensed" panose="020B0604020202020204"/>
              </a:rPr>
              <a:pPr/>
              <a:t>7</a:t>
            </a:fld>
            <a:endParaRPr lang="en" sz="1800">
              <a:solidFill>
                <a:srgbClr val="3F5378"/>
              </a:solidFill>
              <a:latin typeface="Roboto Condensed" panose="020B0604020202020204"/>
            </a:endParaRPr>
          </a:p>
        </p:txBody>
      </p:sp>
      <p:sp>
        <p:nvSpPr>
          <p:cNvPr id="224" name="Shape 224"/>
          <p:cNvSpPr txBox="1"/>
          <p:nvPr/>
        </p:nvSpPr>
        <p:spPr>
          <a:xfrm>
            <a:off x="618033" y="0"/>
            <a:ext cx="2908800" cy="4181600"/>
          </a:xfrm>
          <a:prstGeom prst="rect">
            <a:avLst/>
          </a:prstGeom>
          <a:noFill/>
          <a:ln>
            <a:noFill/>
          </a:ln>
        </p:spPr>
        <p:txBody>
          <a:bodyPr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2</a:t>
            </a:r>
          </a:p>
        </p:txBody>
      </p:sp>
    </p:spTree>
    <p:extLst>
      <p:ext uri="{BB962C8B-B14F-4D97-AF65-F5344CB8AC3E}">
        <p14:creationId xmlns:p14="http://schemas.microsoft.com/office/powerpoint/2010/main" val="4324094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a:xfrm>
            <a:off x="988678" y="499221"/>
            <a:ext cx="7451617" cy="1021600"/>
          </a:xfrm>
        </p:spPr>
        <p:txBody>
          <a:bodyPr/>
          <a:lstStyle/>
          <a:p>
            <a:r>
              <a:rPr lang="en-GB" sz="2500" dirty="0"/>
              <a:t>Problem Statement and Approach Motivation </a:t>
            </a:r>
            <a:endParaRPr lang="fr-FR" sz="2500"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8</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15" name="EMG: Electrical signals from muscle contractions."/>
          <p:cNvSpPr txBox="1">
            <a:spLocks/>
          </p:cNvSpPr>
          <p:nvPr/>
        </p:nvSpPr>
        <p:spPr>
          <a:xfrm>
            <a:off x="623383" y="2899565"/>
            <a:ext cx="10698263" cy="3017886"/>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342900" indent="-342900">
              <a:lnSpc>
                <a:spcPct val="150000"/>
              </a:lnSpc>
              <a:spcAft>
                <a:spcPts val="1400"/>
              </a:spcAft>
              <a:buClr>
                <a:srgbClr val="FF9800"/>
              </a:buClr>
            </a:pPr>
            <a:r>
              <a:rPr lang="en-GB" b="1" dirty="0"/>
              <a:t>High variability: </a:t>
            </a:r>
            <a:r>
              <a:rPr lang="en-GB" dirty="0"/>
              <a:t>muscle fatigue, motion artifacts, subject differences.</a:t>
            </a:r>
          </a:p>
          <a:p>
            <a:pPr marL="342900" indent="-342900">
              <a:lnSpc>
                <a:spcPct val="150000"/>
              </a:lnSpc>
              <a:spcAft>
                <a:spcPts val="1400"/>
              </a:spcAft>
              <a:buClr>
                <a:srgbClr val="FF9800"/>
              </a:buClr>
            </a:pPr>
            <a:r>
              <a:rPr lang="en-GB" b="1" dirty="0"/>
              <a:t>Noise: </a:t>
            </a:r>
            <a:r>
              <a:rPr lang="en-GB" dirty="0"/>
              <a:t>cross-talk and electrode noise reduce signal quality.</a:t>
            </a:r>
          </a:p>
          <a:p>
            <a:pPr marL="342900" indent="-342900">
              <a:lnSpc>
                <a:spcPct val="150000"/>
              </a:lnSpc>
              <a:spcAft>
                <a:spcPts val="1400"/>
              </a:spcAft>
              <a:buClr>
                <a:srgbClr val="FF9800"/>
              </a:buClr>
            </a:pPr>
            <a:r>
              <a:rPr lang="en-GB" b="1" dirty="0"/>
              <a:t>Impact: </a:t>
            </a:r>
            <a:r>
              <a:rPr lang="en-GB" dirty="0"/>
              <a:t>unreliable control challenges high-precision in Human-Machine Interfaces and prosthetics.</a:t>
            </a:r>
            <a:endParaRPr lang="fr-FR" dirty="0"/>
          </a:p>
        </p:txBody>
      </p:sp>
      <p:sp>
        <p:nvSpPr>
          <p:cNvPr id="13" name="titre_Understanding EMG Signals"/>
          <p:cNvSpPr txBox="1">
            <a:spLocks/>
          </p:cNvSpPr>
          <p:nvPr/>
        </p:nvSpPr>
        <p:spPr>
          <a:xfrm>
            <a:off x="1143743" y="2103073"/>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pPr algn="ctr"/>
            <a:r>
              <a:rPr lang="fr-FR" sz="2800" dirty="0">
                <a:solidFill>
                  <a:srgbClr val="FF9800"/>
                </a:solidFill>
              </a:rPr>
              <a:t>Challenges in EMG </a:t>
            </a:r>
            <a:r>
              <a:rPr lang="fr-FR" sz="2800" dirty="0" err="1">
                <a:solidFill>
                  <a:srgbClr val="FF9800"/>
                </a:solidFill>
              </a:rPr>
              <a:t>Gesture</a:t>
            </a:r>
            <a:r>
              <a:rPr lang="fr-FR" sz="2800" dirty="0">
                <a:solidFill>
                  <a:srgbClr val="FF9800"/>
                </a:solidFill>
              </a:rPr>
              <a:t> Recognition</a:t>
            </a:r>
            <a:endParaRPr lang="en" sz="2800" dirty="0">
              <a:solidFill>
                <a:srgbClr val="FF9800"/>
              </a:solidFill>
            </a:endParaRPr>
          </a:p>
        </p:txBody>
      </p:sp>
    </p:spTree>
    <p:extLst>
      <p:ext uri="{BB962C8B-B14F-4D97-AF65-F5344CB8AC3E}">
        <p14:creationId xmlns:p14="http://schemas.microsoft.com/office/powerpoint/2010/main" val="19643301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a:xfrm>
            <a:off x="988678" y="499221"/>
            <a:ext cx="7323200" cy="1021600"/>
          </a:xfrm>
        </p:spPr>
        <p:txBody>
          <a:bodyPr/>
          <a:lstStyle/>
          <a:p>
            <a:r>
              <a:rPr lang="en-GB" sz="2500" dirty="0"/>
              <a:t>Problem Statement and Approach Motivation </a:t>
            </a:r>
            <a:endParaRPr lang="fr-FR"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9</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15" name="EMG: Electrical signals from muscle contractions."/>
          <p:cNvSpPr txBox="1">
            <a:spLocks/>
          </p:cNvSpPr>
          <p:nvPr/>
        </p:nvSpPr>
        <p:spPr>
          <a:xfrm>
            <a:off x="480396" y="3164114"/>
            <a:ext cx="6557317" cy="3017886"/>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342900" indent="-342900">
              <a:lnSpc>
                <a:spcPct val="150000"/>
              </a:lnSpc>
              <a:spcAft>
                <a:spcPts val="1400"/>
              </a:spcAft>
              <a:buClr>
                <a:srgbClr val="FF9800"/>
              </a:buClr>
            </a:pPr>
            <a:r>
              <a:rPr lang="en-GB" sz="2200" b="1" dirty="0"/>
              <a:t>CNNs: </a:t>
            </a:r>
            <a:r>
              <a:rPr lang="en-GB" sz="2200" dirty="0"/>
              <a:t>good for local patterns, weak for long-term signal relationships.</a:t>
            </a:r>
          </a:p>
          <a:p>
            <a:pPr marL="342900" indent="-342900">
              <a:lnSpc>
                <a:spcPct val="150000"/>
              </a:lnSpc>
              <a:spcAft>
                <a:spcPts val="1400"/>
              </a:spcAft>
              <a:buClr>
                <a:srgbClr val="FF9800"/>
              </a:buClr>
            </a:pPr>
            <a:r>
              <a:rPr lang="en-GB" sz="2200" b="1" dirty="0"/>
              <a:t>RNNs: </a:t>
            </a:r>
            <a:r>
              <a:rPr lang="en-GB" sz="2200" dirty="0"/>
              <a:t>struggle with long sequences due </a:t>
            </a:r>
            <a:r>
              <a:rPr lang="en-GB" sz="2200" dirty="0" smtClean="0"/>
              <a:t>to vanish </a:t>
            </a:r>
            <a:r>
              <a:rPr lang="en-GB" sz="2200" dirty="0"/>
              <a:t>gradient.</a:t>
            </a:r>
          </a:p>
          <a:p>
            <a:pPr marL="342900" indent="-342900">
              <a:lnSpc>
                <a:spcPct val="150000"/>
              </a:lnSpc>
              <a:spcAft>
                <a:spcPts val="1400"/>
              </a:spcAft>
              <a:buClr>
                <a:srgbClr val="FF9800"/>
              </a:buClr>
            </a:pPr>
            <a:r>
              <a:rPr lang="en-GB" sz="2200" b="1" dirty="0"/>
              <a:t>Result: </a:t>
            </a:r>
            <a:r>
              <a:rPr lang="en-GB" sz="2200" dirty="0"/>
              <a:t>poor generalization and slow processing for real-time use.</a:t>
            </a:r>
            <a:endParaRPr lang="fr-FR" sz="2200" dirty="0"/>
          </a:p>
        </p:txBody>
      </p:sp>
      <p:sp>
        <p:nvSpPr>
          <p:cNvPr id="13" name="titre_Understanding EMG Signals"/>
          <p:cNvSpPr txBox="1">
            <a:spLocks/>
          </p:cNvSpPr>
          <p:nvPr/>
        </p:nvSpPr>
        <p:spPr>
          <a:xfrm>
            <a:off x="1112920" y="1868318"/>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pPr algn="ctr"/>
            <a:r>
              <a:rPr lang="fr-FR" sz="2800" dirty="0">
                <a:solidFill>
                  <a:srgbClr val="FF9800"/>
                </a:solidFill>
              </a:rPr>
              <a:t>Limitations of Traditional Approaches</a:t>
            </a:r>
            <a:endParaRPr lang="en" sz="2800" dirty="0">
              <a:solidFill>
                <a:srgbClr val="FF9800"/>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2863" y="2676149"/>
            <a:ext cx="5194144" cy="3171483"/>
          </a:xfrm>
          <a:prstGeom prst="rect">
            <a:avLst/>
          </a:prstGeom>
        </p:spPr>
      </p:pic>
      <p:pic>
        <p:nvPicPr>
          <p:cNvPr id="14" name="Picture 13"/>
          <p:cNvPicPr>
            <a:picLocks noChangeAspect="1"/>
          </p:cNvPicPr>
          <p:nvPr/>
        </p:nvPicPr>
        <p:blipFill rotWithShape="1">
          <a:blip r:embed="rId4">
            <a:extLst>
              <a:ext uri="{28A0092B-C50C-407E-A947-70E740481C1C}">
                <a14:useLocalDpi xmlns:a14="http://schemas.microsoft.com/office/drawing/2010/main" val="0"/>
              </a:ext>
            </a:extLst>
          </a:blip>
          <a:srcRect b="18723"/>
          <a:stretch/>
        </p:blipFill>
        <p:spPr>
          <a:xfrm>
            <a:off x="8122936" y="2095928"/>
            <a:ext cx="3471782" cy="3213148"/>
          </a:xfrm>
          <a:prstGeom prst="rect">
            <a:avLst/>
          </a:prstGeom>
        </p:spPr>
      </p:pic>
      <p:pic>
        <p:nvPicPr>
          <p:cNvPr id="16" name="Picture 15"/>
          <p:cNvPicPr>
            <a:picLocks noChangeAspect="1"/>
          </p:cNvPicPr>
          <p:nvPr/>
        </p:nvPicPr>
        <p:blipFill rotWithShape="1">
          <a:blip r:embed="rId5">
            <a:extLst>
              <a:ext uri="{28A0092B-C50C-407E-A947-70E740481C1C}">
                <a14:useLocalDpi xmlns:a14="http://schemas.microsoft.com/office/drawing/2010/main" val="0"/>
              </a:ext>
            </a:extLst>
          </a:blip>
          <a:srcRect l="5027" t="82600" r="3635"/>
          <a:stretch/>
        </p:blipFill>
        <p:spPr>
          <a:xfrm>
            <a:off x="8199990" y="5202638"/>
            <a:ext cx="3464026" cy="751432"/>
          </a:xfrm>
          <a:prstGeom prst="rect">
            <a:avLst/>
          </a:prstGeom>
        </p:spPr>
      </p:pic>
    </p:spTree>
    <p:extLst>
      <p:ext uri="{BB962C8B-B14F-4D97-AF65-F5344CB8AC3E}">
        <p14:creationId xmlns:p14="http://schemas.microsoft.com/office/powerpoint/2010/main" val="15062791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5">
                                            <p:txEl>
                                              <p:pRg st="1" end="1"/>
                                            </p:txEl>
                                          </p:spTgt>
                                        </p:tgtEl>
                                        <p:attrNameLst>
                                          <p:attrName>style.visibility</p:attrName>
                                        </p:attrNameLst>
                                      </p:cBhvr>
                                      <p:to>
                                        <p:strVal val="visible"/>
                                      </p:to>
                                    </p:set>
                                  </p:childTnLst>
                                </p:cTn>
                              </p:par>
                              <p:par>
                                <p:cTn id="14" presetID="10" presetClass="exit" presetSubtype="0" fill="hold" nodeType="withEffect">
                                  <p:stCondLst>
                                    <p:cond delay="0"/>
                                  </p:stCondLst>
                                  <p:childTnLst>
                                    <p:animEffect transition="out" filter="fade">
                                      <p:cBhvr>
                                        <p:cTn id="15" dur="500"/>
                                        <p:tgtEl>
                                          <p:spTgt spid="3"/>
                                        </p:tgtEl>
                                      </p:cBhvr>
                                    </p:animEffect>
                                    <p:set>
                                      <p:cBhvr>
                                        <p:cTn id="16" dur="1" fill="hold">
                                          <p:stCondLst>
                                            <p:cond delay="499"/>
                                          </p:stCondLst>
                                        </p:cTn>
                                        <p:tgtEl>
                                          <p:spTgt spid="3"/>
                                        </p:tgtEl>
                                        <p:attrNameLst>
                                          <p:attrName>style.visibility</p:attrName>
                                        </p:attrNameLst>
                                      </p:cBhvr>
                                      <p:to>
                                        <p:strVal val="hidden"/>
                                      </p:to>
                                    </p:se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xEl>
                                              <p:pRg st="2" end="2"/>
                                            </p:txEl>
                                          </p:spTgt>
                                        </p:tgtEl>
                                        <p:attrNameLst>
                                          <p:attrName>style.visibility</p:attrName>
                                        </p:attrNameLst>
                                      </p:cBhvr>
                                      <p:to>
                                        <p:strVal val="visible"/>
                                      </p:to>
                                    </p:set>
                                  </p:childTnLst>
                                </p:cTn>
                              </p:par>
                              <p:par>
                                <p:cTn id="27" presetID="10" presetClass="exit" presetSubtype="0" fill="hold" nodeType="withEffect">
                                  <p:stCondLst>
                                    <p:cond delay="0"/>
                                  </p:stCondLst>
                                  <p:childTnLst>
                                    <p:animEffect transition="out" filter="fade">
                                      <p:cBhvr>
                                        <p:cTn id="28" dur="500"/>
                                        <p:tgtEl>
                                          <p:spTgt spid="14"/>
                                        </p:tgtEl>
                                      </p:cBhvr>
                                    </p:animEffect>
                                    <p:set>
                                      <p:cBhvr>
                                        <p:cTn id="29" dur="1" fill="hold">
                                          <p:stCondLst>
                                            <p:cond delay="499"/>
                                          </p:stCondLst>
                                        </p:cTn>
                                        <p:tgtEl>
                                          <p:spTgt spid="14"/>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16"/>
                                        </p:tgtEl>
                                      </p:cBhvr>
                                    </p:animEffect>
                                    <p:set>
                                      <p:cBhvr>
                                        <p:cTn id="32"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a:xfrm>
            <a:off x="988678" y="523433"/>
            <a:ext cx="7323200" cy="1021600"/>
          </a:xfrm>
        </p:spPr>
        <p:txBody>
          <a:bodyPr/>
          <a:lstStyle/>
          <a:p>
            <a:r>
              <a:rPr lang="en-GB" sz="2500" dirty="0"/>
              <a:t>Problem Statement and Approach Motivation </a:t>
            </a:r>
            <a:endParaRPr lang="fr-FR"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10</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15" name="EMG: Electrical signals from muscle contractions."/>
          <p:cNvSpPr txBox="1">
            <a:spLocks/>
          </p:cNvSpPr>
          <p:nvPr/>
        </p:nvSpPr>
        <p:spPr>
          <a:xfrm>
            <a:off x="480396" y="2813749"/>
            <a:ext cx="7032512" cy="3017886"/>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342900" indent="-342900">
              <a:lnSpc>
                <a:spcPct val="150000"/>
              </a:lnSpc>
              <a:spcAft>
                <a:spcPts val="1400"/>
              </a:spcAft>
              <a:buClr>
                <a:srgbClr val="FF9800"/>
              </a:buClr>
            </a:pPr>
            <a:r>
              <a:rPr lang="en-GB" dirty="0"/>
              <a:t>Proven in Natural language Processing (NLP).</a:t>
            </a:r>
            <a:endParaRPr lang="en-GB" b="1" dirty="0"/>
          </a:p>
          <a:p>
            <a:pPr marL="342900" indent="-342900">
              <a:lnSpc>
                <a:spcPct val="150000"/>
              </a:lnSpc>
              <a:spcAft>
                <a:spcPts val="1400"/>
              </a:spcAft>
              <a:buClr>
                <a:srgbClr val="FF9800"/>
              </a:buClr>
            </a:pPr>
            <a:r>
              <a:rPr lang="en-GB" b="1" dirty="0"/>
              <a:t>Self-attention: </a:t>
            </a:r>
            <a:r>
              <a:rPr lang="en-GB" dirty="0"/>
              <a:t>could</a:t>
            </a:r>
            <a:r>
              <a:rPr lang="en-GB" b="1" dirty="0"/>
              <a:t> </a:t>
            </a:r>
            <a:r>
              <a:rPr lang="en-GB" dirty="0"/>
              <a:t>captures long-range dependencies in EMG signals, and weighs critical signal regions dynamically.</a:t>
            </a:r>
          </a:p>
          <a:p>
            <a:pPr marL="342900" indent="-342900">
              <a:lnSpc>
                <a:spcPct val="150000"/>
              </a:lnSpc>
              <a:spcAft>
                <a:spcPts val="1400"/>
              </a:spcAft>
              <a:buClr>
                <a:srgbClr val="FF9800"/>
              </a:buClr>
            </a:pPr>
            <a:r>
              <a:rPr lang="en-GB" b="1" dirty="0"/>
              <a:t>Parallel processing: </a:t>
            </a:r>
            <a:r>
              <a:rPr lang="en-GB" dirty="0"/>
              <a:t>faster data processing.</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5588" y="1545033"/>
            <a:ext cx="3133345" cy="4243328"/>
          </a:xfrm>
          <a:prstGeom prst="rect">
            <a:avLst/>
          </a:prstGeom>
        </p:spPr>
      </p:pic>
      <p:sp>
        <p:nvSpPr>
          <p:cNvPr id="16" name="titre_Understanding EMG Signals"/>
          <p:cNvSpPr txBox="1">
            <a:spLocks/>
          </p:cNvSpPr>
          <p:nvPr/>
        </p:nvSpPr>
        <p:spPr>
          <a:xfrm>
            <a:off x="766371" y="1986732"/>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pPr algn="ctr"/>
            <a:r>
              <a:rPr lang="fr-FR" sz="2600" dirty="0">
                <a:solidFill>
                  <a:srgbClr val="FF9800"/>
                </a:solidFill>
              </a:rPr>
              <a:t>Proposed Approach: Transformer Model</a:t>
            </a:r>
            <a:endParaRPr lang="en" sz="2600" dirty="0">
              <a:solidFill>
                <a:srgbClr val="FF9800"/>
              </a:solidFill>
            </a:endParaRPr>
          </a:p>
        </p:txBody>
      </p:sp>
    </p:spTree>
    <p:extLst>
      <p:ext uri="{BB962C8B-B14F-4D97-AF65-F5344CB8AC3E}">
        <p14:creationId xmlns:p14="http://schemas.microsoft.com/office/powerpoint/2010/main" val="6445366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84" name="Shape 384"/>
          <p:cNvSpPr txBox="1">
            <a:spLocks noGrp="1"/>
          </p:cNvSpPr>
          <p:nvPr>
            <p:ph type="sldNum" idx="12"/>
          </p:nvPr>
        </p:nvSpPr>
        <p:spPr>
          <a:xfrm>
            <a:off x="10157333" y="6182000"/>
            <a:ext cx="1983200" cy="420800"/>
          </a:xfrm>
          <a:prstGeom prst="rect">
            <a:avLst/>
          </a:prstGeom>
          <a:noFill/>
          <a:ln>
            <a:noFill/>
          </a:ln>
        </p:spPr>
        <p:txBody>
          <a:bodyPr lIns="91425" tIns="91425" rIns="91425" bIns="91425" anchor="ctr" anchorCtr="0">
            <a:noAutofit/>
          </a:bodyPr>
          <a:lstStyle/>
          <a:p>
            <a:fld id="{00000000-1234-1234-1234-123412341234}" type="slidenum">
              <a:rPr lang="en" sz="1800" smtClean="0">
                <a:solidFill>
                  <a:srgbClr val="3F5378"/>
                </a:solidFill>
                <a:latin typeface="Roboto Condensed" panose="020B0604020202020204"/>
              </a:rPr>
              <a:pPr/>
              <a:t>11</a:t>
            </a:fld>
            <a:endParaRPr lang="en" sz="1800">
              <a:solidFill>
                <a:srgbClr val="3F5378"/>
              </a:solidFill>
              <a:latin typeface="Roboto Condensed" panose="020B0604020202020204"/>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228" y="892061"/>
            <a:ext cx="4299249" cy="5822251"/>
          </a:xfrm>
          <a:prstGeom prst="rect">
            <a:avLst/>
          </a:prstGeom>
        </p:spPr>
      </p:pic>
      <p:grpSp>
        <p:nvGrpSpPr>
          <p:cNvPr id="7" name="Group 6"/>
          <p:cNvGrpSpPr/>
          <p:nvPr/>
        </p:nvGrpSpPr>
        <p:grpSpPr>
          <a:xfrm>
            <a:off x="4694662" y="1561171"/>
            <a:ext cx="3769114" cy="4620830"/>
            <a:chOff x="4694662" y="1561171"/>
            <a:chExt cx="3769114" cy="4620830"/>
          </a:xfrm>
        </p:grpSpPr>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58706" y="2228273"/>
              <a:ext cx="2962338" cy="3836639"/>
            </a:xfrm>
            <a:prstGeom prst="rect">
              <a:avLst/>
            </a:prstGeom>
          </p:spPr>
        </p:pic>
        <p:sp>
          <p:nvSpPr>
            <p:cNvPr id="5" name="Rectangular Callout 4"/>
            <p:cNvSpPr/>
            <p:nvPr/>
          </p:nvSpPr>
          <p:spPr>
            <a:xfrm rot="5400000">
              <a:off x="4543811" y="2262036"/>
              <a:ext cx="4070816" cy="3769114"/>
            </a:xfrm>
            <a:prstGeom prst="wedgeRectCallout">
              <a:avLst>
                <a:gd name="adj1" fmla="val -11520"/>
                <a:gd name="adj2" fmla="val 69622"/>
              </a:avLst>
            </a:prstGeom>
            <a:noFill/>
            <a:ln>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4694662" y="1561171"/>
              <a:ext cx="3769114" cy="5500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latin typeface="Roboto Condensed" panose="020B0604020202020204"/>
                </a:rPr>
                <a:t>Multi-head Attention</a:t>
              </a:r>
            </a:p>
          </p:txBody>
        </p:sp>
      </p:grpSp>
      <p:grpSp>
        <p:nvGrpSpPr>
          <p:cNvPr id="10" name="Group 9"/>
          <p:cNvGrpSpPr/>
          <p:nvPr/>
        </p:nvGrpSpPr>
        <p:grpSpPr>
          <a:xfrm>
            <a:off x="7751751" y="1416205"/>
            <a:ext cx="3821810" cy="4265175"/>
            <a:chOff x="7751751" y="1416205"/>
            <a:chExt cx="3821810" cy="4265175"/>
          </a:xfrm>
        </p:grpSpPr>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t="13016"/>
            <a:stretch/>
          </p:blipFill>
          <p:spPr>
            <a:xfrm>
              <a:off x="9362717" y="2111185"/>
              <a:ext cx="1912298" cy="3453105"/>
            </a:xfrm>
            <a:prstGeom prst="rect">
              <a:avLst/>
            </a:prstGeom>
          </p:spPr>
        </p:pic>
        <p:grpSp>
          <p:nvGrpSpPr>
            <p:cNvPr id="18" name="Group 17"/>
            <p:cNvGrpSpPr/>
            <p:nvPr/>
          </p:nvGrpSpPr>
          <p:grpSpPr>
            <a:xfrm>
              <a:off x="7751751" y="1416205"/>
              <a:ext cx="3821810" cy="4265175"/>
              <a:chOff x="2879748" y="1398591"/>
              <a:chExt cx="5584028" cy="4783411"/>
            </a:xfrm>
          </p:grpSpPr>
          <p:sp>
            <p:nvSpPr>
              <p:cNvPr id="20" name="Rectangular Callout 19"/>
              <p:cNvSpPr/>
              <p:nvPr/>
            </p:nvSpPr>
            <p:spPr>
              <a:xfrm rot="5400000">
                <a:off x="3636354" y="1354580"/>
                <a:ext cx="4070816" cy="5584027"/>
              </a:xfrm>
              <a:custGeom>
                <a:avLst/>
                <a:gdLst>
                  <a:gd name="connsiteX0" fmla="*/ 0 w 3629783"/>
                  <a:gd name="connsiteY0" fmla="*/ 0 h 2579650"/>
                  <a:gd name="connsiteX1" fmla="*/ 604964 w 3629783"/>
                  <a:gd name="connsiteY1" fmla="*/ 0 h 2579650"/>
                  <a:gd name="connsiteX2" fmla="*/ 604964 w 3629783"/>
                  <a:gd name="connsiteY2" fmla="*/ 0 h 2579650"/>
                  <a:gd name="connsiteX3" fmla="*/ 1512410 w 3629783"/>
                  <a:gd name="connsiteY3" fmla="*/ 0 h 2579650"/>
                  <a:gd name="connsiteX4" fmla="*/ 3629783 w 3629783"/>
                  <a:gd name="connsiteY4" fmla="*/ 0 h 2579650"/>
                  <a:gd name="connsiteX5" fmla="*/ 3629783 w 3629783"/>
                  <a:gd name="connsiteY5" fmla="*/ 1504796 h 2579650"/>
                  <a:gd name="connsiteX6" fmla="*/ 3629783 w 3629783"/>
                  <a:gd name="connsiteY6" fmla="*/ 1504796 h 2579650"/>
                  <a:gd name="connsiteX7" fmla="*/ 3629783 w 3629783"/>
                  <a:gd name="connsiteY7" fmla="*/ 2149708 h 2579650"/>
                  <a:gd name="connsiteX8" fmla="*/ 3629783 w 3629783"/>
                  <a:gd name="connsiteY8" fmla="*/ 2579650 h 2579650"/>
                  <a:gd name="connsiteX9" fmla="*/ 1512410 w 3629783"/>
                  <a:gd name="connsiteY9" fmla="*/ 2579650 h 2579650"/>
                  <a:gd name="connsiteX10" fmla="*/ 1396740 w 3629783"/>
                  <a:gd name="connsiteY10" fmla="*/ 3085829 h 2579650"/>
                  <a:gd name="connsiteX11" fmla="*/ 604964 w 3629783"/>
                  <a:gd name="connsiteY11" fmla="*/ 2579650 h 2579650"/>
                  <a:gd name="connsiteX12" fmla="*/ 0 w 3629783"/>
                  <a:gd name="connsiteY12" fmla="*/ 2579650 h 2579650"/>
                  <a:gd name="connsiteX13" fmla="*/ 0 w 3629783"/>
                  <a:gd name="connsiteY13" fmla="*/ 2149708 h 2579650"/>
                  <a:gd name="connsiteX14" fmla="*/ 0 w 3629783"/>
                  <a:gd name="connsiteY14" fmla="*/ 1504796 h 2579650"/>
                  <a:gd name="connsiteX15" fmla="*/ 0 w 3629783"/>
                  <a:gd name="connsiteY15" fmla="*/ 1504796 h 2579650"/>
                  <a:gd name="connsiteX16" fmla="*/ 0 w 3629783"/>
                  <a:gd name="connsiteY16" fmla="*/ 0 h 2579650"/>
                  <a:gd name="connsiteX0" fmla="*/ 0 w 3629783"/>
                  <a:gd name="connsiteY0" fmla="*/ 0 h 3085829"/>
                  <a:gd name="connsiteX1" fmla="*/ 604964 w 3629783"/>
                  <a:gd name="connsiteY1" fmla="*/ 0 h 3085829"/>
                  <a:gd name="connsiteX2" fmla="*/ 604964 w 3629783"/>
                  <a:gd name="connsiteY2" fmla="*/ 0 h 3085829"/>
                  <a:gd name="connsiteX3" fmla="*/ 1512410 w 3629783"/>
                  <a:gd name="connsiteY3" fmla="*/ 0 h 3085829"/>
                  <a:gd name="connsiteX4" fmla="*/ 3629783 w 3629783"/>
                  <a:gd name="connsiteY4" fmla="*/ 0 h 3085829"/>
                  <a:gd name="connsiteX5" fmla="*/ 3629783 w 3629783"/>
                  <a:gd name="connsiteY5" fmla="*/ 1504796 h 3085829"/>
                  <a:gd name="connsiteX6" fmla="*/ 3629783 w 3629783"/>
                  <a:gd name="connsiteY6" fmla="*/ 1504796 h 3085829"/>
                  <a:gd name="connsiteX7" fmla="*/ 3629783 w 3629783"/>
                  <a:gd name="connsiteY7" fmla="*/ 2149708 h 3085829"/>
                  <a:gd name="connsiteX8" fmla="*/ 3629783 w 3629783"/>
                  <a:gd name="connsiteY8" fmla="*/ 2579650 h 3085829"/>
                  <a:gd name="connsiteX9" fmla="*/ 2761349 w 3629783"/>
                  <a:gd name="connsiteY9" fmla="*/ 2568498 h 3085829"/>
                  <a:gd name="connsiteX10" fmla="*/ 1396740 w 3629783"/>
                  <a:gd name="connsiteY10" fmla="*/ 3085829 h 3085829"/>
                  <a:gd name="connsiteX11" fmla="*/ 604964 w 3629783"/>
                  <a:gd name="connsiteY11" fmla="*/ 2579650 h 3085829"/>
                  <a:gd name="connsiteX12" fmla="*/ 0 w 3629783"/>
                  <a:gd name="connsiteY12" fmla="*/ 2579650 h 3085829"/>
                  <a:gd name="connsiteX13" fmla="*/ 0 w 3629783"/>
                  <a:gd name="connsiteY13" fmla="*/ 2149708 h 3085829"/>
                  <a:gd name="connsiteX14" fmla="*/ 0 w 3629783"/>
                  <a:gd name="connsiteY14" fmla="*/ 1504796 h 3085829"/>
                  <a:gd name="connsiteX15" fmla="*/ 0 w 3629783"/>
                  <a:gd name="connsiteY15" fmla="*/ 1504796 h 3085829"/>
                  <a:gd name="connsiteX16" fmla="*/ 0 w 3629783"/>
                  <a:gd name="connsiteY16" fmla="*/ 0 h 3085829"/>
                  <a:gd name="connsiteX0" fmla="*/ 0 w 3629783"/>
                  <a:gd name="connsiteY0" fmla="*/ 0 h 3085829"/>
                  <a:gd name="connsiteX1" fmla="*/ 604964 w 3629783"/>
                  <a:gd name="connsiteY1" fmla="*/ 0 h 3085829"/>
                  <a:gd name="connsiteX2" fmla="*/ 604964 w 3629783"/>
                  <a:gd name="connsiteY2" fmla="*/ 0 h 3085829"/>
                  <a:gd name="connsiteX3" fmla="*/ 1512410 w 3629783"/>
                  <a:gd name="connsiteY3" fmla="*/ 0 h 3085829"/>
                  <a:gd name="connsiteX4" fmla="*/ 3629783 w 3629783"/>
                  <a:gd name="connsiteY4" fmla="*/ 0 h 3085829"/>
                  <a:gd name="connsiteX5" fmla="*/ 3629783 w 3629783"/>
                  <a:gd name="connsiteY5" fmla="*/ 1504796 h 3085829"/>
                  <a:gd name="connsiteX6" fmla="*/ 3629783 w 3629783"/>
                  <a:gd name="connsiteY6" fmla="*/ 1504796 h 3085829"/>
                  <a:gd name="connsiteX7" fmla="*/ 3629783 w 3629783"/>
                  <a:gd name="connsiteY7" fmla="*/ 2149708 h 3085829"/>
                  <a:gd name="connsiteX8" fmla="*/ 3629783 w 3629783"/>
                  <a:gd name="connsiteY8" fmla="*/ 2579650 h 3085829"/>
                  <a:gd name="connsiteX9" fmla="*/ 2761349 w 3629783"/>
                  <a:gd name="connsiteY9" fmla="*/ 2568498 h 3085829"/>
                  <a:gd name="connsiteX10" fmla="*/ 1396740 w 3629783"/>
                  <a:gd name="connsiteY10" fmla="*/ 3085829 h 3085829"/>
                  <a:gd name="connsiteX11" fmla="*/ 1887354 w 3629783"/>
                  <a:gd name="connsiteY11" fmla="*/ 2568499 h 3085829"/>
                  <a:gd name="connsiteX12" fmla="*/ 0 w 3629783"/>
                  <a:gd name="connsiteY12" fmla="*/ 2579650 h 3085829"/>
                  <a:gd name="connsiteX13" fmla="*/ 0 w 3629783"/>
                  <a:gd name="connsiteY13" fmla="*/ 2149708 h 3085829"/>
                  <a:gd name="connsiteX14" fmla="*/ 0 w 3629783"/>
                  <a:gd name="connsiteY14" fmla="*/ 1504796 h 3085829"/>
                  <a:gd name="connsiteX15" fmla="*/ 0 w 3629783"/>
                  <a:gd name="connsiteY15" fmla="*/ 1504796 h 3085829"/>
                  <a:gd name="connsiteX16" fmla="*/ 0 w 3629783"/>
                  <a:gd name="connsiteY16" fmla="*/ 0 h 3085829"/>
                  <a:gd name="connsiteX0" fmla="*/ 0 w 3629783"/>
                  <a:gd name="connsiteY0" fmla="*/ 0 h 3821809"/>
                  <a:gd name="connsiteX1" fmla="*/ 604964 w 3629783"/>
                  <a:gd name="connsiteY1" fmla="*/ 0 h 3821809"/>
                  <a:gd name="connsiteX2" fmla="*/ 604964 w 3629783"/>
                  <a:gd name="connsiteY2" fmla="*/ 0 h 3821809"/>
                  <a:gd name="connsiteX3" fmla="*/ 1512410 w 3629783"/>
                  <a:gd name="connsiteY3" fmla="*/ 0 h 3821809"/>
                  <a:gd name="connsiteX4" fmla="*/ 3629783 w 3629783"/>
                  <a:gd name="connsiteY4" fmla="*/ 0 h 3821809"/>
                  <a:gd name="connsiteX5" fmla="*/ 3629783 w 3629783"/>
                  <a:gd name="connsiteY5" fmla="*/ 1504796 h 3821809"/>
                  <a:gd name="connsiteX6" fmla="*/ 3629783 w 3629783"/>
                  <a:gd name="connsiteY6" fmla="*/ 1504796 h 3821809"/>
                  <a:gd name="connsiteX7" fmla="*/ 3629783 w 3629783"/>
                  <a:gd name="connsiteY7" fmla="*/ 2149708 h 3821809"/>
                  <a:gd name="connsiteX8" fmla="*/ 3629783 w 3629783"/>
                  <a:gd name="connsiteY8" fmla="*/ 2579650 h 3821809"/>
                  <a:gd name="connsiteX9" fmla="*/ 2761349 w 3629783"/>
                  <a:gd name="connsiteY9" fmla="*/ 2568498 h 3821809"/>
                  <a:gd name="connsiteX10" fmla="*/ 1909696 w 3629783"/>
                  <a:gd name="connsiteY10" fmla="*/ 3821809 h 3821809"/>
                  <a:gd name="connsiteX11" fmla="*/ 1887354 w 3629783"/>
                  <a:gd name="connsiteY11" fmla="*/ 2568499 h 3821809"/>
                  <a:gd name="connsiteX12" fmla="*/ 0 w 3629783"/>
                  <a:gd name="connsiteY12" fmla="*/ 2579650 h 3821809"/>
                  <a:gd name="connsiteX13" fmla="*/ 0 w 3629783"/>
                  <a:gd name="connsiteY13" fmla="*/ 2149708 h 3821809"/>
                  <a:gd name="connsiteX14" fmla="*/ 0 w 3629783"/>
                  <a:gd name="connsiteY14" fmla="*/ 1504796 h 3821809"/>
                  <a:gd name="connsiteX15" fmla="*/ 0 w 3629783"/>
                  <a:gd name="connsiteY15" fmla="*/ 1504796 h 3821809"/>
                  <a:gd name="connsiteX16" fmla="*/ 0 w 3629783"/>
                  <a:gd name="connsiteY16" fmla="*/ 0 h 3821809"/>
                  <a:gd name="connsiteX0" fmla="*/ 0 w 3629783"/>
                  <a:gd name="connsiteY0" fmla="*/ 0 h 3821809"/>
                  <a:gd name="connsiteX1" fmla="*/ 604964 w 3629783"/>
                  <a:gd name="connsiteY1" fmla="*/ 0 h 3821809"/>
                  <a:gd name="connsiteX2" fmla="*/ 604964 w 3629783"/>
                  <a:gd name="connsiteY2" fmla="*/ 0 h 3821809"/>
                  <a:gd name="connsiteX3" fmla="*/ 1512410 w 3629783"/>
                  <a:gd name="connsiteY3" fmla="*/ 0 h 3821809"/>
                  <a:gd name="connsiteX4" fmla="*/ 3629783 w 3629783"/>
                  <a:gd name="connsiteY4" fmla="*/ 0 h 3821809"/>
                  <a:gd name="connsiteX5" fmla="*/ 3629783 w 3629783"/>
                  <a:gd name="connsiteY5" fmla="*/ 1504796 h 3821809"/>
                  <a:gd name="connsiteX6" fmla="*/ 3629783 w 3629783"/>
                  <a:gd name="connsiteY6" fmla="*/ 1504796 h 3821809"/>
                  <a:gd name="connsiteX7" fmla="*/ 3629783 w 3629783"/>
                  <a:gd name="connsiteY7" fmla="*/ 2149708 h 3821809"/>
                  <a:gd name="connsiteX8" fmla="*/ 3629783 w 3629783"/>
                  <a:gd name="connsiteY8" fmla="*/ 2579650 h 3821809"/>
                  <a:gd name="connsiteX9" fmla="*/ 2761349 w 3629783"/>
                  <a:gd name="connsiteY9" fmla="*/ 2568498 h 3821809"/>
                  <a:gd name="connsiteX10" fmla="*/ 1909696 w 3629783"/>
                  <a:gd name="connsiteY10" fmla="*/ 3821809 h 3821809"/>
                  <a:gd name="connsiteX11" fmla="*/ 1474759 w 3629783"/>
                  <a:gd name="connsiteY11" fmla="*/ 2601952 h 3821809"/>
                  <a:gd name="connsiteX12" fmla="*/ 0 w 3629783"/>
                  <a:gd name="connsiteY12" fmla="*/ 2579650 h 3821809"/>
                  <a:gd name="connsiteX13" fmla="*/ 0 w 3629783"/>
                  <a:gd name="connsiteY13" fmla="*/ 2149708 h 3821809"/>
                  <a:gd name="connsiteX14" fmla="*/ 0 w 3629783"/>
                  <a:gd name="connsiteY14" fmla="*/ 1504796 h 3821809"/>
                  <a:gd name="connsiteX15" fmla="*/ 0 w 3629783"/>
                  <a:gd name="connsiteY15" fmla="*/ 1504796 h 3821809"/>
                  <a:gd name="connsiteX16" fmla="*/ 0 w 3629783"/>
                  <a:gd name="connsiteY16" fmla="*/ 0 h 3821809"/>
                  <a:gd name="connsiteX0" fmla="*/ 0 w 3629783"/>
                  <a:gd name="connsiteY0" fmla="*/ 0 h 3821809"/>
                  <a:gd name="connsiteX1" fmla="*/ 604964 w 3629783"/>
                  <a:gd name="connsiteY1" fmla="*/ 0 h 3821809"/>
                  <a:gd name="connsiteX2" fmla="*/ 604964 w 3629783"/>
                  <a:gd name="connsiteY2" fmla="*/ 0 h 3821809"/>
                  <a:gd name="connsiteX3" fmla="*/ 1512410 w 3629783"/>
                  <a:gd name="connsiteY3" fmla="*/ 0 h 3821809"/>
                  <a:gd name="connsiteX4" fmla="*/ 3629783 w 3629783"/>
                  <a:gd name="connsiteY4" fmla="*/ 0 h 3821809"/>
                  <a:gd name="connsiteX5" fmla="*/ 3629783 w 3629783"/>
                  <a:gd name="connsiteY5" fmla="*/ 1504796 h 3821809"/>
                  <a:gd name="connsiteX6" fmla="*/ 3629783 w 3629783"/>
                  <a:gd name="connsiteY6" fmla="*/ 1504796 h 3821809"/>
                  <a:gd name="connsiteX7" fmla="*/ 3629783 w 3629783"/>
                  <a:gd name="connsiteY7" fmla="*/ 2149708 h 3821809"/>
                  <a:gd name="connsiteX8" fmla="*/ 3629783 w 3629783"/>
                  <a:gd name="connsiteY8" fmla="*/ 2579650 h 3821809"/>
                  <a:gd name="connsiteX9" fmla="*/ 2192637 w 3629783"/>
                  <a:gd name="connsiteY9" fmla="*/ 2601951 h 3821809"/>
                  <a:gd name="connsiteX10" fmla="*/ 1909696 w 3629783"/>
                  <a:gd name="connsiteY10" fmla="*/ 3821809 h 3821809"/>
                  <a:gd name="connsiteX11" fmla="*/ 1474759 w 3629783"/>
                  <a:gd name="connsiteY11" fmla="*/ 2601952 h 3821809"/>
                  <a:gd name="connsiteX12" fmla="*/ 0 w 3629783"/>
                  <a:gd name="connsiteY12" fmla="*/ 2579650 h 3821809"/>
                  <a:gd name="connsiteX13" fmla="*/ 0 w 3629783"/>
                  <a:gd name="connsiteY13" fmla="*/ 2149708 h 3821809"/>
                  <a:gd name="connsiteX14" fmla="*/ 0 w 3629783"/>
                  <a:gd name="connsiteY14" fmla="*/ 1504796 h 3821809"/>
                  <a:gd name="connsiteX15" fmla="*/ 0 w 3629783"/>
                  <a:gd name="connsiteY15" fmla="*/ 1504796 h 3821809"/>
                  <a:gd name="connsiteX16" fmla="*/ 0 w 3629783"/>
                  <a:gd name="connsiteY16" fmla="*/ 0 h 3821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29783" h="3821809">
                    <a:moveTo>
                      <a:pt x="0" y="0"/>
                    </a:moveTo>
                    <a:lnTo>
                      <a:pt x="604964" y="0"/>
                    </a:lnTo>
                    <a:lnTo>
                      <a:pt x="604964" y="0"/>
                    </a:lnTo>
                    <a:lnTo>
                      <a:pt x="1512410" y="0"/>
                    </a:lnTo>
                    <a:lnTo>
                      <a:pt x="3629783" y="0"/>
                    </a:lnTo>
                    <a:lnTo>
                      <a:pt x="3629783" y="1504796"/>
                    </a:lnTo>
                    <a:lnTo>
                      <a:pt x="3629783" y="1504796"/>
                    </a:lnTo>
                    <a:lnTo>
                      <a:pt x="3629783" y="2149708"/>
                    </a:lnTo>
                    <a:lnTo>
                      <a:pt x="3629783" y="2579650"/>
                    </a:lnTo>
                    <a:lnTo>
                      <a:pt x="2192637" y="2601951"/>
                    </a:lnTo>
                    <a:lnTo>
                      <a:pt x="1909696" y="3821809"/>
                    </a:lnTo>
                    <a:lnTo>
                      <a:pt x="1474759" y="2601952"/>
                    </a:lnTo>
                    <a:lnTo>
                      <a:pt x="0" y="2579650"/>
                    </a:lnTo>
                    <a:lnTo>
                      <a:pt x="0" y="2149708"/>
                    </a:lnTo>
                    <a:lnTo>
                      <a:pt x="0" y="1504796"/>
                    </a:lnTo>
                    <a:lnTo>
                      <a:pt x="0" y="1504796"/>
                    </a:lnTo>
                    <a:lnTo>
                      <a:pt x="0" y="0"/>
                    </a:lnTo>
                    <a:close/>
                  </a:path>
                </a:pathLst>
              </a:custGeom>
              <a:noFill/>
              <a:ln>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p:cNvSpPr/>
              <p:nvPr/>
            </p:nvSpPr>
            <p:spPr>
              <a:xfrm>
                <a:off x="4694662" y="1398591"/>
                <a:ext cx="3769114" cy="7125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700" b="1" dirty="0">
                    <a:latin typeface="Roboto Condensed" panose="020B0604020202020204"/>
                  </a:rPr>
                  <a:t>scaled dot-product attention</a:t>
                </a:r>
              </a:p>
            </p:txBody>
          </p:sp>
        </p:grpSp>
      </p:grpSp>
      <p:sp>
        <p:nvSpPr>
          <p:cNvPr id="22" name="titre_Understanding EMG Signals"/>
          <p:cNvSpPr txBox="1">
            <a:spLocks/>
          </p:cNvSpPr>
          <p:nvPr/>
        </p:nvSpPr>
        <p:spPr>
          <a:xfrm>
            <a:off x="1746148" y="253616"/>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pPr algn="ctr"/>
            <a:r>
              <a:rPr lang="en-GB" sz="3200" dirty="0">
                <a:solidFill>
                  <a:srgbClr val="FF9800"/>
                </a:solidFill>
              </a:rPr>
              <a:t>Transformer Architecture</a:t>
            </a:r>
            <a:endParaRPr lang="en" sz="3200" dirty="0">
              <a:solidFill>
                <a:srgbClr val="FF9800"/>
              </a:solidFill>
            </a:endParaRPr>
          </a:p>
        </p:txBody>
      </p:sp>
    </p:spTree>
    <p:extLst>
      <p:ext uri="{BB962C8B-B14F-4D97-AF65-F5344CB8AC3E}">
        <p14:creationId xmlns:p14="http://schemas.microsoft.com/office/powerpoint/2010/main" val="22366761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Shape 221"/>
          <p:cNvSpPr txBox="1">
            <a:spLocks noGrp="1"/>
          </p:cNvSpPr>
          <p:nvPr>
            <p:ph type="ctrTitle"/>
          </p:nvPr>
        </p:nvSpPr>
        <p:spPr>
          <a:xfrm>
            <a:off x="618033" y="3828197"/>
            <a:ext cx="5459200" cy="1546400"/>
          </a:xfrm>
          <a:prstGeom prst="rect">
            <a:avLst/>
          </a:prstGeom>
        </p:spPr>
        <p:txBody>
          <a:bodyPr lIns="121900" tIns="121900" rIns="121900" bIns="121900" anchor="b" anchorCtr="0">
            <a:noAutofit/>
          </a:bodyPr>
          <a:lstStyle/>
          <a:p>
            <a:pPr marL="342900" indent="-342900">
              <a:buClr>
                <a:srgbClr val="FF9800"/>
              </a:buClr>
            </a:pPr>
            <a:r>
              <a:rPr lang="fr-FR" dirty="0"/>
              <a:t>Methodology</a:t>
            </a:r>
          </a:p>
        </p:txBody>
      </p:sp>
      <p:sp>
        <p:nvSpPr>
          <p:cNvPr id="222" name="Shape 222"/>
          <p:cNvSpPr txBox="1">
            <a:spLocks noGrp="1"/>
          </p:cNvSpPr>
          <p:nvPr>
            <p:ph type="subTitle" idx="1"/>
          </p:nvPr>
        </p:nvSpPr>
        <p:spPr>
          <a:xfrm>
            <a:off x="618033" y="5300597"/>
            <a:ext cx="5459200" cy="1046400"/>
          </a:xfrm>
          <a:prstGeom prst="rect">
            <a:avLst/>
          </a:prstGeom>
        </p:spPr>
        <p:txBody>
          <a:bodyPr lIns="121900" tIns="121900" rIns="121900" bIns="121900" anchor="t" anchorCtr="0">
            <a:noAutofit/>
          </a:bodyPr>
          <a:lstStyle/>
          <a:p>
            <a:endParaRPr lang="en" dirty="0"/>
          </a:p>
        </p:txBody>
      </p:sp>
      <p:sp>
        <p:nvSpPr>
          <p:cNvPr id="223" name="Shape 223"/>
          <p:cNvSpPr txBox="1">
            <a:spLocks noGrp="1"/>
          </p:cNvSpPr>
          <p:nvPr>
            <p:ph type="sldNum" idx="12"/>
          </p:nvPr>
        </p:nvSpPr>
        <p:spPr>
          <a:xfrm>
            <a:off x="10157333" y="6182000"/>
            <a:ext cx="1983200" cy="420800"/>
          </a:xfrm>
          <a:prstGeom prst="rect">
            <a:avLst/>
          </a:prstGeom>
          <a:noFill/>
          <a:ln>
            <a:noFill/>
          </a:ln>
        </p:spPr>
        <p:txBody>
          <a:bodyPr lIns="91425" tIns="91425" rIns="91425" bIns="91425" anchor="ctr" anchorCtr="0">
            <a:noAutofit/>
          </a:bodyPr>
          <a:lstStyle/>
          <a:p>
            <a:fld id="{00000000-1234-1234-1234-123412341234}" type="slidenum">
              <a:rPr lang="en" sz="1800" smtClean="0">
                <a:solidFill>
                  <a:srgbClr val="3F5378"/>
                </a:solidFill>
                <a:latin typeface="Roboto Condensed" panose="020B0604020202020204"/>
              </a:rPr>
              <a:pPr/>
              <a:t>12</a:t>
            </a:fld>
            <a:endParaRPr lang="en" sz="1800">
              <a:solidFill>
                <a:srgbClr val="3F5378"/>
              </a:solidFill>
              <a:latin typeface="Roboto Condensed" panose="020B0604020202020204"/>
            </a:endParaRPr>
          </a:p>
        </p:txBody>
      </p:sp>
      <p:sp>
        <p:nvSpPr>
          <p:cNvPr id="224" name="Shape 224"/>
          <p:cNvSpPr txBox="1"/>
          <p:nvPr/>
        </p:nvSpPr>
        <p:spPr>
          <a:xfrm>
            <a:off x="618033" y="0"/>
            <a:ext cx="2908800" cy="4181600"/>
          </a:xfrm>
          <a:prstGeom prst="rect">
            <a:avLst/>
          </a:prstGeom>
          <a:noFill/>
          <a:ln>
            <a:noFill/>
          </a:ln>
        </p:spPr>
        <p:txBody>
          <a:bodyPr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3</a:t>
            </a:r>
          </a:p>
        </p:txBody>
      </p:sp>
    </p:spTree>
    <p:extLst>
      <p:ext uri="{BB962C8B-B14F-4D97-AF65-F5344CB8AC3E}">
        <p14:creationId xmlns:p14="http://schemas.microsoft.com/office/powerpoint/2010/main" val="2040444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p:txBody>
          <a:bodyPr/>
          <a:lstStyle/>
          <a:p>
            <a:r>
              <a:rPr lang="fr-FR" sz="2800" dirty="0"/>
              <a:t>Methodology: Overview</a:t>
            </a:r>
            <a:endParaRPr lang="fr-FR"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13</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12571"/>
          <a:stretch/>
        </p:blipFill>
        <p:spPr>
          <a:xfrm>
            <a:off x="293913" y="2367644"/>
            <a:ext cx="3881564" cy="3275692"/>
          </a:xfrm>
          <a:prstGeom prst="rect">
            <a:avLst/>
          </a:prstGeom>
        </p:spPr>
      </p:pic>
      <p:sp>
        <p:nvSpPr>
          <p:cNvPr id="13" name="Notched Right Arrow 12"/>
          <p:cNvSpPr/>
          <p:nvPr/>
        </p:nvSpPr>
        <p:spPr>
          <a:xfrm>
            <a:off x="4292096" y="3771900"/>
            <a:ext cx="351064" cy="367393"/>
          </a:xfrm>
          <a:prstGeom prst="notchedRightArrow">
            <a:avLst/>
          </a:prstGeom>
          <a:solidFill>
            <a:srgbClr val="C7D3E6"/>
          </a:solidFill>
          <a:ln>
            <a:solidFill>
              <a:srgbClr val="C7D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ounded Rectangle 13"/>
          <p:cNvSpPr/>
          <p:nvPr/>
        </p:nvSpPr>
        <p:spPr>
          <a:xfrm>
            <a:off x="4759779" y="3126922"/>
            <a:ext cx="1992085" cy="1657350"/>
          </a:xfrm>
          <a:prstGeom prst="roundRect">
            <a:avLst/>
          </a:prstGeom>
          <a:solidFill>
            <a:srgbClr val="3F5378"/>
          </a:solidFill>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latin typeface="Roboto Condensed" panose="020B0604020202020204"/>
              </a:rPr>
              <a:t>Data </a:t>
            </a:r>
          </a:p>
          <a:p>
            <a:pPr algn="ctr"/>
            <a:r>
              <a:rPr lang="en-GB" sz="1800" b="1" dirty="0">
                <a:latin typeface="Roboto Condensed" panose="020B0604020202020204"/>
              </a:rPr>
              <a:t>Pre-processing</a:t>
            </a:r>
          </a:p>
        </p:txBody>
      </p:sp>
      <p:sp>
        <p:nvSpPr>
          <p:cNvPr id="17" name="Notched Right Arrow 16"/>
          <p:cNvSpPr/>
          <p:nvPr/>
        </p:nvSpPr>
        <p:spPr>
          <a:xfrm>
            <a:off x="6868483" y="3771899"/>
            <a:ext cx="351064" cy="367393"/>
          </a:xfrm>
          <a:prstGeom prst="notchedRightArrow">
            <a:avLst/>
          </a:prstGeom>
          <a:solidFill>
            <a:srgbClr val="C7D3E6"/>
          </a:solidFill>
          <a:ln>
            <a:solidFill>
              <a:srgbClr val="C7D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ounded Rectangle 18"/>
          <p:cNvSpPr/>
          <p:nvPr/>
        </p:nvSpPr>
        <p:spPr>
          <a:xfrm>
            <a:off x="7336166" y="3126920"/>
            <a:ext cx="1992085" cy="1657350"/>
          </a:xfrm>
          <a:prstGeom prst="roundRect">
            <a:avLst/>
          </a:prstGeom>
          <a:solidFill>
            <a:srgbClr val="3F5378"/>
          </a:solidFill>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latin typeface="Roboto Condensed" panose="020B0604020202020204"/>
              </a:rPr>
              <a:t>Proposed Model</a:t>
            </a:r>
          </a:p>
        </p:txBody>
      </p:sp>
      <p:sp>
        <p:nvSpPr>
          <p:cNvPr id="20" name="Notched Right Arrow 19"/>
          <p:cNvSpPr/>
          <p:nvPr/>
        </p:nvSpPr>
        <p:spPr>
          <a:xfrm>
            <a:off x="9444870" y="3776889"/>
            <a:ext cx="351064" cy="367393"/>
          </a:xfrm>
          <a:prstGeom prst="notchedRightArrow">
            <a:avLst/>
          </a:prstGeom>
          <a:solidFill>
            <a:srgbClr val="C7D3E6"/>
          </a:solidFill>
          <a:ln>
            <a:solidFill>
              <a:srgbClr val="C7D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20402" y="1990968"/>
            <a:ext cx="1934478" cy="3814356"/>
          </a:xfrm>
          <a:prstGeom prst="rect">
            <a:avLst/>
          </a:prstGeom>
        </p:spPr>
      </p:pic>
      <p:sp>
        <p:nvSpPr>
          <p:cNvPr id="21" name="TextBox 20"/>
          <p:cNvSpPr txBox="1"/>
          <p:nvPr/>
        </p:nvSpPr>
        <p:spPr>
          <a:xfrm>
            <a:off x="1324376" y="5435992"/>
            <a:ext cx="1990323" cy="369332"/>
          </a:xfrm>
          <a:prstGeom prst="rect">
            <a:avLst/>
          </a:prstGeom>
          <a:noFill/>
        </p:spPr>
        <p:txBody>
          <a:bodyPr wrap="square" rtlCol="0">
            <a:spAutoFit/>
          </a:bodyPr>
          <a:lstStyle/>
          <a:p>
            <a:r>
              <a:rPr lang="en-GB" sz="1800" b="1" dirty="0">
                <a:latin typeface="Roboto Condensed" panose="020B0604020202020204"/>
              </a:rPr>
              <a:t>Data Collection</a:t>
            </a:r>
          </a:p>
        </p:txBody>
      </p:sp>
      <p:sp>
        <p:nvSpPr>
          <p:cNvPr id="22" name="TextBox 21"/>
          <p:cNvSpPr txBox="1"/>
          <p:nvPr/>
        </p:nvSpPr>
        <p:spPr>
          <a:xfrm>
            <a:off x="9172727" y="5245459"/>
            <a:ext cx="3162453" cy="369332"/>
          </a:xfrm>
          <a:prstGeom prst="rect">
            <a:avLst/>
          </a:prstGeom>
          <a:noFill/>
        </p:spPr>
        <p:txBody>
          <a:bodyPr wrap="square" rtlCol="0">
            <a:spAutoFit/>
          </a:bodyPr>
          <a:lstStyle/>
          <a:p>
            <a:r>
              <a:rPr lang="en-GB" sz="1800" b="1" dirty="0">
                <a:latin typeface="Roboto Condensed" panose="020B0604020202020204"/>
              </a:rPr>
              <a:t>Hand Gesture Predictions</a:t>
            </a:r>
          </a:p>
        </p:txBody>
      </p:sp>
    </p:spTree>
    <p:extLst>
      <p:ext uri="{BB962C8B-B14F-4D97-AF65-F5344CB8AC3E}">
        <p14:creationId xmlns:p14="http://schemas.microsoft.com/office/powerpoint/2010/main" val="16264154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7" grpId="0" animBg="1"/>
      <p:bldP spid="19" grpId="0" animBg="1"/>
      <p:bldP spid="20" grpId="0" animBg="1"/>
      <p:bldP spid="21" grpId="0"/>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p:txBody>
          <a:bodyPr/>
          <a:lstStyle/>
          <a:p>
            <a:r>
              <a:rPr lang="fr-FR" sz="2800" dirty="0"/>
              <a:t>Methodology: Dataset Used</a:t>
            </a:r>
            <a:endParaRPr lang="fr-FR"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14</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15" name="EMG: Electrical signals from muscle contractions."/>
          <p:cNvSpPr txBox="1">
            <a:spLocks/>
          </p:cNvSpPr>
          <p:nvPr/>
        </p:nvSpPr>
        <p:spPr>
          <a:xfrm>
            <a:off x="457349" y="4054763"/>
            <a:ext cx="8972978" cy="2911056"/>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342900" indent="-342900">
              <a:spcAft>
                <a:spcPts val="1400"/>
              </a:spcAft>
              <a:buClr>
                <a:srgbClr val="FF9800"/>
              </a:buClr>
            </a:pPr>
            <a:r>
              <a:rPr lang="en-GB" dirty="0"/>
              <a:t>Largest public EMG dataset for hand gestures.</a:t>
            </a:r>
          </a:p>
          <a:p>
            <a:pPr marL="342900" indent="-342900">
              <a:spcAft>
                <a:spcPts val="1400"/>
              </a:spcAft>
              <a:buClr>
                <a:srgbClr val="FF9800"/>
              </a:buClr>
            </a:pPr>
            <a:r>
              <a:rPr lang="en-GB" dirty="0"/>
              <a:t>Contain signals from 40 subjects.</a:t>
            </a:r>
          </a:p>
          <a:p>
            <a:pPr marL="342900" indent="-342900">
              <a:spcAft>
                <a:spcPts val="1400"/>
              </a:spcAft>
              <a:buClr>
                <a:srgbClr val="FF9800"/>
              </a:buClr>
            </a:pPr>
            <a:r>
              <a:rPr lang="en-GB" dirty="0"/>
              <a:t>15 gesture from basic finger/wrist movements for our model to predict.</a:t>
            </a:r>
          </a:p>
          <a:p>
            <a:pPr marL="342900" indent="-342900">
              <a:spcAft>
                <a:spcPts val="1400"/>
              </a:spcAft>
              <a:buClr>
                <a:srgbClr val="FF9800"/>
              </a:buClr>
            </a:pPr>
            <a:r>
              <a:rPr lang="en-GB" dirty="0"/>
              <a:t>Signal Details:</a:t>
            </a:r>
          </a:p>
          <a:p>
            <a:pPr marL="285750" indent="-285750" algn="ctr">
              <a:spcAft>
                <a:spcPts val="1400"/>
              </a:spcAft>
              <a:buClr>
                <a:srgbClr val="FF9800"/>
              </a:buClr>
              <a:buFont typeface="Arial" panose="020B0604020202020204" pitchFamily="34" charset="0"/>
              <a:buChar char="•"/>
            </a:pPr>
            <a:r>
              <a:rPr lang="en-GB" sz="1800" dirty="0"/>
              <a:t>12 EMG channels.</a:t>
            </a:r>
          </a:p>
          <a:p>
            <a:pPr marL="342900" indent="-342900" algn="ctr">
              <a:spcAft>
                <a:spcPts val="1400"/>
              </a:spcAft>
              <a:buClr>
                <a:srgbClr val="FF9800"/>
              </a:buClr>
              <a:buFont typeface="Arial" panose="020B0604020202020204" pitchFamily="34" charset="0"/>
              <a:buChar char="•"/>
            </a:pPr>
            <a:r>
              <a:rPr lang="en-GB" sz="1800" dirty="0"/>
              <a:t>Sampling Rate: 2 kHz.</a:t>
            </a:r>
          </a:p>
          <a:p>
            <a:pPr marL="285750" lvl="4" indent="-285750" algn="ctr">
              <a:spcAft>
                <a:spcPts val="1400"/>
              </a:spcAft>
              <a:buClr>
                <a:srgbClr val="FF9800"/>
              </a:buClr>
              <a:buFont typeface="Arial" panose="020B0604020202020204" pitchFamily="34" charset="0"/>
              <a:buChar char="•"/>
              <a:tabLst>
                <a:tab pos="5024438" algn="l"/>
              </a:tabLst>
            </a:pPr>
            <a:r>
              <a:rPr lang="en-GB" sz="1800" dirty="0"/>
              <a:t>Duration: 5s per gesture, 3s rest, 6 repetitions.</a:t>
            </a:r>
          </a:p>
          <a:p>
            <a:pPr marL="342900" indent="-342900" algn="ctr">
              <a:spcAft>
                <a:spcPts val="1400"/>
              </a:spcAft>
              <a:buClr>
                <a:srgbClr val="FF9800"/>
              </a:buClr>
              <a:buFont typeface="Arial" panose="020B0604020202020204" pitchFamily="34" charset="0"/>
              <a:buChar char="•"/>
            </a:pPr>
            <a:endParaRPr lang="en-GB" dirty="0"/>
          </a:p>
          <a:p>
            <a:pPr marL="342900" indent="-342900" algn="ctr">
              <a:spcAft>
                <a:spcPts val="1400"/>
              </a:spcAft>
              <a:buClr>
                <a:srgbClr val="FF9800"/>
              </a:buClr>
              <a:buFont typeface="Arial" panose="020B0604020202020204" pitchFamily="34" charset="0"/>
              <a:buChar char="•"/>
            </a:pPr>
            <a:endParaRPr lang="en-GB" dirty="0"/>
          </a:p>
          <a:p>
            <a:pPr marL="342900" indent="-342900">
              <a:lnSpc>
                <a:spcPct val="150000"/>
              </a:lnSpc>
              <a:spcAft>
                <a:spcPts val="1400"/>
              </a:spcAft>
              <a:buClr>
                <a:srgbClr val="FF9800"/>
              </a:buClr>
            </a:pPr>
            <a:endParaRPr lang="fr-FR" dirty="0"/>
          </a:p>
        </p:txBody>
      </p:sp>
      <p:sp>
        <p:nvSpPr>
          <p:cNvPr id="18" name="titre_Understanding EMG Signals"/>
          <p:cNvSpPr txBox="1">
            <a:spLocks/>
          </p:cNvSpPr>
          <p:nvPr/>
        </p:nvSpPr>
        <p:spPr>
          <a:xfrm>
            <a:off x="1238096" y="1929930"/>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r>
              <a:rPr lang="en-GB" sz="2800" dirty="0">
                <a:solidFill>
                  <a:srgbClr val="FF9800"/>
                </a:solidFill>
              </a:rPr>
              <a:t>Database: NinaPro DB2</a:t>
            </a:r>
            <a:endParaRPr lang="en" sz="2800" dirty="0">
              <a:solidFill>
                <a:srgbClr val="FF9800"/>
              </a:solidFill>
            </a:endParaRPr>
          </a:p>
        </p:txBody>
      </p:sp>
    </p:spTree>
    <p:extLst>
      <p:ext uri="{BB962C8B-B14F-4D97-AF65-F5344CB8AC3E}">
        <p14:creationId xmlns:p14="http://schemas.microsoft.com/office/powerpoint/2010/main" val="4362673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fld id="{00000000-1234-1234-1234-123412341234}" type="slidenum">
              <a:rPr lang="en" smtClean="0"/>
              <a:pPr/>
              <a:t>15</a:t>
            </a:fld>
            <a:endParaRPr lang="en"/>
          </a:p>
        </p:txBody>
      </p:sp>
      <p:graphicFrame>
        <p:nvGraphicFramePr>
          <p:cNvPr id="18" name="Diagram 17"/>
          <p:cNvGraphicFramePr/>
          <p:nvPr>
            <p:extLst>
              <p:ext uri="{D42A27DB-BD31-4B8C-83A1-F6EECF244321}">
                <p14:modId xmlns:p14="http://schemas.microsoft.com/office/powerpoint/2010/main" val="1919413192"/>
              </p:ext>
            </p:extLst>
          </p:nvPr>
        </p:nvGraphicFramePr>
        <p:xfrm>
          <a:off x="2090977" y="647271"/>
          <a:ext cx="8553050" cy="58305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 name="titre_Understanding EMG Signals"/>
          <p:cNvSpPr txBox="1">
            <a:spLocks/>
          </p:cNvSpPr>
          <p:nvPr/>
        </p:nvSpPr>
        <p:spPr>
          <a:xfrm>
            <a:off x="3405945" y="160457"/>
            <a:ext cx="6128473"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r>
              <a:rPr lang="en-GB" sz="2800" dirty="0">
                <a:solidFill>
                  <a:srgbClr val="FF9800"/>
                </a:solidFill>
              </a:rPr>
              <a:t>15 Target Gestures for Classification</a:t>
            </a:r>
            <a:endParaRPr lang="en" sz="2800" dirty="0">
              <a:solidFill>
                <a:srgbClr val="FF9800"/>
              </a:solidFill>
            </a:endParaRPr>
          </a:p>
        </p:txBody>
      </p:sp>
    </p:spTree>
    <p:extLst>
      <p:ext uri="{BB962C8B-B14F-4D97-AF65-F5344CB8AC3E}">
        <p14:creationId xmlns:p14="http://schemas.microsoft.com/office/powerpoint/2010/main" val="29591235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p:txBody>
          <a:bodyPr/>
          <a:lstStyle/>
          <a:p>
            <a:r>
              <a:rPr lang="fr-FR" sz="2800" dirty="0"/>
              <a:t>Methodology: </a:t>
            </a:r>
            <a:r>
              <a:rPr lang="fr-FR" sz="2600" dirty="0"/>
              <a:t>Data Pre-processing Steps</a:t>
            </a:r>
            <a:endParaRPr lang="fr-FR" sz="2600"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16</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15" name="EMG: Electrical signals from muscle contractions."/>
          <p:cNvSpPr txBox="1">
            <a:spLocks/>
          </p:cNvSpPr>
          <p:nvPr/>
        </p:nvSpPr>
        <p:spPr>
          <a:xfrm>
            <a:off x="480396" y="3011878"/>
            <a:ext cx="7005633" cy="2911056"/>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342900" indent="-342900">
              <a:spcAft>
                <a:spcPts val="1400"/>
              </a:spcAft>
              <a:buClr>
                <a:srgbClr val="FF9800"/>
              </a:buClr>
              <a:buFont typeface="+mj-lt"/>
              <a:buAutoNum type="arabicPeriod"/>
            </a:pPr>
            <a:r>
              <a:rPr lang="en-GB" sz="1900" b="1" dirty="0"/>
              <a:t>Data Splitting: </a:t>
            </a:r>
            <a:r>
              <a:rPr lang="en-GB" sz="1900" dirty="0"/>
              <a:t>divide data per subject using repetition ID. Train: Reps 1,2,4,6  Test: Reps 3,5.</a:t>
            </a:r>
          </a:p>
          <a:p>
            <a:pPr marL="342900" indent="-342900">
              <a:spcAft>
                <a:spcPts val="1400"/>
              </a:spcAft>
              <a:buClr>
                <a:srgbClr val="FF9800"/>
              </a:buClr>
              <a:buFont typeface="+mj-lt"/>
              <a:buAutoNum type="arabicPeriod"/>
            </a:pPr>
            <a:r>
              <a:rPr lang="en-GB" sz="1900" b="1" dirty="0"/>
              <a:t>Normalization: </a:t>
            </a:r>
            <a:r>
              <a:rPr lang="en-GB" sz="1900" dirty="0"/>
              <a:t>scale EMG amplitudes across all 12 channels with Z-score.</a:t>
            </a:r>
          </a:p>
          <a:p>
            <a:pPr marL="342900" indent="-342900">
              <a:spcAft>
                <a:spcPts val="1400"/>
              </a:spcAft>
              <a:buClr>
                <a:srgbClr val="FF9800"/>
              </a:buClr>
              <a:buFont typeface="+mj-lt"/>
              <a:buAutoNum type="arabicPeriod"/>
            </a:pPr>
            <a:r>
              <a:rPr lang="en-GB" sz="1900" b="1" dirty="0"/>
              <a:t>Bandpass Filtering (20–500 Hz): </a:t>
            </a:r>
            <a:r>
              <a:rPr lang="en-GB" sz="1900" dirty="0"/>
              <a:t>4th-order Butterworth filter, with cuttoff : 20 Hz (high-pass), 500 Hz (low-pass).</a:t>
            </a:r>
          </a:p>
          <a:p>
            <a:pPr marL="342900" indent="-342900">
              <a:spcAft>
                <a:spcPts val="1400"/>
              </a:spcAft>
              <a:buClr>
                <a:srgbClr val="FF9800"/>
              </a:buClr>
              <a:buFont typeface="+mj-lt"/>
              <a:buAutoNum type="arabicPeriod"/>
            </a:pPr>
            <a:r>
              <a:rPr lang="en-GB" sz="1900" b="1" dirty="0"/>
              <a:t>Notch Filtering (50 Hz): </a:t>
            </a:r>
            <a:r>
              <a:rPr lang="da-DK" sz="1900" dirty="0"/>
              <a:t>10 Hz bandwidth centered at 50 Hz.</a:t>
            </a:r>
          </a:p>
          <a:p>
            <a:pPr marL="342900" indent="-342900">
              <a:spcAft>
                <a:spcPts val="1400"/>
              </a:spcAft>
              <a:buClr>
                <a:srgbClr val="FF9800"/>
              </a:buClr>
              <a:buFont typeface="+mj-lt"/>
              <a:buAutoNum type="arabicPeriod"/>
            </a:pPr>
            <a:r>
              <a:rPr lang="da-DK" sz="1900" b="1" dirty="0"/>
              <a:t>Windowing: </a:t>
            </a:r>
            <a:r>
              <a:rPr lang="en-GB" sz="1900" dirty="0"/>
              <a:t>segment continuous signals into fixed-length slices of 150ms windows, with stride of 100ms. </a:t>
            </a:r>
          </a:p>
          <a:p>
            <a:pPr marL="457200" indent="-457200">
              <a:lnSpc>
                <a:spcPct val="150000"/>
              </a:lnSpc>
              <a:spcAft>
                <a:spcPts val="1400"/>
              </a:spcAft>
              <a:buClr>
                <a:srgbClr val="FF9800"/>
              </a:buClr>
              <a:buFont typeface="+mj-lt"/>
              <a:buAutoNum type="arabicPeriod"/>
            </a:pPr>
            <a:endParaRPr lang="fr-FR" dirty="0"/>
          </a:p>
        </p:txBody>
      </p:sp>
      <p:sp>
        <p:nvSpPr>
          <p:cNvPr id="16" name="Rounded Rectangle 15"/>
          <p:cNvSpPr/>
          <p:nvPr/>
        </p:nvSpPr>
        <p:spPr>
          <a:xfrm>
            <a:off x="9330679" y="1290161"/>
            <a:ext cx="2041236" cy="665019"/>
          </a:xfrm>
          <a:prstGeom prst="roundRect">
            <a:avLst/>
          </a:prstGeom>
          <a:solidFill>
            <a:srgbClr val="3F537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Data Splitting</a:t>
            </a:r>
          </a:p>
        </p:txBody>
      </p:sp>
      <p:grpSp>
        <p:nvGrpSpPr>
          <p:cNvPr id="26" name="Group 25"/>
          <p:cNvGrpSpPr/>
          <p:nvPr/>
        </p:nvGrpSpPr>
        <p:grpSpPr>
          <a:xfrm>
            <a:off x="9330679" y="1979733"/>
            <a:ext cx="2041236" cy="914995"/>
            <a:chOff x="9330679" y="1979733"/>
            <a:chExt cx="2041236" cy="914995"/>
          </a:xfrm>
        </p:grpSpPr>
        <p:sp>
          <p:nvSpPr>
            <p:cNvPr id="13" name="Striped Right Arrow 12"/>
            <p:cNvSpPr/>
            <p:nvPr/>
          </p:nvSpPr>
          <p:spPr>
            <a:xfrm rot="5400000">
              <a:off x="10214624" y="1954769"/>
              <a:ext cx="273345" cy="323273"/>
            </a:xfrm>
            <a:prstGeom prst="stripedRightArrow">
              <a:avLst/>
            </a:prstGeom>
            <a:solidFill>
              <a:srgbClr val="C7D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ounded Rectangle 2"/>
            <p:cNvSpPr/>
            <p:nvPr/>
          </p:nvSpPr>
          <p:spPr>
            <a:xfrm>
              <a:off x="9330679" y="2229709"/>
              <a:ext cx="2041236" cy="665019"/>
            </a:xfrm>
            <a:prstGeom prst="roundRect">
              <a:avLst/>
            </a:prstGeom>
            <a:solidFill>
              <a:srgbClr val="3F537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Normalization</a:t>
              </a:r>
            </a:p>
          </p:txBody>
        </p:sp>
      </p:grpSp>
      <p:grpSp>
        <p:nvGrpSpPr>
          <p:cNvPr id="27" name="Group 26"/>
          <p:cNvGrpSpPr/>
          <p:nvPr/>
        </p:nvGrpSpPr>
        <p:grpSpPr>
          <a:xfrm>
            <a:off x="9314873" y="2893267"/>
            <a:ext cx="2041236" cy="921352"/>
            <a:chOff x="9314873" y="2893267"/>
            <a:chExt cx="2041236" cy="921352"/>
          </a:xfrm>
        </p:grpSpPr>
        <p:sp>
          <p:nvSpPr>
            <p:cNvPr id="17" name="Rounded Rectangle 16"/>
            <p:cNvSpPr/>
            <p:nvPr/>
          </p:nvSpPr>
          <p:spPr>
            <a:xfrm>
              <a:off x="9314873" y="3149600"/>
              <a:ext cx="2041236" cy="665019"/>
            </a:xfrm>
            <a:prstGeom prst="roundRect">
              <a:avLst/>
            </a:prstGeom>
            <a:solidFill>
              <a:srgbClr val="3F537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Bandpass Filter</a:t>
              </a:r>
            </a:p>
          </p:txBody>
        </p:sp>
        <p:sp>
          <p:nvSpPr>
            <p:cNvPr id="21" name="Striped Right Arrow 20"/>
            <p:cNvSpPr/>
            <p:nvPr/>
          </p:nvSpPr>
          <p:spPr>
            <a:xfrm rot="5400000">
              <a:off x="10214624" y="2868303"/>
              <a:ext cx="273345" cy="323273"/>
            </a:xfrm>
            <a:prstGeom prst="stripedRightArrow">
              <a:avLst/>
            </a:prstGeom>
            <a:solidFill>
              <a:srgbClr val="C7D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Group 27"/>
          <p:cNvGrpSpPr/>
          <p:nvPr/>
        </p:nvGrpSpPr>
        <p:grpSpPr>
          <a:xfrm>
            <a:off x="9314873" y="3814619"/>
            <a:ext cx="2041236" cy="947138"/>
            <a:chOff x="9314873" y="3814619"/>
            <a:chExt cx="2041236" cy="947138"/>
          </a:xfrm>
        </p:grpSpPr>
        <p:sp>
          <p:nvSpPr>
            <p:cNvPr id="19" name="Rounded Rectangle 18"/>
            <p:cNvSpPr/>
            <p:nvPr/>
          </p:nvSpPr>
          <p:spPr>
            <a:xfrm>
              <a:off x="9314873" y="4096738"/>
              <a:ext cx="2041236" cy="665019"/>
            </a:xfrm>
            <a:prstGeom prst="roundRect">
              <a:avLst/>
            </a:prstGeom>
            <a:solidFill>
              <a:srgbClr val="3F537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Notch Filter</a:t>
              </a:r>
            </a:p>
          </p:txBody>
        </p:sp>
        <p:sp>
          <p:nvSpPr>
            <p:cNvPr id="22" name="Striped Right Arrow 21"/>
            <p:cNvSpPr/>
            <p:nvPr/>
          </p:nvSpPr>
          <p:spPr>
            <a:xfrm rot="5400000">
              <a:off x="10214624" y="3789655"/>
              <a:ext cx="273345" cy="323273"/>
            </a:xfrm>
            <a:prstGeom prst="stripedRightArrow">
              <a:avLst/>
            </a:prstGeom>
            <a:solidFill>
              <a:srgbClr val="C7D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 name="Group 28"/>
          <p:cNvGrpSpPr/>
          <p:nvPr/>
        </p:nvGrpSpPr>
        <p:grpSpPr>
          <a:xfrm>
            <a:off x="9314873" y="4793212"/>
            <a:ext cx="2041236" cy="938364"/>
            <a:chOff x="9314873" y="4793212"/>
            <a:chExt cx="2041236" cy="938364"/>
          </a:xfrm>
        </p:grpSpPr>
        <p:sp>
          <p:nvSpPr>
            <p:cNvPr id="20" name="Rounded Rectangle 19"/>
            <p:cNvSpPr/>
            <p:nvPr/>
          </p:nvSpPr>
          <p:spPr>
            <a:xfrm>
              <a:off x="9314873" y="5066557"/>
              <a:ext cx="2041236" cy="665019"/>
            </a:xfrm>
            <a:prstGeom prst="roundRect">
              <a:avLst/>
            </a:prstGeom>
            <a:solidFill>
              <a:srgbClr val="3F537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Windowing</a:t>
              </a:r>
            </a:p>
          </p:txBody>
        </p:sp>
        <p:sp>
          <p:nvSpPr>
            <p:cNvPr id="23" name="Striped Right Arrow 22"/>
            <p:cNvSpPr/>
            <p:nvPr/>
          </p:nvSpPr>
          <p:spPr>
            <a:xfrm rot="5400000">
              <a:off x="10214624" y="4768248"/>
              <a:ext cx="273345" cy="323273"/>
            </a:xfrm>
            <a:prstGeom prst="stripedRightArrow">
              <a:avLst/>
            </a:prstGeom>
            <a:solidFill>
              <a:srgbClr val="C7D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5740197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xEl>
                                              <p:pRg st="1" end="1"/>
                                            </p:txEl>
                                          </p:spTgt>
                                        </p:tgtEl>
                                        <p:attrNameLst>
                                          <p:attrName>style.visibility</p:attrName>
                                        </p:attrNameLst>
                                      </p:cBhvr>
                                      <p:to>
                                        <p:strVal val="visible"/>
                                      </p:to>
                                    </p:set>
                                    <p:animEffect transition="in" filter="fade">
                                      <p:cBhvr>
                                        <p:cTn id="15" dur="500"/>
                                        <p:tgtEl>
                                          <p:spTgt spid="15">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5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xEl>
                                              <p:pRg st="2" end="2"/>
                                            </p:txEl>
                                          </p:spTgt>
                                        </p:tgtEl>
                                        <p:attrNameLst>
                                          <p:attrName>style.visibility</p:attrName>
                                        </p:attrNameLst>
                                      </p:cBhvr>
                                      <p:to>
                                        <p:strVal val="visible"/>
                                      </p:to>
                                    </p:set>
                                    <p:animEffect transition="in" filter="fade">
                                      <p:cBhvr>
                                        <p:cTn id="23" dur="500"/>
                                        <p:tgtEl>
                                          <p:spTgt spid="15">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500"/>
                                        <p:tgtEl>
                                          <p:spTgt spid="2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xEl>
                                              <p:pRg st="3" end="3"/>
                                            </p:txEl>
                                          </p:spTgt>
                                        </p:tgtEl>
                                        <p:attrNameLst>
                                          <p:attrName>style.visibility</p:attrName>
                                        </p:attrNameLst>
                                      </p:cBhvr>
                                      <p:to>
                                        <p:strVal val="visible"/>
                                      </p:to>
                                    </p:set>
                                    <p:animEffect transition="in" filter="fade">
                                      <p:cBhvr>
                                        <p:cTn id="31" dur="500"/>
                                        <p:tgtEl>
                                          <p:spTgt spid="15">
                                            <p:txEl>
                                              <p:pRg st="3" end="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5">
                                            <p:txEl>
                                              <p:pRg st="4" end="4"/>
                                            </p:txEl>
                                          </p:spTgt>
                                        </p:tgtEl>
                                        <p:attrNameLst>
                                          <p:attrName>style.visibility</p:attrName>
                                        </p:attrNameLst>
                                      </p:cBhvr>
                                      <p:to>
                                        <p:strVal val="visible"/>
                                      </p:to>
                                    </p:set>
                                    <p:animEffect transition="in" filter="fade">
                                      <p:cBhvr>
                                        <p:cTn id="39" dur="500"/>
                                        <p:tgtEl>
                                          <p:spTgt spid="15">
                                            <p:txEl>
                                              <p:pRg st="4" end="4"/>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p:txBody>
          <a:bodyPr/>
          <a:lstStyle/>
          <a:p>
            <a:r>
              <a:rPr lang="fr-FR" sz="2800" dirty="0"/>
              <a:t>Methodology: Proposed Model</a:t>
            </a:r>
            <a:endParaRPr lang="fr-FR"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17</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15" name="EMG: Electrical signals from muscle contractions."/>
          <p:cNvSpPr txBox="1">
            <a:spLocks/>
          </p:cNvSpPr>
          <p:nvPr/>
        </p:nvSpPr>
        <p:spPr>
          <a:xfrm>
            <a:off x="457349" y="3270944"/>
            <a:ext cx="5134868" cy="2911056"/>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342900" indent="-342900">
              <a:spcAft>
                <a:spcPts val="1400"/>
              </a:spcAft>
              <a:buClr>
                <a:srgbClr val="FF9800"/>
              </a:buClr>
            </a:pPr>
            <a:r>
              <a:rPr lang="en-GB" sz="1800" dirty="0"/>
              <a:t>No decoder block.</a:t>
            </a:r>
          </a:p>
          <a:p>
            <a:pPr marL="342900" indent="-342900">
              <a:spcAft>
                <a:spcPts val="1400"/>
              </a:spcAft>
              <a:buClr>
                <a:srgbClr val="FF9800"/>
              </a:buClr>
            </a:pPr>
            <a:r>
              <a:rPr lang="en-GB" sz="1800" dirty="0"/>
              <a:t>Capturing local patterns using convolutional layer by what we named as Convolutional Feature Extractor.</a:t>
            </a:r>
          </a:p>
          <a:p>
            <a:pPr marL="342900" indent="-342900">
              <a:spcAft>
                <a:spcPts val="1400"/>
              </a:spcAft>
              <a:buClr>
                <a:srgbClr val="FF9800"/>
              </a:buClr>
            </a:pPr>
            <a:r>
              <a:rPr lang="en-GB" sz="1800" dirty="0"/>
              <a:t>Time2Vec encoding that learns temporal context (linear + cyclical trends).</a:t>
            </a:r>
          </a:p>
          <a:p>
            <a:pPr marL="342900" indent="-342900">
              <a:spcAft>
                <a:spcPts val="1400"/>
              </a:spcAft>
              <a:buClr>
                <a:srgbClr val="FF9800"/>
              </a:buClr>
            </a:pPr>
            <a:r>
              <a:rPr lang="en-GB" sz="1800" dirty="0"/>
              <a:t>Classification head to classify the hand gestures.</a:t>
            </a:r>
          </a:p>
          <a:p>
            <a:pPr algn="ctr">
              <a:spcAft>
                <a:spcPts val="1400"/>
              </a:spcAft>
              <a:buClr>
                <a:srgbClr val="FF9800"/>
              </a:buClr>
              <a:buNone/>
            </a:pPr>
            <a:endParaRPr lang="en-GB" dirty="0"/>
          </a:p>
          <a:p>
            <a:pPr>
              <a:lnSpc>
                <a:spcPct val="150000"/>
              </a:lnSpc>
              <a:spcAft>
                <a:spcPts val="1400"/>
              </a:spcAft>
              <a:buClr>
                <a:srgbClr val="FF9800"/>
              </a:buClr>
              <a:buNone/>
            </a:pPr>
            <a:endParaRPr lang="fr-FR"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3186" y="2057400"/>
            <a:ext cx="5906378" cy="4124600"/>
          </a:xfrm>
          <a:prstGeom prst="rect">
            <a:avLst/>
          </a:prstGeom>
        </p:spPr>
      </p:pic>
      <p:sp>
        <p:nvSpPr>
          <p:cNvPr id="16" name="titre_Understanding EMG Signals"/>
          <p:cNvSpPr txBox="1">
            <a:spLocks/>
          </p:cNvSpPr>
          <p:nvPr/>
        </p:nvSpPr>
        <p:spPr>
          <a:xfrm>
            <a:off x="7827339" y="1653753"/>
            <a:ext cx="3538653"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r>
              <a:rPr lang="en" dirty="0">
                <a:solidFill>
                  <a:srgbClr val="FF9800"/>
                </a:solidFill>
              </a:rPr>
              <a:t>Proposed Model Architecture</a:t>
            </a:r>
          </a:p>
        </p:txBody>
      </p:sp>
    </p:spTree>
    <p:extLst>
      <p:ext uri="{BB962C8B-B14F-4D97-AF65-F5344CB8AC3E}">
        <p14:creationId xmlns:p14="http://schemas.microsoft.com/office/powerpoint/2010/main" val="21608809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fade">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fade">
                                      <p:cBhvr>
                                        <p:cTn id="17" dur="500"/>
                                        <p:tgtEl>
                                          <p:spTgt spid="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xEl>
                                              <p:pRg st="3" end="3"/>
                                            </p:txEl>
                                          </p:spTgt>
                                        </p:tgtEl>
                                        <p:attrNameLst>
                                          <p:attrName>style.visibility</p:attrName>
                                        </p:attrNameLst>
                                      </p:cBhvr>
                                      <p:to>
                                        <p:strVal val="visible"/>
                                      </p:to>
                                    </p:set>
                                    <p:animEffect transition="in" filter="fade">
                                      <p:cBhvr>
                                        <p:cTn id="22"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84" name="Shape 384"/>
          <p:cNvSpPr txBox="1">
            <a:spLocks noGrp="1"/>
          </p:cNvSpPr>
          <p:nvPr>
            <p:ph type="sldNum" idx="12"/>
          </p:nvPr>
        </p:nvSpPr>
        <p:spPr>
          <a:xfrm>
            <a:off x="10157333" y="6182000"/>
            <a:ext cx="1983200" cy="420800"/>
          </a:xfrm>
          <a:prstGeom prst="rect">
            <a:avLst/>
          </a:prstGeom>
          <a:noFill/>
          <a:ln>
            <a:noFill/>
          </a:ln>
        </p:spPr>
        <p:txBody>
          <a:bodyPr lIns="91425" tIns="91425" rIns="91425" bIns="91425" anchor="ctr" anchorCtr="0">
            <a:noAutofit/>
          </a:bodyPr>
          <a:lstStyle/>
          <a:p>
            <a:fld id="{00000000-1234-1234-1234-123412341234}" type="slidenum">
              <a:rPr lang="en" sz="1800" smtClean="0">
                <a:solidFill>
                  <a:srgbClr val="3F5378"/>
                </a:solidFill>
                <a:latin typeface="Roboto Condensed" panose="020B0604020202020204"/>
              </a:rPr>
              <a:pPr/>
              <a:t>18</a:t>
            </a:fld>
            <a:endParaRPr lang="en" sz="1800" dirty="0">
              <a:solidFill>
                <a:srgbClr val="3F5378"/>
              </a:solidFill>
              <a:latin typeface="Roboto Condensed" panose="020B0604020202020204"/>
            </a:endParaRPr>
          </a:p>
        </p:txBody>
      </p:sp>
      <p:sp>
        <p:nvSpPr>
          <p:cNvPr id="22" name="titre_Understanding EMG Signals"/>
          <p:cNvSpPr txBox="1">
            <a:spLocks/>
          </p:cNvSpPr>
          <p:nvPr/>
        </p:nvSpPr>
        <p:spPr>
          <a:xfrm>
            <a:off x="2156997" y="150435"/>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pPr algn="ctr"/>
            <a:r>
              <a:rPr lang="en-GB" sz="2400" dirty="0">
                <a:solidFill>
                  <a:srgbClr val="FF9800"/>
                </a:solidFill>
              </a:rPr>
              <a:t>Proposed Model Architecture in Details</a:t>
            </a:r>
            <a:endParaRPr lang="en" sz="2400" dirty="0">
              <a:solidFill>
                <a:srgbClr val="FF9800"/>
              </a:solidFill>
            </a:endParaRPr>
          </a:p>
        </p:txBody>
      </p:sp>
      <p:pic>
        <p:nvPicPr>
          <p:cNvPr id="2" name="arch_pic"/>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851" y="1271016"/>
            <a:ext cx="6889952" cy="4811459"/>
          </a:xfrm>
          <a:prstGeom prst="rect">
            <a:avLst/>
          </a:prstGeom>
        </p:spPr>
      </p:pic>
      <p:grpSp>
        <p:nvGrpSpPr>
          <p:cNvPr id="9" name="attention"/>
          <p:cNvGrpSpPr/>
          <p:nvPr/>
        </p:nvGrpSpPr>
        <p:grpSpPr>
          <a:xfrm>
            <a:off x="7843838" y="2418912"/>
            <a:ext cx="5192777" cy="2589714"/>
            <a:chOff x="8004475" y="2649459"/>
            <a:chExt cx="5192777" cy="2589714"/>
          </a:xfrm>
        </p:grpSpPr>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22725" y="2649459"/>
              <a:ext cx="4374527" cy="2368482"/>
            </a:xfrm>
            <a:prstGeom prst="rect">
              <a:avLst/>
            </a:prstGeom>
          </p:spPr>
        </p:pic>
        <p:cxnSp>
          <p:nvCxnSpPr>
            <p:cNvPr id="6" name="Straight Arrow Connector 5"/>
            <p:cNvCxnSpPr/>
            <p:nvPr/>
          </p:nvCxnSpPr>
          <p:spPr>
            <a:xfrm flipV="1">
              <a:off x="8004475" y="3039763"/>
              <a:ext cx="1201309" cy="114127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8004475" y="4331060"/>
              <a:ext cx="1077740" cy="90811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18" name="classification"/>
          <p:cNvGrpSpPr/>
          <p:nvPr/>
        </p:nvGrpSpPr>
        <p:grpSpPr>
          <a:xfrm>
            <a:off x="296562" y="1717589"/>
            <a:ext cx="4913904" cy="2500296"/>
            <a:chOff x="103039" y="2282987"/>
            <a:chExt cx="4679026" cy="2296976"/>
          </a:xfrm>
        </p:grpSpPr>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039" y="2282987"/>
              <a:ext cx="4242457" cy="2296976"/>
            </a:xfrm>
            <a:prstGeom prst="rect">
              <a:avLst/>
            </a:prstGeom>
          </p:spPr>
        </p:pic>
        <p:cxnSp>
          <p:nvCxnSpPr>
            <p:cNvPr id="15" name="Straight Arrow Connector 14"/>
            <p:cNvCxnSpPr/>
            <p:nvPr/>
          </p:nvCxnSpPr>
          <p:spPr>
            <a:xfrm>
              <a:off x="4015946" y="2582562"/>
              <a:ext cx="766119" cy="703282"/>
            </a:xfrm>
            <a:prstGeom prst="straightConnector1">
              <a:avLst/>
            </a:prstGeom>
            <a:ln w="1905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385751" y="3527185"/>
              <a:ext cx="1396314" cy="1052778"/>
            </a:xfrm>
            <a:prstGeom prst="straightConnector1">
              <a:avLst/>
            </a:prstGeom>
            <a:ln w="19050">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5" name="Group 4"/>
          <p:cNvGrpSpPr/>
          <p:nvPr/>
        </p:nvGrpSpPr>
        <p:grpSpPr>
          <a:xfrm>
            <a:off x="169463" y="3268189"/>
            <a:ext cx="4718987" cy="2063909"/>
            <a:chOff x="169463" y="3268189"/>
            <a:chExt cx="4718987" cy="2063909"/>
          </a:xfrm>
        </p:grpSpPr>
        <p:pic>
          <p:nvPicPr>
            <p:cNvPr id="28" name="Picture 2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9463" y="3268189"/>
              <a:ext cx="4302850" cy="2063909"/>
            </a:xfrm>
            <a:prstGeom prst="rect">
              <a:avLst/>
            </a:prstGeom>
            <a:noFill/>
            <a:ln>
              <a:noFill/>
            </a:ln>
          </p:spPr>
        </p:pic>
        <p:cxnSp>
          <p:nvCxnSpPr>
            <p:cNvPr id="30" name="Straight Arrow Connector 29"/>
            <p:cNvCxnSpPr/>
            <p:nvPr/>
          </p:nvCxnSpPr>
          <p:spPr>
            <a:xfrm>
              <a:off x="4385974" y="3328691"/>
              <a:ext cx="502476" cy="893090"/>
            </a:xfrm>
            <a:prstGeom prst="straightConnector1">
              <a:avLst/>
            </a:prstGeom>
            <a:ln w="19050">
              <a:solidFill>
                <a:srgbClr val="357EB9"/>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3810484" y="4458848"/>
              <a:ext cx="1064117" cy="838200"/>
            </a:xfrm>
            <a:prstGeom prst="straightConnector1">
              <a:avLst/>
            </a:prstGeom>
            <a:ln w="19050">
              <a:solidFill>
                <a:srgbClr val="357EB9"/>
              </a:solidFill>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0" name="ff"/>
          <p:cNvGrpSpPr/>
          <p:nvPr/>
        </p:nvGrpSpPr>
        <p:grpSpPr>
          <a:xfrm>
            <a:off x="7627301" y="1823961"/>
            <a:ext cx="4677210" cy="2495916"/>
            <a:chOff x="8425694" y="1962933"/>
            <a:chExt cx="4303773" cy="2061382"/>
          </a:xfrm>
        </p:grpSpPr>
        <p:pic>
          <p:nvPicPr>
            <p:cNvPr id="34" name="Picture 3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17771" y="1962933"/>
              <a:ext cx="3711696" cy="2009608"/>
            </a:xfrm>
            <a:prstGeom prst="rect">
              <a:avLst/>
            </a:prstGeom>
          </p:spPr>
        </p:pic>
        <p:cxnSp>
          <p:nvCxnSpPr>
            <p:cNvPr id="36" name="Straight Arrow Connector 35"/>
            <p:cNvCxnSpPr/>
            <p:nvPr/>
          </p:nvCxnSpPr>
          <p:spPr>
            <a:xfrm flipV="1">
              <a:off x="8425694" y="2298700"/>
              <a:ext cx="694878" cy="82138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8425694" y="3291930"/>
              <a:ext cx="592077" cy="73238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217426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
                                        </p:tgtEl>
                                      </p:cBhvr>
                                      <p:by x="50000" y="50000"/>
                                    </p:animScale>
                                  </p:childTnLst>
                                </p:cTn>
                              </p:par>
                              <p:par>
                                <p:cTn id="7" presetID="53" presetClass="entr" presetSubtype="16"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 calcmode="lin" valueType="num">
                                      <p:cBhvr>
                                        <p:cTn id="9" dur="2000" fill="hold"/>
                                        <p:tgtEl>
                                          <p:spTgt spid="5"/>
                                        </p:tgtEl>
                                        <p:attrNameLst>
                                          <p:attrName>ppt_w</p:attrName>
                                        </p:attrNameLst>
                                      </p:cBhvr>
                                      <p:tavLst>
                                        <p:tav tm="0">
                                          <p:val>
                                            <p:fltVal val="0"/>
                                          </p:val>
                                        </p:tav>
                                        <p:tav tm="100000">
                                          <p:val>
                                            <p:strVal val="#ppt_w"/>
                                          </p:val>
                                        </p:tav>
                                      </p:tavLst>
                                    </p:anim>
                                    <p:anim calcmode="lin" valueType="num">
                                      <p:cBhvr>
                                        <p:cTn id="10" dur="2000" fill="hold"/>
                                        <p:tgtEl>
                                          <p:spTgt spid="5"/>
                                        </p:tgtEl>
                                        <p:attrNameLst>
                                          <p:attrName>ppt_h</p:attrName>
                                        </p:attrNameLst>
                                      </p:cBhvr>
                                      <p:tavLst>
                                        <p:tav tm="0">
                                          <p:val>
                                            <p:fltVal val="0"/>
                                          </p:val>
                                        </p:tav>
                                        <p:tav tm="100000">
                                          <p:val>
                                            <p:strVal val="#ppt_h"/>
                                          </p:val>
                                        </p:tav>
                                      </p:tavLst>
                                    </p:anim>
                                    <p:animEffect transition="in" filter="fade">
                                      <p:cBhvr>
                                        <p:cTn id="11" dur="20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6" presetClass="emph" presetSubtype="0" fill="hold" nodeType="clickEffect">
                                  <p:stCondLst>
                                    <p:cond delay="0"/>
                                  </p:stCondLst>
                                  <p:childTnLst>
                                    <p:animScale>
                                      <p:cBhvr>
                                        <p:cTn id="15" dur="1000" fill="hold"/>
                                        <p:tgtEl>
                                          <p:spTgt spid="2"/>
                                        </p:tgtEl>
                                      </p:cBhvr>
                                      <p:by x="200000" y="200000"/>
                                    </p:animScale>
                                  </p:childTnLst>
                                </p:cTn>
                              </p:par>
                              <p:par>
                                <p:cTn id="16" presetID="10" presetClass="exit" presetSubtype="0" fill="hold" nodeType="withEffect">
                                  <p:stCondLst>
                                    <p:cond delay="0"/>
                                  </p:stCondLst>
                                  <p:childTnLst>
                                    <p:animEffect transition="out" filter="fade">
                                      <p:cBhvr>
                                        <p:cTn id="17" dur="500"/>
                                        <p:tgtEl>
                                          <p:spTgt spid="5"/>
                                        </p:tgtEl>
                                      </p:cBhvr>
                                    </p:animEffect>
                                    <p:set>
                                      <p:cBhvr>
                                        <p:cTn id="18" dur="1" fill="hold">
                                          <p:stCondLst>
                                            <p:cond delay="499"/>
                                          </p:stCondLst>
                                        </p:cTn>
                                        <p:tgtEl>
                                          <p:spTgt spid="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2"/>
                                        </p:tgtEl>
                                      </p:cBhvr>
                                      <p:by x="50000" y="50000"/>
                                    </p:animScale>
                                  </p:childTnLst>
                                </p:cTn>
                              </p:par>
                              <p:par>
                                <p:cTn id="23" presetID="53" presetClass="entr" presetSubtype="16"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2000" fill="hold"/>
                                        <p:tgtEl>
                                          <p:spTgt spid="9"/>
                                        </p:tgtEl>
                                        <p:attrNameLst>
                                          <p:attrName>ppt_w</p:attrName>
                                        </p:attrNameLst>
                                      </p:cBhvr>
                                      <p:tavLst>
                                        <p:tav tm="0">
                                          <p:val>
                                            <p:fltVal val="0"/>
                                          </p:val>
                                        </p:tav>
                                        <p:tav tm="100000">
                                          <p:val>
                                            <p:strVal val="#ppt_w"/>
                                          </p:val>
                                        </p:tav>
                                      </p:tavLst>
                                    </p:anim>
                                    <p:anim calcmode="lin" valueType="num">
                                      <p:cBhvr>
                                        <p:cTn id="26" dur="2000" fill="hold"/>
                                        <p:tgtEl>
                                          <p:spTgt spid="9"/>
                                        </p:tgtEl>
                                        <p:attrNameLst>
                                          <p:attrName>ppt_h</p:attrName>
                                        </p:attrNameLst>
                                      </p:cBhvr>
                                      <p:tavLst>
                                        <p:tav tm="0">
                                          <p:val>
                                            <p:fltVal val="0"/>
                                          </p:val>
                                        </p:tav>
                                        <p:tav tm="100000">
                                          <p:val>
                                            <p:strVal val="#ppt_h"/>
                                          </p:val>
                                        </p:tav>
                                      </p:tavLst>
                                    </p:anim>
                                    <p:animEffect transition="in" filter="fade">
                                      <p:cBhvr>
                                        <p:cTn id="27" dur="20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mph" presetSubtype="0" fill="hold" nodeType="clickEffect">
                                  <p:stCondLst>
                                    <p:cond delay="0"/>
                                  </p:stCondLst>
                                  <p:childTnLst>
                                    <p:animScale>
                                      <p:cBhvr>
                                        <p:cTn id="31" dur="1000" fill="hold"/>
                                        <p:tgtEl>
                                          <p:spTgt spid="2"/>
                                        </p:tgtEl>
                                      </p:cBhvr>
                                      <p:by x="200000" y="200000"/>
                                    </p:animScale>
                                  </p:childTnLst>
                                </p:cTn>
                              </p:par>
                              <p:par>
                                <p:cTn id="32" presetID="10" presetClass="exit" presetSubtype="0" fill="hold" nodeType="withEffect">
                                  <p:stCondLst>
                                    <p:cond delay="0"/>
                                  </p:stCondLst>
                                  <p:childTnLst>
                                    <p:animEffect transition="out" filter="fade">
                                      <p:cBhvr>
                                        <p:cTn id="33" dur="500"/>
                                        <p:tgtEl>
                                          <p:spTgt spid="9"/>
                                        </p:tgtEl>
                                      </p:cBhvr>
                                    </p:animEffect>
                                    <p:set>
                                      <p:cBhvr>
                                        <p:cTn id="34" dur="1" fill="hold">
                                          <p:stCondLst>
                                            <p:cond delay="499"/>
                                          </p:stCondLst>
                                        </p:cTn>
                                        <p:tgtEl>
                                          <p:spTgt spid="9"/>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6" presetClass="emph" presetSubtype="0" fill="hold" nodeType="clickEffect">
                                  <p:stCondLst>
                                    <p:cond delay="0"/>
                                  </p:stCondLst>
                                  <p:childTnLst>
                                    <p:animScale>
                                      <p:cBhvr>
                                        <p:cTn id="38" dur="2000" fill="hold"/>
                                        <p:tgtEl>
                                          <p:spTgt spid="2"/>
                                        </p:tgtEl>
                                      </p:cBhvr>
                                      <p:by x="50000" y="50000"/>
                                    </p:animScale>
                                  </p:childTnLst>
                                </p:cTn>
                              </p:par>
                              <p:par>
                                <p:cTn id="39" presetID="53" presetClass="entr" presetSubtype="16" fill="hold" nodeType="withEffect">
                                  <p:stCondLst>
                                    <p:cond delay="0"/>
                                  </p:stCondLst>
                                  <p:childTnLst>
                                    <p:set>
                                      <p:cBhvr>
                                        <p:cTn id="40" dur="1" fill="hold">
                                          <p:stCondLst>
                                            <p:cond delay="0"/>
                                          </p:stCondLst>
                                        </p:cTn>
                                        <p:tgtEl>
                                          <p:spTgt spid="40"/>
                                        </p:tgtEl>
                                        <p:attrNameLst>
                                          <p:attrName>style.visibility</p:attrName>
                                        </p:attrNameLst>
                                      </p:cBhvr>
                                      <p:to>
                                        <p:strVal val="visible"/>
                                      </p:to>
                                    </p:set>
                                    <p:anim calcmode="lin" valueType="num">
                                      <p:cBhvr>
                                        <p:cTn id="41" dur="2000" fill="hold"/>
                                        <p:tgtEl>
                                          <p:spTgt spid="40"/>
                                        </p:tgtEl>
                                        <p:attrNameLst>
                                          <p:attrName>ppt_w</p:attrName>
                                        </p:attrNameLst>
                                      </p:cBhvr>
                                      <p:tavLst>
                                        <p:tav tm="0">
                                          <p:val>
                                            <p:fltVal val="0"/>
                                          </p:val>
                                        </p:tav>
                                        <p:tav tm="100000">
                                          <p:val>
                                            <p:strVal val="#ppt_w"/>
                                          </p:val>
                                        </p:tav>
                                      </p:tavLst>
                                    </p:anim>
                                    <p:anim calcmode="lin" valueType="num">
                                      <p:cBhvr>
                                        <p:cTn id="42" dur="2000" fill="hold"/>
                                        <p:tgtEl>
                                          <p:spTgt spid="40"/>
                                        </p:tgtEl>
                                        <p:attrNameLst>
                                          <p:attrName>ppt_h</p:attrName>
                                        </p:attrNameLst>
                                      </p:cBhvr>
                                      <p:tavLst>
                                        <p:tav tm="0">
                                          <p:val>
                                            <p:fltVal val="0"/>
                                          </p:val>
                                        </p:tav>
                                        <p:tav tm="100000">
                                          <p:val>
                                            <p:strVal val="#ppt_h"/>
                                          </p:val>
                                        </p:tav>
                                      </p:tavLst>
                                    </p:anim>
                                    <p:animEffect transition="in" filter="fade">
                                      <p:cBhvr>
                                        <p:cTn id="43" dur="2000"/>
                                        <p:tgtEl>
                                          <p:spTgt spid="40"/>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mph" presetSubtype="0" fill="hold" nodeType="clickEffect">
                                  <p:stCondLst>
                                    <p:cond delay="0"/>
                                  </p:stCondLst>
                                  <p:childTnLst>
                                    <p:animScale>
                                      <p:cBhvr>
                                        <p:cTn id="47" dur="1000" fill="hold"/>
                                        <p:tgtEl>
                                          <p:spTgt spid="2"/>
                                        </p:tgtEl>
                                      </p:cBhvr>
                                      <p:by x="200000" y="200000"/>
                                    </p:animScale>
                                  </p:childTnLst>
                                </p:cTn>
                              </p:par>
                              <p:par>
                                <p:cTn id="48" presetID="10" presetClass="exit" presetSubtype="0" fill="hold" nodeType="withEffect">
                                  <p:stCondLst>
                                    <p:cond delay="0"/>
                                  </p:stCondLst>
                                  <p:childTnLst>
                                    <p:animEffect transition="out" filter="fade">
                                      <p:cBhvr>
                                        <p:cTn id="49" dur="500"/>
                                        <p:tgtEl>
                                          <p:spTgt spid="40"/>
                                        </p:tgtEl>
                                      </p:cBhvr>
                                    </p:animEffect>
                                    <p:set>
                                      <p:cBhvr>
                                        <p:cTn id="50" dur="1" fill="hold">
                                          <p:stCondLst>
                                            <p:cond delay="499"/>
                                          </p:stCondLst>
                                        </p:cTn>
                                        <p:tgtEl>
                                          <p:spTgt spid="4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6" presetClass="emph" presetSubtype="0" fill="hold" nodeType="clickEffect">
                                  <p:stCondLst>
                                    <p:cond delay="0"/>
                                  </p:stCondLst>
                                  <p:childTnLst>
                                    <p:animScale>
                                      <p:cBhvr>
                                        <p:cTn id="54" dur="2000" fill="hold"/>
                                        <p:tgtEl>
                                          <p:spTgt spid="2"/>
                                        </p:tgtEl>
                                      </p:cBhvr>
                                      <p:by x="50000" y="50000"/>
                                    </p:animScale>
                                  </p:childTnLst>
                                </p:cTn>
                              </p:par>
                              <p:par>
                                <p:cTn id="55" presetID="53" presetClass="entr" presetSubtype="16" fill="hold"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p:cTn id="57" dur="2000" fill="hold"/>
                                        <p:tgtEl>
                                          <p:spTgt spid="18"/>
                                        </p:tgtEl>
                                        <p:attrNameLst>
                                          <p:attrName>ppt_w</p:attrName>
                                        </p:attrNameLst>
                                      </p:cBhvr>
                                      <p:tavLst>
                                        <p:tav tm="0">
                                          <p:val>
                                            <p:fltVal val="0"/>
                                          </p:val>
                                        </p:tav>
                                        <p:tav tm="100000">
                                          <p:val>
                                            <p:strVal val="#ppt_w"/>
                                          </p:val>
                                        </p:tav>
                                      </p:tavLst>
                                    </p:anim>
                                    <p:anim calcmode="lin" valueType="num">
                                      <p:cBhvr>
                                        <p:cTn id="58" dur="2000" fill="hold"/>
                                        <p:tgtEl>
                                          <p:spTgt spid="18"/>
                                        </p:tgtEl>
                                        <p:attrNameLst>
                                          <p:attrName>ppt_h</p:attrName>
                                        </p:attrNameLst>
                                      </p:cBhvr>
                                      <p:tavLst>
                                        <p:tav tm="0">
                                          <p:val>
                                            <p:fltVal val="0"/>
                                          </p:val>
                                        </p:tav>
                                        <p:tav tm="100000">
                                          <p:val>
                                            <p:strVal val="#ppt_h"/>
                                          </p:val>
                                        </p:tav>
                                      </p:tavLst>
                                    </p:anim>
                                    <p:animEffect transition="in" filter="fade">
                                      <p:cBhvr>
                                        <p:cTn id="59" dur="20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6" presetClass="emph" presetSubtype="0" fill="hold" nodeType="clickEffect">
                                  <p:stCondLst>
                                    <p:cond delay="0"/>
                                  </p:stCondLst>
                                  <p:childTnLst>
                                    <p:animScale>
                                      <p:cBhvr>
                                        <p:cTn id="63" dur="1000" fill="hold"/>
                                        <p:tgtEl>
                                          <p:spTgt spid="2"/>
                                        </p:tgtEl>
                                      </p:cBhvr>
                                      <p:by x="200000" y="200000"/>
                                    </p:animScale>
                                  </p:childTnLst>
                                </p:cTn>
                              </p:par>
                              <p:par>
                                <p:cTn id="64" presetID="10" presetClass="exit" presetSubtype="0" fill="hold" nodeType="withEffect">
                                  <p:stCondLst>
                                    <p:cond delay="0"/>
                                  </p:stCondLst>
                                  <p:childTnLst>
                                    <p:animEffect transition="out" filter="fade">
                                      <p:cBhvr>
                                        <p:cTn id="65" dur="500"/>
                                        <p:tgtEl>
                                          <p:spTgt spid="18"/>
                                        </p:tgtEl>
                                      </p:cBhvr>
                                    </p:animEffect>
                                    <p:set>
                                      <p:cBhvr>
                                        <p:cTn id="66"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Shape 221"/>
          <p:cNvSpPr txBox="1">
            <a:spLocks noGrp="1"/>
          </p:cNvSpPr>
          <p:nvPr>
            <p:ph type="ctrTitle"/>
          </p:nvPr>
        </p:nvSpPr>
        <p:spPr>
          <a:xfrm>
            <a:off x="882438" y="3967899"/>
            <a:ext cx="5459200" cy="1546400"/>
          </a:xfrm>
          <a:prstGeom prst="rect">
            <a:avLst/>
          </a:prstGeom>
        </p:spPr>
        <p:txBody>
          <a:bodyPr lIns="121900" tIns="121900" rIns="121900" bIns="121900" anchor="b" anchorCtr="0">
            <a:noAutofit/>
          </a:bodyPr>
          <a:lstStyle/>
          <a:p>
            <a:pPr marL="342900" indent="-342900">
              <a:buClr>
                <a:srgbClr val="FF9800"/>
              </a:buClr>
            </a:pPr>
            <a:r>
              <a:rPr lang="fr-FR" dirty="0"/>
              <a:t>Evaluation and Results</a:t>
            </a:r>
          </a:p>
        </p:txBody>
      </p:sp>
      <p:sp>
        <p:nvSpPr>
          <p:cNvPr id="222" name="Shape 222"/>
          <p:cNvSpPr txBox="1">
            <a:spLocks noGrp="1"/>
          </p:cNvSpPr>
          <p:nvPr>
            <p:ph type="subTitle" idx="1"/>
          </p:nvPr>
        </p:nvSpPr>
        <p:spPr>
          <a:xfrm>
            <a:off x="618033" y="5300597"/>
            <a:ext cx="5459200" cy="1046400"/>
          </a:xfrm>
          <a:prstGeom prst="rect">
            <a:avLst/>
          </a:prstGeom>
        </p:spPr>
        <p:txBody>
          <a:bodyPr lIns="121900" tIns="121900" rIns="121900" bIns="121900" anchor="t" anchorCtr="0">
            <a:noAutofit/>
          </a:bodyPr>
          <a:lstStyle/>
          <a:p>
            <a:endParaRPr lang="en" dirty="0"/>
          </a:p>
        </p:txBody>
      </p:sp>
      <p:sp>
        <p:nvSpPr>
          <p:cNvPr id="223" name="Shape 223"/>
          <p:cNvSpPr txBox="1">
            <a:spLocks noGrp="1"/>
          </p:cNvSpPr>
          <p:nvPr>
            <p:ph type="sldNum" idx="12"/>
          </p:nvPr>
        </p:nvSpPr>
        <p:spPr>
          <a:xfrm>
            <a:off x="10157333" y="6182000"/>
            <a:ext cx="1983200" cy="420800"/>
          </a:xfrm>
          <a:prstGeom prst="rect">
            <a:avLst/>
          </a:prstGeom>
          <a:noFill/>
          <a:ln>
            <a:noFill/>
          </a:ln>
        </p:spPr>
        <p:txBody>
          <a:bodyPr lIns="91425" tIns="91425" rIns="91425" bIns="91425" anchor="ctr" anchorCtr="0">
            <a:noAutofit/>
          </a:bodyPr>
          <a:lstStyle/>
          <a:p>
            <a:fld id="{00000000-1234-1234-1234-123412341234}" type="slidenum">
              <a:rPr lang="en" sz="1800" smtClean="0">
                <a:solidFill>
                  <a:srgbClr val="3F5378"/>
                </a:solidFill>
                <a:latin typeface="Roboto Condensed" panose="020B0604020202020204"/>
              </a:rPr>
              <a:pPr/>
              <a:t>19</a:t>
            </a:fld>
            <a:endParaRPr lang="en" sz="1800">
              <a:solidFill>
                <a:srgbClr val="3F5378"/>
              </a:solidFill>
              <a:latin typeface="Roboto Condensed" panose="020B0604020202020204"/>
            </a:endParaRPr>
          </a:p>
        </p:txBody>
      </p:sp>
      <p:sp>
        <p:nvSpPr>
          <p:cNvPr id="224" name="Shape 224"/>
          <p:cNvSpPr txBox="1"/>
          <p:nvPr/>
        </p:nvSpPr>
        <p:spPr>
          <a:xfrm>
            <a:off x="618033" y="0"/>
            <a:ext cx="2908800" cy="4181600"/>
          </a:xfrm>
          <a:prstGeom prst="rect">
            <a:avLst/>
          </a:prstGeom>
          <a:noFill/>
          <a:ln>
            <a:noFill/>
          </a:ln>
        </p:spPr>
        <p:txBody>
          <a:bodyPr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4</a:t>
            </a:r>
          </a:p>
        </p:txBody>
      </p:sp>
    </p:spTree>
    <p:extLst>
      <p:ext uri="{BB962C8B-B14F-4D97-AF65-F5344CB8AC3E}">
        <p14:creationId xmlns:p14="http://schemas.microsoft.com/office/powerpoint/2010/main" val="31173503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p:txBody>
          <a:bodyPr/>
          <a:lstStyle/>
          <a:p>
            <a:r>
              <a:rPr lang="fr-FR" sz="2700" dirty="0"/>
              <a:t>Evaluation and </a:t>
            </a:r>
            <a:r>
              <a:rPr lang="fr-FR" sz="2700" dirty="0" err="1"/>
              <a:t>Results</a:t>
            </a:r>
            <a:endParaRPr lang="fr-FR" sz="2700"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20</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18" name="titre_Understanding EMG Signals"/>
          <p:cNvSpPr txBox="1">
            <a:spLocks/>
          </p:cNvSpPr>
          <p:nvPr/>
        </p:nvSpPr>
        <p:spPr>
          <a:xfrm>
            <a:off x="766371" y="1783066"/>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r>
              <a:rPr lang="en-GB" sz="2800" dirty="0">
                <a:solidFill>
                  <a:srgbClr val="FF9800"/>
                </a:solidFill>
              </a:rPr>
              <a:t>Evaluation Metrics for Model Performance</a:t>
            </a:r>
            <a:endParaRPr lang="en" sz="2800" dirty="0">
              <a:solidFill>
                <a:srgbClr val="FF9800"/>
              </a:solidFill>
            </a:endParaRPr>
          </a:p>
        </p:txBody>
      </p:sp>
      <p:sp>
        <p:nvSpPr>
          <p:cNvPr id="19" name="CM"/>
          <p:cNvSpPr txBox="1">
            <a:spLocks/>
          </p:cNvSpPr>
          <p:nvPr/>
        </p:nvSpPr>
        <p:spPr>
          <a:xfrm>
            <a:off x="457349" y="2601000"/>
            <a:ext cx="10886154" cy="2984254"/>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457200" indent="-457200">
              <a:spcAft>
                <a:spcPts val="1400"/>
              </a:spcAft>
              <a:buClr>
                <a:srgbClr val="FF9800"/>
              </a:buClr>
              <a:buFont typeface="+mj-lt"/>
              <a:buAutoNum type="arabicPeriod"/>
            </a:pPr>
            <a:endParaRPr lang="en-GB" sz="1600" b="1" dirty="0"/>
          </a:p>
          <a:p>
            <a:pPr marL="457200" indent="-457200">
              <a:spcAft>
                <a:spcPts val="1400"/>
              </a:spcAft>
              <a:buClr>
                <a:srgbClr val="FF9800"/>
              </a:buClr>
              <a:buFont typeface="+mj-lt"/>
              <a:buAutoNum type="arabicPeriod"/>
            </a:pPr>
            <a:endParaRPr lang="en-GB" sz="1600" b="1" dirty="0"/>
          </a:p>
          <a:p>
            <a:pPr marL="457200" indent="-457200">
              <a:spcAft>
                <a:spcPts val="1400"/>
              </a:spcAft>
              <a:buClr>
                <a:srgbClr val="FF9800"/>
              </a:buClr>
              <a:buFont typeface="+mj-lt"/>
              <a:buAutoNum type="arabicPeriod"/>
            </a:pPr>
            <a:endParaRPr lang="en-GB" sz="1600" b="1" dirty="0"/>
          </a:p>
          <a:p>
            <a:pPr>
              <a:spcAft>
                <a:spcPts val="1400"/>
              </a:spcAft>
              <a:buClr>
                <a:srgbClr val="FF9800"/>
              </a:buClr>
              <a:buNone/>
            </a:pPr>
            <a:endParaRPr lang="en-GB" sz="1600" b="1" dirty="0"/>
          </a:p>
          <a:p>
            <a:pPr>
              <a:spcAft>
                <a:spcPts val="1400"/>
              </a:spcAft>
              <a:buClr>
                <a:srgbClr val="FF9800"/>
              </a:buClr>
              <a:buNone/>
            </a:pPr>
            <a:endParaRPr lang="en-GB" sz="1600" b="1" dirty="0"/>
          </a:p>
          <a:p>
            <a:pPr marL="457200" indent="-457200">
              <a:spcAft>
                <a:spcPts val="1400"/>
              </a:spcAft>
              <a:buClr>
                <a:srgbClr val="FF9800"/>
              </a:buClr>
              <a:buFont typeface="+mj-lt"/>
              <a:buAutoNum type="arabicPeriod"/>
            </a:pPr>
            <a:endParaRPr lang="en-GB" sz="1600" b="1" dirty="0"/>
          </a:p>
          <a:p>
            <a:pPr marL="457200" indent="-457200">
              <a:spcAft>
                <a:spcPts val="1400"/>
              </a:spcAft>
              <a:buClr>
                <a:srgbClr val="FF9800"/>
              </a:buClr>
              <a:buFont typeface="+mj-lt"/>
              <a:buAutoNum type="arabicPeriod"/>
            </a:pPr>
            <a:endParaRPr lang="en-GB" sz="1600" b="1" dirty="0"/>
          </a:p>
          <a:p>
            <a:pPr marL="457200" indent="-457200">
              <a:spcAft>
                <a:spcPts val="1400"/>
              </a:spcAft>
              <a:buClr>
                <a:srgbClr val="FF9800"/>
              </a:buClr>
              <a:buFont typeface="+mj-lt"/>
              <a:buAutoNum type="arabicPeriod"/>
            </a:pPr>
            <a:r>
              <a:rPr lang="en-GB" sz="2200" b="1" dirty="0"/>
              <a:t>Overall Accuracy (ACC): </a:t>
            </a:r>
            <a:r>
              <a:rPr lang="en-GB" sz="2200" dirty="0"/>
              <a:t> percentage of correctly classified predictions across entire dataset.</a:t>
            </a:r>
            <a:endParaRPr lang="en-GB" sz="2200" b="1" dirty="0"/>
          </a:p>
          <a:p>
            <a:pPr marL="457200" indent="-457200">
              <a:spcAft>
                <a:spcPts val="1400"/>
              </a:spcAft>
              <a:buClr>
                <a:srgbClr val="FF9800"/>
              </a:buClr>
              <a:buFont typeface="+mj-lt"/>
              <a:buAutoNum type="arabicPeriod"/>
            </a:pPr>
            <a:r>
              <a:rPr lang="en-GB" sz="2200" b="1" dirty="0"/>
              <a:t>Confusion Matrix: </a:t>
            </a:r>
            <a:r>
              <a:rPr lang="en-GB" sz="2200" dirty="0"/>
              <a:t>visual representation of model predictions vs actual classes.</a:t>
            </a:r>
          </a:p>
          <a:p>
            <a:pPr marL="457200" indent="-457200">
              <a:spcAft>
                <a:spcPts val="1400"/>
              </a:spcAft>
              <a:buClr>
                <a:srgbClr val="FF9800"/>
              </a:buClr>
              <a:buFont typeface="+mj-lt"/>
              <a:buAutoNum type="arabicPeriod" startAt="3"/>
            </a:pPr>
            <a:r>
              <a:rPr lang="en-GB" sz="2200" b="1" dirty="0"/>
              <a:t>Matthews Correlation Coefficient (MCC):</a:t>
            </a:r>
            <a:r>
              <a:rPr lang="en-GB" sz="2200" dirty="0"/>
              <a:t> balanced metric for binary classification quality.</a:t>
            </a:r>
          </a:p>
          <a:p>
            <a:pPr marL="342900" indent="-342900">
              <a:spcAft>
                <a:spcPts val="1400"/>
              </a:spcAft>
              <a:buClr>
                <a:srgbClr val="FF9800"/>
              </a:buClr>
              <a:buFont typeface="Wingdings" panose="05000000000000000000" pitchFamily="2" charset="2"/>
              <a:buChar char="§"/>
            </a:pPr>
            <a:r>
              <a:rPr lang="en-GB" sz="2200" dirty="0"/>
              <a:t>Range -1 to +1:</a:t>
            </a:r>
          </a:p>
          <a:p>
            <a:pPr>
              <a:spcAft>
                <a:spcPts val="1400"/>
              </a:spcAft>
              <a:buClr>
                <a:srgbClr val="FF9800"/>
              </a:buClr>
              <a:buNone/>
            </a:pPr>
            <a:r>
              <a:rPr lang="en-GB" sz="2200" dirty="0"/>
              <a:t>	  +1: Perfect classifier</a:t>
            </a:r>
          </a:p>
          <a:p>
            <a:pPr>
              <a:spcAft>
                <a:spcPts val="1400"/>
              </a:spcAft>
              <a:buClr>
                <a:srgbClr val="FF9800"/>
              </a:buClr>
              <a:buNone/>
            </a:pPr>
            <a:r>
              <a:rPr lang="en-GB" sz="2200" dirty="0"/>
              <a:t>	   0: Random performance</a:t>
            </a:r>
          </a:p>
          <a:p>
            <a:pPr>
              <a:spcAft>
                <a:spcPts val="1400"/>
              </a:spcAft>
              <a:buClr>
                <a:srgbClr val="FF9800"/>
              </a:buClr>
              <a:buNone/>
            </a:pPr>
            <a:r>
              <a:rPr lang="en-GB" sz="2200" dirty="0"/>
              <a:t>	  -1: Total disagreement</a:t>
            </a:r>
          </a:p>
          <a:p>
            <a:pPr marL="457200" indent="-457200">
              <a:spcAft>
                <a:spcPts val="1400"/>
              </a:spcAft>
              <a:buClr>
                <a:srgbClr val="FF9800"/>
              </a:buClr>
              <a:buFont typeface="+mj-lt"/>
              <a:buAutoNum type="arabicPeriod"/>
            </a:pPr>
            <a:endParaRPr lang="en-GB" sz="1600" dirty="0"/>
          </a:p>
          <a:p>
            <a:pPr>
              <a:lnSpc>
                <a:spcPct val="150000"/>
              </a:lnSpc>
              <a:spcAft>
                <a:spcPts val="1400"/>
              </a:spcAft>
              <a:buClr>
                <a:srgbClr val="FF9800"/>
              </a:buClr>
              <a:buNone/>
            </a:pPr>
            <a:endParaRPr lang="fr-FR" sz="1600" dirty="0"/>
          </a:p>
          <a:p>
            <a:pPr marL="457200" indent="-457200">
              <a:spcAft>
                <a:spcPts val="1400"/>
              </a:spcAft>
              <a:buClr>
                <a:srgbClr val="FF9800"/>
              </a:buClr>
              <a:buFont typeface="+mj-lt"/>
              <a:buAutoNum type="arabicPeriod" startAt="2"/>
            </a:pPr>
            <a:endParaRPr lang="en-GB" sz="1600" dirty="0"/>
          </a:p>
          <a:p>
            <a:pPr marL="342900" indent="-342900">
              <a:lnSpc>
                <a:spcPct val="150000"/>
              </a:lnSpc>
              <a:spcAft>
                <a:spcPts val="1400"/>
              </a:spcAft>
              <a:buClr>
                <a:srgbClr val="FF9800"/>
              </a:buClr>
            </a:pPr>
            <a:endParaRPr lang="fr-FR" sz="1600" dirty="0"/>
          </a:p>
        </p:txBody>
      </p:sp>
    </p:spTree>
    <p:extLst>
      <p:ext uri="{BB962C8B-B14F-4D97-AF65-F5344CB8AC3E}">
        <p14:creationId xmlns:p14="http://schemas.microsoft.com/office/powerpoint/2010/main" val="38205438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2" name="Rectangle 1"/>
          <p:cNvSpPr/>
          <p:nvPr/>
        </p:nvSpPr>
        <p:spPr>
          <a:xfrm>
            <a:off x="9546336" y="6387306"/>
            <a:ext cx="2645664" cy="391170"/>
          </a:xfrm>
          <a:prstGeom prst="rect">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4" name="Shape 384"/>
          <p:cNvSpPr txBox="1">
            <a:spLocks noGrp="1"/>
          </p:cNvSpPr>
          <p:nvPr>
            <p:ph type="sldNum" idx="12"/>
          </p:nvPr>
        </p:nvSpPr>
        <p:spPr>
          <a:xfrm>
            <a:off x="10208800" y="6401244"/>
            <a:ext cx="1983200" cy="420800"/>
          </a:xfrm>
          <a:prstGeom prst="rect">
            <a:avLst/>
          </a:prstGeom>
          <a:noFill/>
          <a:ln>
            <a:noFill/>
          </a:ln>
        </p:spPr>
        <p:txBody>
          <a:bodyPr lIns="91425" tIns="91425" rIns="91425" bIns="91425" anchor="ctr" anchorCtr="0">
            <a:noAutofit/>
          </a:bodyPr>
          <a:lstStyle/>
          <a:p>
            <a:fld id="{00000000-1234-1234-1234-123412341234}" type="slidenum">
              <a:rPr lang="en" sz="1800" smtClean="0">
                <a:solidFill>
                  <a:srgbClr val="3F5378"/>
                </a:solidFill>
                <a:latin typeface="Roboto Condensed" panose="020B0604020202020204"/>
              </a:rPr>
              <a:pPr/>
              <a:t>21</a:t>
            </a:fld>
            <a:endParaRPr lang="en" sz="1800" dirty="0">
              <a:solidFill>
                <a:srgbClr val="3F5378"/>
              </a:solidFill>
              <a:latin typeface="Roboto Condensed" panose="020B0604020202020204"/>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79899"/>
            <a:ext cx="5987332" cy="5865262"/>
          </a:xfrm>
          <a:prstGeom prst="rect">
            <a:avLst/>
          </a:prstGeom>
          <a:noFill/>
          <a:ln w="9525">
            <a:solidFill>
              <a:schemeClr val="tx1"/>
            </a:solidFill>
          </a:ln>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82748" y="579899"/>
            <a:ext cx="6109252" cy="5865261"/>
          </a:xfrm>
          <a:prstGeom prst="rect">
            <a:avLst/>
          </a:prstGeom>
          <a:ln>
            <a:solidFill>
              <a:srgbClr val="3F5378"/>
            </a:solidFill>
          </a:ln>
        </p:spPr>
      </p:pic>
      <p:sp>
        <p:nvSpPr>
          <p:cNvPr id="22" name="titre_Understanding EMG Signals"/>
          <p:cNvSpPr txBox="1">
            <a:spLocks/>
          </p:cNvSpPr>
          <p:nvPr/>
        </p:nvSpPr>
        <p:spPr>
          <a:xfrm>
            <a:off x="2166141" y="-1"/>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pPr algn="ctr"/>
            <a:r>
              <a:rPr lang="en-GB" sz="2400" dirty="0">
                <a:solidFill>
                  <a:srgbClr val="FF9800"/>
                </a:solidFill>
              </a:rPr>
              <a:t>Effects of the Pre-processing Techniques on the Signal</a:t>
            </a:r>
            <a:endParaRPr lang="en" sz="2400" dirty="0">
              <a:solidFill>
                <a:srgbClr val="FF9800"/>
              </a:solidFill>
            </a:endParaRPr>
          </a:p>
        </p:txBody>
      </p:sp>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13859" y="1435572"/>
            <a:ext cx="8018354" cy="4746428"/>
          </a:xfrm>
          <a:prstGeom prst="rect">
            <a:avLst/>
          </a:prstGeom>
        </p:spPr>
      </p:pic>
      <p:sp>
        <p:nvSpPr>
          <p:cNvPr id="7" name="titre_Understanding EMG Signals"/>
          <p:cNvSpPr txBox="1">
            <a:spLocks/>
          </p:cNvSpPr>
          <p:nvPr/>
        </p:nvSpPr>
        <p:spPr>
          <a:xfrm>
            <a:off x="1491571" y="742321"/>
            <a:ext cx="9295957" cy="69325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pPr algn="ctr"/>
            <a:r>
              <a:rPr lang="en-GB" dirty="0">
                <a:solidFill>
                  <a:srgbClr val="3F5378"/>
                </a:solidFill>
              </a:rPr>
              <a:t>Close-up of Notch Filter Effect </a:t>
            </a:r>
            <a:endParaRPr lang="en" dirty="0">
              <a:solidFill>
                <a:srgbClr val="3F5378"/>
              </a:solidFill>
            </a:endParaRPr>
          </a:p>
        </p:txBody>
      </p:sp>
    </p:spTree>
    <p:extLst>
      <p:ext uri="{BB962C8B-B14F-4D97-AF65-F5344CB8AC3E}">
        <p14:creationId xmlns:p14="http://schemas.microsoft.com/office/powerpoint/2010/main" val="37959955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500"/>
                                        <p:tgtEl>
                                          <p:spTgt spid="12"/>
                                        </p:tgtEl>
                                      </p:cBhvr>
                                    </p:animEffect>
                                    <p:set>
                                      <p:cBhvr>
                                        <p:cTn id="20" dur="1" fill="hold">
                                          <p:stCondLst>
                                            <p:cond delay="499"/>
                                          </p:stCondLst>
                                        </p:cTn>
                                        <p:tgtEl>
                                          <p:spTgt spid="12"/>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p:txBody>
          <a:bodyPr/>
          <a:lstStyle/>
          <a:p>
            <a:r>
              <a:rPr lang="fr-FR" sz="2700" dirty="0"/>
              <a:t>Evaluation and </a:t>
            </a:r>
            <a:r>
              <a:rPr lang="fr-FR" sz="2700" dirty="0" err="1"/>
              <a:t>Results</a:t>
            </a:r>
            <a:endParaRPr lang="fr-FR" sz="2700"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22</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a:solidFill>
            <a:srgbClr val="FC9702"/>
          </a:solidFill>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grp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grp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grp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grp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grp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grp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grp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18" name="titre_Understanding EMG Signals"/>
          <p:cNvSpPr txBox="1">
            <a:spLocks/>
          </p:cNvSpPr>
          <p:nvPr/>
        </p:nvSpPr>
        <p:spPr>
          <a:xfrm>
            <a:off x="766371" y="1716397"/>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r>
              <a:rPr lang="en-GB" dirty="0">
                <a:solidFill>
                  <a:srgbClr val="FF9800"/>
                </a:solidFill>
              </a:rPr>
              <a:t>Model Performance and Impact of the Pre-processing Techniques</a:t>
            </a:r>
            <a:endParaRPr lang="en" dirty="0">
              <a:solidFill>
                <a:srgbClr val="FF9800"/>
              </a:solidFill>
            </a:endParaRPr>
          </a:p>
        </p:txBody>
      </p:sp>
      <p:sp>
        <p:nvSpPr>
          <p:cNvPr id="17" name="CM"/>
          <p:cNvSpPr txBox="1">
            <a:spLocks/>
          </p:cNvSpPr>
          <p:nvPr/>
        </p:nvSpPr>
        <p:spPr>
          <a:xfrm>
            <a:off x="7660989" y="2602069"/>
            <a:ext cx="4005926" cy="2992761"/>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342900" indent="-342900">
              <a:lnSpc>
                <a:spcPct val="150000"/>
              </a:lnSpc>
              <a:spcAft>
                <a:spcPts val="1400"/>
              </a:spcAft>
              <a:buClr>
                <a:srgbClr val="FF9800"/>
              </a:buClr>
            </a:pPr>
            <a:r>
              <a:rPr lang="en-GB" sz="1800" b="1" dirty="0"/>
              <a:t>Model Behaviour on Raw Data:</a:t>
            </a:r>
          </a:p>
          <a:p>
            <a:pPr marL="342900" lvl="1" indent="-342900">
              <a:lnSpc>
                <a:spcPct val="150000"/>
              </a:lnSpc>
              <a:spcAft>
                <a:spcPts val="1400"/>
              </a:spcAft>
              <a:buClr>
                <a:srgbClr val="FF9800"/>
              </a:buClr>
            </a:pPr>
            <a:r>
              <a:rPr lang="en-GB" sz="1800" dirty="0"/>
              <a:t>Test vs. train accuracy nearly identical (12.26 % vs. 12.91 %)</a:t>
            </a:r>
          </a:p>
          <a:p>
            <a:pPr marL="342900" lvl="1" indent="-342900">
              <a:lnSpc>
                <a:spcPct val="150000"/>
              </a:lnSpc>
              <a:spcAft>
                <a:spcPts val="1400"/>
              </a:spcAft>
              <a:buClr>
                <a:srgbClr val="FF9800"/>
              </a:buClr>
            </a:pPr>
            <a:r>
              <a:rPr lang="en-GB" sz="1800" dirty="0"/>
              <a:t> Indicates inability to learn.</a:t>
            </a:r>
          </a:p>
          <a:p>
            <a:pPr marL="342900" lvl="1" indent="-342900">
              <a:lnSpc>
                <a:spcPct val="150000"/>
              </a:lnSpc>
              <a:spcAft>
                <a:spcPts val="1400"/>
              </a:spcAft>
              <a:buClr>
                <a:srgbClr val="FF9800"/>
              </a:buClr>
            </a:pPr>
            <a:r>
              <a:rPr lang="en-GB" sz="1800" dirty="0"/>
              <a:t> MCC ≈ 0 (0.0504) confirms mostly random predictions.</a:t>
            </a:r>
            <a:endParaRPr lang="fr-FR" sz="1800" dirty="0"/>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18" y="2209835"/>
            <a:ext cx="7092027" cy="4648165"/>
          </a:xfrm>
          <a:prstGeom prst="rect">
            <a:avLst/>
          </a:prstGeom>
        </p:spPr>
      </p:pic>
      <p:graphicFrame>
        <p:nvGraphicFramePr>
          <p:cNvPr id="19" name="Table 18"/>
          <p:cNvGraphicFramePr>
            <a:graphicFrameLocks noGrp="1"/>
          </p:cNvGraphicFramePr>
          <p:nvPr>
            <p:extLst>
              <p:ext uri="{D42A27DB-BD31-4B8C-83A1-F6EECF244321}">
                <p14:modId xmlns:p14="http://schemas.microsoft.com/office/powerpoint/2010/main" val="2282990804"/>
              </p:ext>
            </p:extLst>
          </p:nvPr>
        </p:nvGraphicFramePr>
        <p:xfrm>
          <a:off x="7230413" y="3241251"/>
          <a:ext cx="4867079" cy="1883713"/>
        </p:xfrm>
        <a:graphic>
          <a:graphicData uri="http://schemas.openxmlformats.org/drawingml/2006/table">
            <a:tbl>
              <a:tblPr firstRow="1" bandRow="1">
                <a:tableStyleId>{5C22544A-7EE6-4342-B048-85BDC9FD1C3A}</a:tableStyleId>
              </a:tblPr>
              <a:tblGrid>
                <a:gridCol w="1926171">
                  <a:extLst>
                    <a:ext uri="{9D8B030D-6E8A-4147-A177-3AD203B41FA5}">
                      <a16:colId xmlns:a16="http://schemas.microsoft.com/office/drawing/2014/main" val="20000"/>
                    </a:ext>
                  </a:extLst>
                </a:gridCol>
                <a:gridCol w="1198606">
                  <a:extLst>
                    <a:ext uri="{9D8B030D-6E8A-4147-A177-3AD203B41FA5}">
                      <a16:colId xmlns:a16="http://schemas.microsoft.com/office/drawing/2014/main" val="20001"/>
                    </a:ext>
                  </a:extLst>
                </a:gridCol>
                <a:gridCol w="838518">
                  <a:extLst>
                    <a:ext uri="{9D8B030D-6E8A-4147-A177-3AD203B41FA5}">
                      <a16:colId xmlns:a16="http://schemas.microsoft.com/office/drawing/2014/main" val="20002"/>
                    </a:ext>
                  </a:extLst>
                </a:gridCol>
                <a:gridCol w="903784">
                  <a:extLst>
                    <a:ext uri="{9D8B030D-6E8A-4147-A177-3AD203B41FA5}">
                      <a16:colId xmlns:a16="http://schemas.microsoft.com/office/drawing/2014/main" val="20003"/>
                    </a:ext>
                  </a:extLst>
                </a:gridCol>
              </a:tblGrid>
              <a:tr h="622828">
                <a:tc>
                  <a:txBody>
                    <a:bodyPr/>
                    <a:lstStyle/>
                    <a:p>
                      <a:pPr algn="ctr"/>
                      <a:r>
                        <a:rPr lang="en-GB" sz="1550" b="1" dirty="0"/>
                        <a:t>Metric</a:t>
                      </a:r>
                      <a:r>
                        <a:rPr lang="en-GB" sz="1550" dirty="0"/>
                        <a:t> </a:t>
                      </a:r>
                    </a:p>
                  </a:txBody>
                  <a:tcPr>
                    <a:solidFill>
                      <a:srgbClr val="3F5378"/>
                    </a:solidFill>
                  </a:tcPr>
                </a:tc>
                <a:tc>
                  <a:txBody>
                    <a:bodyPr/>
                    <a:lstStyle/>
                    <a:p>
                      <a:pPr algn="ctr"/>
                      <a:r>
                        <a:rPr lang="en-GB" sz="1550" dirty="0"/>
                        <a:t>Pre-processed</a:t>
                      </a:r>
                    </a:p>
                  </a:txBody>
                  <a:tcPr>
                    <a:solidFill>
                      <a:srgbClr val="3F5378"/>
                    </a:solidFill>
                  </a:tcPr>
                </a:tc>
                <a:tc>
                  <a:txBody>
                    <a:bodyPr/>
                    <a:lstStyle/>
                    <a:p>
                      <a:pPr algn="ctr"/>
                      <a:r>
                        <a:rPr lang="en-GB" sz="1550" dirty="0"/>
                        <a:t>Raw</a:t>
                      </a:r>
                    </a:p>
                  </a:txBody>
                  <a:tcPr>
                    <a:solidFill>
                      <a:srgbClr val="3F5378"/>
                    </a:solidFill>
                  </a:tcPr>
                </a:tc>
                <a:tc>
                  <a:txBody>
                    <a:bodyPr/>
                    <a:lstStyle/>
                    <a:p>
                      <a:pPr algn="ctr"/>
                      <a:r>
                        <a:rPr lang="en-GB" sz="1550" dirty="0"/>
                        <a:t>Gain</a:t>
                      </a:r>
                    </a:p>
                  </a:txBody>
                  <a:tcPr>
                    <a:solidFill>
                      <a:srgbClr val="3F5378"/>
                    </a:solidFill>
                  </a:tcPr>
                </a:tc>
                <a:extLst>
                  <a:ext uri="{0D108BD9-81ED-4DB2-BD59-A6C34878D82A}">
                    <a16:rowId xmlns:a16="http://schemas.microsoft.com/office/drawing/2014/main" val="10000"/>
                  </a:ext>
                </a:extLst>
              </a:tr>
              <a:tr h="420295">
                <a:tc>
                  <a:txBody>
                    <a:bodyPr/>
                    <a:lstStyle/>
                    <a:p>
                      <a:r>
                        <a:rPr lang="en-GB" sz="1550" b="1" dirty="0">
                          <a:solidFill>
                            <a:schemeClr val="bg1"/>
                          </a:solidFill>
                        </a:rPr>
                        <a:t>Avg.Test Acc. (%)</a:t>
                      </a:r>
                    </a:p>
                  </a:txBody>
                  <a:tcPr>
                    <a:solidFill>
                      <a:srgbClr val="3F5378"/>
                    </a:solidFill>
                  </a:tcPr>
                </a:tc>
                <a:tc>
                  <a:txBody>
                    <a:bodyPr/>
                    <a:lstStyle/>
                    <a:p>
                      <a:pPr algn="ctr"/>
                      <a:r>
                        <a:rPr lang="en-GB" sz="1550" b="1" dirty="0"/>
                        <a:t>82.98</a:t>
                      </a:r>
                    </a:p>
                  </a:txBody>
                  <a:tcPr/>
                </a:tc>
                <a:tc>
                  <a:txBody>
                    <a:bodyPr/>
                    <a:lstStyle/>
                    <a:p>
                      <a:pPr algn="ctr"/>
                      <a:r>
                        <a:rPr lang="en-GB" sz="1550" dirty="0"/>
                        <a:t>12.26</a:t>
                      </a:r>
                      <a:endParaRPr lang="en-GB" sz="1550" b="0" dirty="0"/>
                    </a:p>
                  </a:txBody>
                  <a:tcPr/>
                </a:tc>
                <a:tc>
                  <a:txBody>
                    <a:bodyPr/>
                    <a:lstStyle/>
                    <a:p>
                      <a:pPr algn="ctr"/>
                      <a:r>
                        <a:rPr lang="en-GB" sz="1550" dirty="0"/>
                        <a:t>+70.72</a:t>
                      </a:r>
                      <a:endParaRPr lang="en-GB" sz="1550" b="0" dirty="0"/>
                    </a:p>
                  </a:txBody>
                  <a:tcPr/>
                </a:tc>
                <a:extLst>
                  <a:ext uri="{0D108BD9-81ED-4DB2-BD59-A6C34878D82A}">
                    <a16:rowId xmlns:a16="http://schemas.microsoft.com/office/drawing/2014/main" val="10001"/>
                  </a:ext>
                </a:extLst>
              </a:tr>
              <a:tr h="420295">
                <a:tc>
                  <a:txBody>
                    <a:bodyPr/>
                    <a:lstStyle/>
                    <a:p>
                      <a:r>
                        <a:rPr lang="en-GB" sz="1550" b="1" dirty="0">
                          <a:solidFill>
                            <a:schemeClr val="bg1"/>
                          </a:solidFill>
                        </a:rPr>
                        <a:t>Avg.Train Acc. (%)</a:t>
                      </a:r>
                    </a:p>
                  </a:txBody>
                  <a:tcPr>
                    <a:solidFill>
                      <a:srgbClr val="3F5378"/>
                    </a:solidFill>
                  </a:tcPr>
                </a:tc>
                <a:tc>
                  <a:txBody>
                    <a:bodyPr/>
                    <a:lstStyle/>
                    <a:p>
                      <a:pPr algn="ctr"/>
                      <a:r>
                        <a:rPr lang="en-GB" sz="1550" b="1" dirty="0"/>
                        <a:t>95.74</a:t>
                      </a:r>
                      <a:r>
                        <a:rPr lang="en-GB" sz="1550" dirty="0"/>
                        <a:t> </a:t>
                      </a:r>
                      <a:endParaRPr lang="en-GB" sz="1550" b="0" dirty="0"/>
                    </a:p>
                  </a:txBody>
                  <a:tcPr/>
                </a:tc>
                <a:tc>
                  <a:txBody>
                    <a:bodyPr/>
                    <a:lstStyle/>
                    <a:p>
                      <a:pPr algn="ctr"/>
                      <a:r>
                        <a:rPr lang="en-GB" sz="1550" dirty="0"/>
                        <a:t>12.91</a:t>
                      </a:r>
                      <a:endParaRPr lang="en-GB" sz="1550" b="0" dirty="0"/>
                    </a:p>
                  </a:txBody>
                  <a:tcPr/>
                </a:tc>
                <a:tc>
                  <a:txBody>
                    <a:bodyPr/>
                    <a:lstStyle/>
                    <a:p>
                      <a:pPr algn="ctr"/>
                      <a:r>
                        <a:rPr lang="en-GB" sz="1550" dirty="0"/>
                        <a:t>+82.83</a:t>
                      </a:r>
                      <a:endParaRPr lang="en-GB" sz="1550" b="0" dirty="0"/>
                    </a:p>
                  </a:txBody>
                  <a:tcPr/>
                </a:tc>
                <a:extLst>
                  <a:ext uri="{0D108BD9-81ED-4DB2-BD59-A6C34878D82A}">
                    <a16:rowId xmlns:a16="http://schemas.microsoft.com/office/drawing/2014/main" val="10002"/>
                  </a:ext>
                </a:extLst>
              </a:tr>
              <a:tr h="420295">
                <a:tc>
                  <a:txBody>
                    <a:bodyPr/>
                    <a:lstStyle/>
                    <a:p>
                      <a:r>
                        <a:rPr lang="en-GB" sz="1550" b="1" dirty="0">
                          <a:solidFill>
                            <a:schemeClr val="bg1"/>
                          </a:solidFill>
                        </a:rPr>
                        <a:t>Avg. MCC </a:t>
                      </a:r>
                    </a:p>
                  </a:txBody>
                  <a:tcPr>
                    <a:solidFill>
                      <a:srgbClr val="3F5378"/>
                    </a:solidFill>
                  </a:tcPr>
                </a:tc>
                <a:tc>
                  <a:txBody>
                    <a:bodyPr/>
                    <a:lstStyle/>
                    <a:p>
                      <a:pPr algn="ctr"/>
                      <a:r>
                        <a:rPr lang="en-GB" sz="1550" b="1" dirty="0"/>
                        <a:t>0.8178</a:t>
                      </a:r>
                    </a:p>
                  </a:txBody>
                  <a:tcPr/>
                </a:tc>
                <a:tc>
                  <a:txBody>
                    <a:bodyPr/>
                    <a:lstStyle/>
                    <a:p>
                      <a:pPr algn="ctr"/>
                      <a:r>
                        <a:rPr lang="en-GB" sz="1550" dirty="0"/>
                        <a:t>0.0504</a:t>
                      </a:r>
                      <a:endParaRPr lang="en-GB" sz="1550" b="1" dirty="0"/>
                    </a:p>
                  </a:txBody>
                  <a:tcPr/>
                </a:tc>
                <a:tc>
                  <a:txBody>
                    <a:bodyPr/>
                    <a:lstStyle/>
                    <a:p>
                      <a:pPr algn="ctr"/>
                      <a:r>
                        <a:rPr lang="en-GB" sz="1550" dirty="0"/>
                        <a:t>+0.7674</a:t>
                      </a:r>
                      <a:endParaRPr lang="en-GB" sz="1550" b="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132433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19"/>
                                        </p:tgtEl>
                                      </p:cBhvr>
                                    </p:animEffect>
                                    <p:set>
                                      <p:cBhvr>
                                        <p:cTn id="15" dur="1" fill="hold">
                                          <p:stCondLst>
                                            <p:cond delay="499"/>
                                          </p:stCondLst>
                                        </p:cTn>
                                        <p:tgtEl>
                                          <p:spTgt spid="19"/>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p:txBody>
          <a:bodyPr/>
          <a:lstStyle/>
          <a:p>
            <a:r>
              <a:rPr lang="fr-FR" sz="2700" dirty="0"/>
              <a:t>Evaluation and </a:t>
            </a:r>
            <a:r>
              <a:rPr lang="fr-FR" sz="2700" dirty="0" err="1"/>
              <a:t>Results</a:t>
            </a:r>
            <a:endParaRPr lang="fr-FR" sz="2700"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23</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14" name="CM"/>
          <p:cNvSpPr txBox="1">
            <a:spLocks/>
          </p:cNvSpPr>
          <p:nvPr/>
        </p:nvSpPr>
        <p:spPr>
          <a:xfrm>
            <a:off x="7836257" y="2818827"/>
            <a:ext cx="4244087" cy="2436256"/>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342900" indent="-342900">
              <a:spcAft>
                <a:spcPts val="1400"/>
              </a:spcAft>
              <a:buClr>
                <a:srgbClr val="FF9800"/>
              </a:buClr>
            </a:pPr>
            <a:r>
              <a:rPr lang="en-GB" sz="1600" b="1" dirty="0"/>
              <a:t>Epochs tuning: </a:t>
            </a:r>
            <a:r>
              <a:rPr lang="en-GB" sz="1600" dirty="0"/>
              <a:t>79.78 % test accuracy with default settings.</a:t>
            </a:r>
          </a:p>
          <a:p>
            <a:pPr marL="342900" indent="-342900">
              <a:spcAft>
                <a:spcPts val="1400"/>
              </a:spcAft>
              <a:buClr>
                <a:srgbClr val="FF9800"/>
              </a:buClr>
            </a:pPr>
            <a:r>
              <a:rPr lang="en-GB" sz="1600" b="1" dirty="0"/>
              <a:t>LR &amp; Batch Size tuning: </a:t>
            </a:r>
            <a:r>
              <a:rPr lang="en-GB" sz="1600" dirty="0"/>
              <a:t>Jump to 82.21 % (+2.43 %)</a:t>
            </a:r>
          </a:p>
          <a:p>
            <a:pPr marL="342900" indent="-342900">
              <a:spcAft>
                <a:spcPts val="1400"/>
              </a:spcAft>
              <a:buClr>
                <a:srgbClr val="FF9800"/>
              </a:buClr>
            </a:pPr>
            <a:r>
              <a:rPr lang="en-GB" sz="1600" b="1" dirty="0"/>
              <a:t>Attention heads/size: </a:t>
            </a:r>
            <a:r>
              <a:rPr lang="en-GB" sz="1600" dirty="0"/>
              <a:t>Further to 82.50% (+0.29 %)</a:t>
            </a:r>
          </a:p>
          <a:p>
            <a:pPr marL="342900" indent="-342900">
              <a:spcAft>
                <a:spcPts val="1400"/>
              </a:spcAft>
              <a:buClr>
                <a:srgbClr val="FF9800"/>
              </a:buClr>
            </a:pPr>
            <a:r>
              <a:rPr lang="en-GB" sz="1600" b="1" dirty="0"/>
              <a:t>MLP/FF dimensions: </a:t>
            </a:r>
            <a:r>
              <a:rPr lang="en-GB" sz="1600" dirty="0"/>
              <a:t>Up to 82.70 % (+0.20 %)</a:t>
            </a:r>
          </a:p>
          <a:p>
            <a:pPr marL="342900" indent="-342900">
              <a:spcAft>
                <a:spcPts val="1400"/>
              </a:spcAft>
              <a:buClr>
                <a:srgbClr val="FF9800"/>
              </a:buClr>
            </a:pPr>
            <a:r>
              <a:rPr lang="en-GB" sz="1600" b="1" dirty="0"/>
              <a:t>Dropout adjustment: </a:t>
            </a:r>
            <a:r>
              <a:rPr lang="en-GB" sz="1600" dirty="0"/>
              <a:t>Peaks at 82.98 % (+0.28%)</a:t>
            </a:r>
            <a:endParaRPr lang="fr-FR" sz="1600" dirty="0"/>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265" y="2362232"/>
            <a:ext cx="7437715" cy="4437060"/>
          </a:xfrm>
          <a:prstGeom prst="rect">
            <a:avLst/>
          </a:prstGeom>
        </p:spPr>
      </p:pic>
      <p:sp>
        <p:nvSpPr>
          <p:cNvPr id="16" name="titre_Understanding EMG Signals"/>
          <p:cNvSpPr txBox="1">
            <a:spLocks/>
          </p:cNvSpPr>
          <p:nvPr/>
        </p:nvSpPr>
        <p:spPr>
          <a:xfrm>
            <a:off x="774408" y="1749490"/>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r>
              <a:rPr lang="en-GB" sz="2200" dirty="0">
                <a:solidFill>
                  <a:srgbClr val="FF9800"/>
                </a:solidFill>
              </a:rPr>
              <a:t>Model Hyperparameter Tuning</a:t>
            </a:r>
          </a:p>
        </p:txBody>
      </p:sp>
    </p:spTree>
    <p:extLst>
      <p:ext uri="{BB962C8B-B14F-4D97-AF65-F5344CB8AC3E}">
        <p14:creationId xmlns:p14="http://schemas.microsoft.com/office/powerpoint/2010/main" val="3076312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84" name="Shape 384"/>
          <p:cNvSpPr txBox="1">
            <a:spLocks noGrp="1"/>
          </p:cNvSpPr>
          <p:nvPr>
            <p:ph type="sldNum" idx="12"/>
          </p:nvPr>
        </p:nvSpPr>
        <p:spPr>
          <a:xfrm>
            <a:off x="10157333" y="6182000"/>
            <a:ext cx="1983200" cy="420800"/>
          </a:xfrm>
          <a:prstGeom prst="rect">
            <a:avLst/>
          </a:prstGeom>
          <a:noFill/>
          <a:ln>
            <a:noFill/>
          </a:ln>
        </p:spPr>
        <p:txBody>
          <a:bodyPr lIns="91425" tIns="91425" rIns="91425" bIns="91425" anchor="ctr" anchorCtr="0">
            <a:noAutofit/>
          </a:bodyPr>
          <a:lstStyle/>
          <a:p>
            <a:fld id="{00000000-1234-1234-1234-123412341234}" type="slidenum">
              <a:rPr lang="en" sz="1800" smtClean="0">
                <a:solidFill>
                  <a:srgbClr val="3F5378"/>
                </a:solidFill>
                <a:latin typeface="Roboto Condensed" panose="020B0604020202020204"/>
              </a:rPr>
              <a:pPr/>
              <a:t>24</a:t>
            </a:fld>
            <a:endParaRPr lang="en" sz="1800" dirty="0">
              <a:solidFill>
                <a:srgbClr val="3F5378"/>
              </a:solidFill>
              <a:latin typeface="Roboto Condensed" panose="020B0604020202020204"/>
            </a:endParaRPr>
          </a:p>
        </p:txBody>
      </p:sp>
      <p:sp>
        <p:nvSpPr>
          <p:cNvPr id="22" name="titre_Understanding EMG Signals"/>
          <p:cNvSpPr txBox="1">
            <a:spLocks/>
          </p:cNvSpPr>
          <p:nvPr/>
        </p:nvSpPr>
        <p:spPr>
          <a:xfrm>
            <a:off x="1904884" y="0"/>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pPr algn="ctr"/>
            <a:r>
              <a:rPr lang="en-GB" sz="2400" dirty="0">
                <a:solidFill>
                  <a:srgbClr val="FF9800"/>
                </a:solidFill>
              </a:rPr>
              <a:t>Performance Results of the Proposed Model</a:t>
            </a:r>
            <a:endParaRPr lang="en" sz="2400" dirty="0">
              <a:solidFill>
                <a:srgbClr val="FF9800"/>
              </a:solidFill>
            </a:endParaRPr>
          </a:p>
        </p:txBody>
      </p:sp>
      <p:pic>
        <p:nvPicPr>
          <p:cNvPr id="2" name="global CM"/>
          <p:cNvPicPr>
            <a:picLocks noChangeAspect="1"/>
          </p:cNvPicPr>
          <p:nvPr/>
        </p:nvPicPr>
        <p:blipFill rotWithShape="1">
          <a:blip r:embed="rId3">
            <a:extLst>
              <a:ext uri="{28A0092B-C50C-407E-A947-70E740481C1C}">
                <a14:useLocalDpi xmlns:a14="http://schemas.microsoft.com/office/drawing/2010/main" val="0"/>
              </a:ext>
            </a:extLst>
          </a:blip>
          <a:srcRect l="7645" t="11600" r="9823" b="6400"/>
          <a:stretch/>
        </p:blipFill>
        <p:spPr>
          <a:xfrm>
            <a:off x="2651760" y="525817"/>
            <a:ext cx="6537960" cy="6332183"/>
          </a:xfrm>
          <a:prstGeom prst="rect">
            <a:avLst/>
          </a:prstGeom>
        </p:spPr>
      </p:pic>
      <p:sp>
        <p:nvSpPr>
          <p:cNvPr id="9" name="1st fig obsrv"/>
          <p:cNvSpPr txBox="1">
            <a:spLocks/>
          </p:cNvSpPr>
          <p:nvPr/>
        </p:nvSpPr>
        <p:spPr>
          <a:xfrm>
            <a:off x="9244783" y="2162822"/>
            <a:ext cx="2947217" cy="2436256"/>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285750" indent="-285750">
              <a:lnSpc>
                <a:spcPct val="150000"/>
              </a:lnSpc>
              <a:spcAft>
                <a:spcPts val="0"/>
              </a:spcAft>
              <a:buClr>
                <a:srgbClr val="FF9800"/>
              </a:buClr>
            </a:pPr>
            <a:endParaRPr lang="fr-FR" sz="1200" dirty="0"/>
          </a:p>
        </p:txBody>
      </p:sp>
      <p:sp>
        <p:nvSpPr>
          <p:cNvPr id="11" name="1st fig obsrv"/>
          <p:cNvSpPr txBox="1">
            <a:spLocks/>
          </p:cNvSpPr>
          <p:nvPr/>
        </p:nvSpPr>
        <p:spPr>
          <a:xfrm>
            <a:off x="9264613" y="2040783"/>
            <a:ext cx="2947217" cy="2436256"/>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285750" indent="-285750">
              <a:lnSpc>
                <a:spcPct val="150000"/>
              </a:lnSpc>
              <a:spcAft>
                <a:spcPts val="0"/>
              </a:spcAft>
              <a:buClr>
                <a:srgbClr val="FF9800"/>
              </a:buClr>
            </a:pPr>
            <a:r>
              <a:rPr lang="en-GB" sz="1500" b="1" dirty="0"/>
              <a:t>Gesture 3 ↔ Gesture 4 confusion:</a:t>
            </a:r>
          </a:p>
          <a:p>
            <a:pPr marL="285750" lvl="1" indent="-285750">
              <a:lnSpc>
                <a:spcPct val="150000"/>
              </a:lnSpc>
              <a:spcAft>
                <a:spcPts val="0"/>
              </a:spcAft>
              <a:buClr>
                <a:srgbClr val="FF9800"/>
              </a:buClr>
            </a:pPr>
            <a:r>
              <a:rPr lang="en-GB" sz="1500" dirty="0"/>
              <a:t>12 % of true Gesture 3 → predicted as Gesture 4.</a:t>
            </a:r>
          </a:p>
          <a:p>
            <a:pPr marL="285750" lvl="1" indent="-285750">
              <a:lnSpc>
                <a:spcPct val="150000"/>
              </a:lnSpc>
              <a:spcAft>
                <a:spcPts val="0"/>
              </a:spcAft>
              <a:buClr>
                <a:srgbClr val="FF9800"/>
              </a:buClr>
            </a:pPr>
            <a:r>
              <a:rPr lang="en-GB" sz="1500" dirty="0"/>
              <a:t>8 % of true Gesture 4 → predicted as Gesture 3.</a:t>
            </a:r>
            <a:endParaRPr lang="en-GB" sz="1400" dirty="0"/>
          </a:p>
          <a:p>
            <a:pPr marL="285750" indent="-285750">
              <a:lnSpc>
                <a:spcPct val="150000"/>
              </a:lnSpc>
              <a:spcAft>
                <a:spcPts val="0"/>
              </a:spcAft>
              <a:buClr>
                <a:srgbClr val="FF9800"/>
              </a:buClr>
            </a:pPr>
            <a:r>
              <a:rPr lang="en-GB" sz="1500" b="1" dirty="0"/>
              <a:t>Gesture 2 → Gesture 1 confusion:</a:t>
            </a:r>
          </a:p>
          <a:p>
            <a:pPr marL="285750" lvl="1" indent="-285750">
              <a:lnSpc>
                <a:spcPct val="150000"/>
              </a:lnSpc>
              <a:spcAft>
                <a:spcPts val="0"/>
              </a:spcAft>
              <a:buClr>
                <a:srgbClr val="FF9800"/>
              </a:buClr>
            </a:pPr>
            <a:r>
              <a:rPr lang="en-GB" sz="1500" dirty="0"/>
              <a:t>9 % of true Gesture 2 → predicted as Gesture 1.</a:t>
            </a:r>
          </a:p>
          <a:p>
            <a:pPr marL="285750" indent="-285750">
              <a:lnSpc>
                <a:spcPct val="150000"/>
              </a:lnSpc>
              <a:spcAft>
                <a:spcPts val="0"/>
              </a:spcAft>
              <a:buClr>
                <a:srgbClr val="FF9800"/>
              </a:buClr>
            </a:pPr>
            <a:r>
              <a:rPr lang="en-GB" sz="1500" b="1" dirty="0"/>
              <a:t>Gesture 14 ↔ Gesture 13 confusion:</a:t>
            </a:r>
          </a:p>
          <a:p>
            <a:pPr marL="285750" lvl="1" indent="-285750">
              <a:lnSpc>
                <a:spcPct val="150000"/>
              </a:lnSpc>
              <a:spcAft>
                <a:spcPts val="0"/>
              </a:spcAft>
              <a:buClr>
                <a:srgbClr val="FF9800"/>
              </a:buClr>
            </a:pPr>
            <a:r>
              <a:rPr lang="en-GB" sz="1500" dirty="0"/>
              <a:t>14 % of true Gesture 14 → predicted as Gesture 13.</a:t>
            </a:r>
          </a:p>
          <a:p>
            <a:pPr marL="285750" lvl="1" indent="-285750">
              <a:lnSpc>
                <a:spcPct val="150000"/>
              </a:lnSpc>
              <a:spcAft>
                <a:spcPts val="0"/>
              </a:spcAft>
              <a:buClr>
                <a:srgbClr val="FF9800"/>
              </a:buClr>
            </a:pPr>
            <a:r>
              <a:rPr lang="en-GB" sz="1500" dirty="0"/>
              <a:t>10 % of true Gesture 13 → predicted as Gesture 14.</a:t>
            </a:r>
          </a:p>
        </p:txBody>
      </p:sp>
      <p:sp>
        <p:nvSpPr>
          <p:cNvPr id="8" name="1st fig obsrv"/>
          <p:cNvSpPr txBox="1">
            <a:spLocks/>
          </p:cNvSpPr>
          <p:nvPr/>
        </p:nvSpPr>
        <p:spPr>
          <a:xfrm>
            <a:off x="-22528" y="2683522"/>
            <a:ext cx="2651760" cy="2465478"/>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285750" indent="-285750">
              <a:lnSpc>
                <a:spcPct val="150000"/>
              </a:lnSpc>
              <a:spcAft>
                <a:spcPts val="0"/>
              </a:spcAft>
              <a:buClr>
                <a:srgbClr val="FF9800"/>
              </a:buClr>
            </a:pPr>
            <a:r>
              <a:rPr lang="en-GB" sz="1500" b="1" dirty="0"/>
              <a:t>Matrix overview:</a:t>
            </a:r>
          </a:p>
          <a:p>
            <a:pPr marL="285750" lvl="1" indent="-285750">
              <a:lnSpc>
                <a:spcPct val="150000"/>
              </a:lnSpc>
              <a:spcAft>
                <a:spcPts val="0"/>
              </a:spcAft>
              <a:buClr>
                <a:srgbClr val="FF9800"/>
              </a:buClr>
            </a:pPr>
            <a:r>
              <a:rPr lang="en-GB" sz="1500" dirty="0"/>
              <a:t>row‑normalized 15×15 confusion matrix showing true‑label vs. predicted proportions.</a:t>
            </a:r>
          </a:p>
          <a:p>
            <a:pPr marL="285750" lvl="1" indent="-285750">
              <a:lnSpc>
                <a:spcPct val="150000"/>
              </a:lnSpc>
              <a:spcAft>
                <a:spcPts val="0"/>
              </a:spcAft>
              <a:buClr>
                <a:srgbClr val="FF9800"/>
              </a:buClr>
            </a:pPr>
            <a:endParaRPr lang="en-GB" sz="1500" dirty="0"/>
          </a:p>
          <a:p>
            <a:pPr marL="171450" indent="-171450">
              <a:lnSpc>
                <a:spcPct val="150000"/>
              </a:lnSpc>
              <a:spcAft>
                <a:spcPts val="0"/>
              </a:spcAft>
              <a:buClr>
                <a:srgbClr val="FF9800"/>
              </a:buClr>
            </a:pPr>
            <a:r>
              <a:rPr lang="en-GB" sz="1400" b="1" dirty="0"/>
              <a:t> </a:t>
            </a:r>
            <a:r>
              <a:rPr lang="en-GB" sz="1500" b="1" dirty="0"/>
              <a:t>High-performing classes (recall ≥ 0.80):</a:t>
            </a:r>
          </a:p>
          <a:p>
            <a:pPr marL="171450" lvl="1" indent="-171450">
              <a:lnSpc>
                <a:spcPct val="150000"/>
              </a:lnSpc>
              <a:spcAft>
                <a:spcPts val="0"/>
              </a:spcAft>
              <a:buClr>
                <a:srgbClr val="FF9800"/>
              </a:buClr>
            </a:pPr>
            <a:r>
              <a:rPr lang="en-GB" sz="1500" dirty="0"/>
              <a:t>Gesture 8: 0.93</a:t>
            </a:r>
          </a:p>
          <a:p>
            <a:pPr marL="171450" lvl="1" indent="-171450">
              <a:lnSpc>
                <a:spcPct val="150000"/>
              </a:lnSpc>
              <a:spcAft>
                <a:spcPts val="0"/>
              </a:spcAft>
              <a:buClr>
                <a:srgbClr val="FF9800"/>
              </a:buClr>
            </a:pPr>
            <a:r>
              <a:rPr lang="en-GB" sz="1500" dirty="0"/>
              <a:t>Gesture 12: 0.89</a:t>
            </a:r>
          </a:p>
          <a:p>
            <a:pPr>
              <a:lnSpc>
                <a:spcPct val="150000"/>
              </a:lnSpc>
              <a:spcAft>
                <a:spcPts val="0"/>
              </a:spcAft>
              <a:buClr>
                <a:srgbClr val="FF9800"/>
              </a:buClr>
              <a:buNone/>
            </a:pPr>
            <a:endParaRPr lang="en-GB" sz="1200" dirty="0"/>
          </a:p>
          <a:p>
            <a:pPr marL="171450" indent="-171450">
              <a:lnSpc>
                <a:spcPct val="150000"/>
              </a:lnSpc>
              <a:spcAft>
                <a:spcPts val="0"/>
              </a:spcAft>
              <a:buClr>
                <a:srgbClr val="FF9800"/>
              </a:buClr>
            </a:pPr>
            <a:r>
              <a:rPr lang="en-GB" sz="1400" b="1" dirty="0"/>
              <a:t> </a:t>
            </a:r>
            <a:r>
              <a:rPr lang="en-GB" sz="1500" b="1" dirty="0"/>
              <a:t>Lowest-performing classes:</a:t>
            </a:r>
          </a:p>
          <a:p>
            <a:pPr marL="171450" lvl="1" indent="-171450">
              <a:lnSpc>
                <a:spcPct val="150000"/>
              </a:lnSpc>
              <a:spcAft>
                <a:spcPts val="0"/>
              </a:spcAft>
              <a:buClr>
                <a:srgbClr val="FF9800"/>
              </a:buClr>
            </a:pPr>
            <a:r>
              <a:rPr lang="en-GB" sz="1500" dirty="0"/>
              <a:t>Gesture 9: 0.74</a:t>
            </a:r>
          </a:p>
          <a:p>
            <a:pPr marL="171450" lvl="1" indent="-171450">
              <a:lnSpc>
                <a:spcPct val="150000"/>
              </a:lnSpc>
              <a:spcAft>
                <a:spcPts val="0"/>
              </a:spcAft>
              <a:buClr>
                <a:srgbClr val="FF9800"/>
              </a:buClr>
            </a:pPr>
            <a:r>
              <a:rPr lang="en-GB" sz="1500" dirty="0"/>
              <a:t>Gesture 13: 0.75</a:t>
            </a:r>
          </a:p>
          <a:p>
            <a:pPr>
              <a:lnSpc>
                <a:spcPct val="150000"/>
              </a:lnSpc>
              <a:spcAft>
                <a:spcPts val="0"/>
              </a:spcAft>
              <a:buClr>
                <a:srgbClr val="FF9800"/>
              </a:buClr>
              <a:buNone/>
            </a:pPr>
            <a:r>
              <a:rPr lang="en-GB" sz="1200" dirty="0"/>
              <a:t>	</a:t>
            </a:r>
            <a:endParaRPr lang="fr-FR" sz="1200" dirty="0"/>
          </a:p>
        </p:txBody>
      </p:sp>
      <p:graphicFrame>
        <p:nvGraphicFramePr>
          <p:cNvPr id="10" name="Diagram 9"/>
          <p:cNvGraphicFramePr/>
          <p:nvPr>
            <p:extLst>
              <p:ext uri="{D42A27DB-BD31-4B8C-83A1-F6EECF244321}">
                <p14:modId xmlns:p14="http://schemas.microsoft.com/office/powerpoint/2010/main" val="87673818"/>
              </p:ext>
            </p:extLst>
          </p:nvPr>
        </p:nvGraphicFramePr>
        <p:xfrm>
          <a:off x="1742725" y="3524036"/>
          <a:ext cx="752371" cy="148727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4" name="Diagram 13"/>
          <p:cNvGraphicFramePr/>
          <p:nvPr>
            <p:extLst>
              <p:ext uri="{D42A27DB-BD31-4B8C-83A1-F6EECF244321}">
                <p14:modId xmlns:p14="http://schemas.microsoft.com/office/powerpoint/2010/main" val="3000903743"/>
              </p:ext>
            </p:extLst>
          </p:nvPr>
        </p:nvGraphicFramePr>
        <p:xfrm>
          <a:off x="1755710" y="5200406"/>
          <a:ext cx="752371" cy="1487279"/>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15" name="Diagram 14"/>
          <p:cNvGraphicFramePr/>
          <p:nvPr>
            <p:extLst>
              <p:ext uri="{D42A27DB-BD31-4B8C-83A1-F6EECF244321}">
                <p14:modId xmlns:p14="http://schemas.microsoft.com/office/powerpoint/2010/main" val="3769713871"/>
              </p:ext>
            </p:extLst>
          </p:nvPr>
        </p:nvGraphicFramePr>
        <p:xfrm>
          <a:off x="10746954" y="2637070"/>
          <a:ext cx="1442993" cy="886966"/>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graphicFrame>
        <p:nvGraphicFramePr>
          <p:cNvPr id="16" name="Diagram 15"/>
          <p:cNvGraphicFramePr/>
          <p:nvPr>
            <p:extLst>
              <p:ext uri="{D42A27DB-BD31-4B8C-83A1-F6EECF244321}">
                <p14:modId xmlns:p14="http://schemas.microsoft.com/office/powerpoint/2010/main" val="1723043390"/>
              </p:ext>
            </p:extLst>
          </p:nvPr>
        </p:nvGraphicFramePr>
        <p:xfrm>
          <a:off x="10749007" y="579900"/>
          <a:ext cx="1442993" cy="886966"/>
        </p:xfrm>
        <a:graphic>
          <a:graphicData uri="http://schemas.openxmlformats.org/drawingml/2006/diagram">
            <dgm:relIds xmlns:dgm="http://schemas.openxmlformats.org/drawingml/2006/diagram" xmlns:r="http://schemas.openxmlformats.org/officeDocument/2006/relationships" r:dm="rId19" r:lo="rId20" r:qs="rId21" r:cs="rId22"/>
          </a:graphicData>
        </a:graphic>
      </p:graphicFrame>
      <p:graphicFrame>
        <p:nvGraphicFramePr>
          <p:cNvPr id="17" name="Diagram 16"/>
          <p:cNvGraphicFramePr/>
          <p:nvPr>
            <p:extLst>
              <p:ext uri="{D42A27DB-BD31-4B8C-83A1-F6EECF244321}">
                <p14:modId xmlns:p14="http://schemas.microsoft.com/office/powerpoint/2010/main" val="3331275297"/>
              </p:ext>
            </p:extLst>
          </p:nvPr>
        </p:nvGraphicFramePr>
        <p:xfrm>
          <a:off x="10738222" y="4021033"/>
          <a:ext cx="1442993" cy="886966"/>
        </p:xfrm>
        <a:graphic>
          <a:graphicData uri="http://schemas.openxmlformats.org/drawingml/2006/diagram">
            <dgm:relIds xmlns:dgm="http://schemas.openxmlformats.org/drawingml/2006/diagram" xmlns:r="http://schemas.openxmlformats.org/officeDocument/2006/relationships" r:dm="rId24" r:lo="rId25" r:qs="rId26" r:cs="rId27"/>
          </a:graphicData>
        </a:graphic>
      </p:graphicFrame>
    </p:spTree>
    <p:extLst>
      <p:ext uri="{BB962C8B-B14F-4D97-AF65-F5344CB8AC3E}">
        <p14:creationId xmlns:p14="http://schemas.microsoft.com/office/powerpoint/2010/main" val="40233217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nodePh="1">
                                  <p:stCondLst>
                                    <p:cond delay="0"/>
                                  </p:stCondLst>
                                  <p:endCondLst>
                                    <p:cond evt="begin" delay="0">
                                      <p:tn val="19"/>
                                    </p:cond>
                                  </p:end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8" grpId="0"/>
      <p:bldGraphic spid="10" grpId="0">
        <p:bldAsOne/>
      </p:bldGraphic>
      <p:bldGraphic spid="14" grpId="0">
        <p:bldAsOne/>
      </p:bldGraphic>
      <p:bldGraphic spid="15" grpId="0">
        <p:bldAsOne/>
      </p:bldGraphic>
      <p:bldGraphic spid="16" grpId="0">
        <p:bldAsOne/>
      </p:bldGraphic>
      <p:bldGraphic spid="17" grpId="0">
        <p:bldAsOne/>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84" name="Shape 384"/>
          <p:cNvSpPr txBox="1">
            <a:spLocks noGrp="1"/>
          </p:cNvSpPr>
          <p:nvPr>
            <p:ph type="sldNum" idx="12"/>
          </p:nvPr>
        </p:nvSpPr>
        <p:spPr>
          <a:xfrm>
            <a:off x="10157333" y="6182000"/>
            <a:ext cx="1983200" cy="420800"/>
          </a:xfrm>
          <a:prstGeom prst="rect">
            <a:avLst/>
          </a:prstGeom>
          <a:noFill/>
          <a:ln>
            <a:noFill/>
          </a:ln>
        </p:spPr>
        <p:txBody>
          <a:bodyPr lIns="91425" tIns="91425" rIns="91425" bIns="91425" anchor="ctr" anchorCtr="0">
            <a:noAutofit/>
          </a:bodyPr>
          <a:lstStyle/>
          <a:p>
            <a:fld id="{00000000-1234-1234-1234-123412341234}" type="slidenum">
              <a:rPr lang="en" sz="1800" smtClean="0">
                <a:solidFill>
                  <a:srgbClr val="3F5378"/>
                </a:solidFill>
                <a:latin typeface="Roboto Condensed" panose="020B0604020202020204"/>
              </a:rPr>
              <a:pPr/>
              <a:t>25</a:t>
            </a:fld>
            <a:endParaRPr lang="en" sz="1800" dirty="0">
              <a:solidFill>
                <a:srgbClr val="3F5378"/>
              </a:solidFill>
              <a:latin typeface="Roboto Condensed" panose="020B0604020202020204"/>
            </a:endParaRPr>
          </a:p>
        </p:txBody>
      </p:sp>
      <p:sp>
        <p:nvSpPr>
          <p:cNvPr id="22" name="titre_Understanding EMG Signals"/>
          <p:cNvSpPr txBox="1">
            <a:spLocks/>
          </p:cNvSpPr>
          <p:nvPr/>
        </p:nvSpPr>
        <p:spPr>
          <a:xfrm>
            <a:off x="1904884" y="0"/>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pPr algn="ctr"/>
            <a:r>
              <a:rPr lang="en-GB" sz="2400" dirty="0">
                <a:solidFill>
                  <a:srgbClr val="FF9800"/>
                </a:solidFill>
              </a:rPr>
              <a:t>Performance Results of the Proposed Model</a:t>
            </a:r>
            <a:endParaRPr lang="en" sz="2400" dirty="0">
              <a:solidFill>
                <a:srgbClr val="FF9800"/>
              </a:solidFill>
            </a:endParaRPr>
          </a:p>
        </p:txBody>
      </p:sp>
      <p:pic>
        <p:nvPicPr>
          <p:cNvPr id="3" name="subject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4884" y="820281"/>
            <a:ext cx="7410650" cy="5743253"/>
          </a:xfrm>
          <a:prstGeom prst="rect">
            <a:avLst/>
          </a:prstGeom>
        </p:spPr>
      </p:pic>
      <p:sp>
        <p:nvSpPr>
          <p:cNvPr id="9" name="1st fig obsrv"/>
          <p:cNvSpPr txBox="1">
            <a:spLocks/>
          </p:cNvSpPr>
          <p:nvPr/>
        </p:nvSpPr>
        <p:spPr>
          <a:xfrm>
            <a:off x="9244783" y="2162822"/>
            <a:ext cx="2947217" cy="2436256"/>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285750" indent="-285750">
              <a:lnSpc>
                <a:spcPct val="150000"/>
              </a:lnSpc>
              <a:spcAft>
                <a:spcPts val="0"/>
              </a:spcAft>
              <a:buClr>
                <a:srgbClr val="FF9800"/>
              </a:buClr>
            </a:pPr>
            <a:endParaRPr lang="fr-FR" sz="1200" dirty="0"/>
          </a:p>
        </p:txBody>
      </p:sp>
      <p:sp>
        <p:nvSpPr>
          <p:cNvPr id="10" name="2nd fig obsrv"/>
          <p:cNvSpPr txBox="1">
            <a:spLocks/>
          </p:cNvSpPr>
          <p:nvPr/>
        </p:nvSpPr>
        <p:spPr>
          <a:xfrm>
            <a:off x="9320981" y="2285899"/>
            <a:ext cx="2871019" cy="2436256"/>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342900" indent="-342900">
              <a:spcAft>
                <a:spcPts val="1400"/>
              </a:spcAft>
              <a:buClr>
                <a:srgbClr val="FF9800"/>
              </a:buClr>
            </a:pPr>
            <a:r>
              <a:rPr lang="en-GB" sz="1600" b="1" dirty="0"/>
              <a:t>Balanced performance visible: </a:t>
            </a:r>
            <a:r>
              <a:rPr lang="en-GB" sz="1600" dirty="0"/>
              <a:t>Greener (higher MCC) points cluster toward higher test accuracies, reflecting stronger classification.</a:t>
            </a:r>
          </a:p>
          <a:p>
            <a:pPr marL="342900" indent="-342900">
              <a:spcAft>
                <a:spcPts val="1400"/>
              </a:spcAft>
              <a:buClr>
                <a:srgbClr val="FF9800"/>
              </a:buClr>
            </a:pPr>
            <a:r>
              <a:rPr lang="en-GB" sz="1600" b="1" dirty="0"/>
              <a:t>Wide variability across subjects.</a:t>
            </a:r>
          </a:p>
          <a:p>
            <a:pPr marL="342900" indent="-342900">
              <a:spcAft>
                <a:spcPts val="1400"/>
              </a:spcAft>
              <a:buClr>
                <a:srgbClr val="FF9800"/>
              </a:buClr>
            </a:pPr>
            <a:r>
              <a:rPr lang="en-GB" sz="1600" b="1" dirty="0"/>
              <a:t>Subject 31 exception: </a:t>
            </a:r>
            <a:r>
              <a:rPr lang="en-GB" sz="1600" dirty="0"/>
              <a:t>Training accuracy for Subject 31 is only 79.5 %, suggesting the model struggled even on its own training data.</a:t>
            </a:r>
          </a:p>
          <a:p>
            <a:pPr marL="342900" indent="-342900">
              <a:spcAft>
                <a:spcPts val="1400"/>
              </a:spcAft>
              <a:buClr>
                <a:srgbClr val="FF9800"/>
              </a:buClr>
            </a:pPr>
            <a:r>
              <a:rPr lang="en-GB" sz="1600" b="1" dirty="0"/>
              <a:t>Some overfitting issues: </a:t>
            </a:r>
            <a:r>
              <a:rPr lang="en-GB" sz="1600" dirty="0"/>
              <a:t>Some subjects far below the line indicate overfitting.</a:t>
            </a:r>
          </a:p>
          <a:p>
            <a:pPr marL="342900" indent="-342900">
              <a:spcAft>
                <a:spcPts val="1400"/>
              </a:spcAft>
              <a:buClr>
                <a:srgbClr val="FF9800"/>
              </a:buClr>
            </a:pPr>
            <a:endParaRPr lang="en-GB" sz="1400" dirty="0"/>
          </a:p>
        </p:txBody>
      </p:sp>
      <p:sp>
        <p:nvSpPr>
          <p:cNvPr id="12" name="2nd fig obsrv"/>
          <p:cNvSpPr txBox="1">
            <a:spLocks/>
          </p:cNvSpPr>
          <p:nvPr/>
        </p:nvSpPr>
        <p:spPr>
          <a:xfrm>
            <a:off x="0" y="1819614"/>
            <a:ext cx="1973710" cy="2436256"/>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a:buNone/>
            </a:pPr>
            <a:endParaRPr lang="en-GB" sz="1200" b="1" dirty="0"/>
          </a:p>
          <a:p>
            <a:pPr>
              <a:buNone/>
            </a:pPr>
            <a:endParaRPr lang="en-GB" sz="1200" b="1" dirty="0"/>
          </a:p>
          <a:p>
            <a:pPr marL="171450" indent="-171450">
              <a:buClr>
                <a:srgbClr val="FC9702"/>
              </a:buClr>
            </a:pPr>
            <a:r>
              <a:rPr lang="en-GB" sz="1600" b="1" dirty="0"/>
              <a:t>Figure  overview</a:t>
            </a:r>
            <a:r>
              <a:rPr lang="en-GB" sz="1600" dirty="0"/>
              <a:t>:</a:t>
            </a:r>
          </a:p>
          <a:p>
            <a:pPr marL="171450" lvl="1" indent="-171450">
              <a:buClr>
                <a:srgbClr val="FC9702"/>
              </a:buClr>
            </a:pPr>
            <a:r>
              <a:rPr lang="en-GB" sz="1400" b="1" dirty="0"/>
              <a:t>X‑axis</a:t>
            </a:r>
            <a:r>
              <a:rPr lang="en-GB" sz="1400" dirty="0"/>
              <a:t>: training accuracy (left → right)</a:t>
            </a:r>
          </a:p>
          <a:p>
            <a:pPr marL="171450" lvl="1" indent="-171450">
              <a:buClr>
                <a:srgbClr val="FC9702"/>
              </a:buClr>
            </a:pPr>
            <a:r>
              <a:rPr lang="en-GB" sz="1400" b="1" dirty="0"/>
              <a:t>Y‑axis</a:t>
            </a:r>
            <a:r>
              <a:rPr lang="en-GB" sz="1400" dirty="0"/>
              <a:t>: test accuracy (bottom → top)</a:t>
            </a:r>
          </a:p>
          <a:p>
            <a:pPr marL="171450" lvl="1" indent="-171450">
              <a:buClr>
                <a:srgbClr val="FC9702"/>
              </a:buClr>
            </a:pPr>
            <a:r>
              <a:rPr lang="en-GB" sz="1400" b="1" dirty="0"/>
              <a:t>Color scale</a:t>
            </a:r>
            <a:r>
              <a:rPr lang="en-GB" sz="1400" dirty="0"/>
              <a:t>: MCC from 0 (random) to +1 (perfect)</a:t>
            </a:r>
          </a:p>
          <a:p>
            <a:pPr marL="171450" lvl="1" indent="-171450">
              <a:buClr>
                <a:srgbClr val="FC9702"/>
              </a:buClr>
            </a:pPr>
            <a:r>
              <a:rPr lang="en-GB" sz="1400" b="1" dirty="0"/>
              <a:t>Diagonal line</a:t>
            </a:r>
            <a:r>
              <a:rPr lang="en-GB" sz="1400" dirty="0"/>
              <a:t>: train = test accuracy; points far below indicate overfitting</a:t>
            </a:r>
          </a:p>
        </p:txBody>
      </p:sp>
    </p:spTree>
    <p:extLst>
      <p:ext uri="{BB962C8B-B14F-4D97-AF65-F5344CB8AC3E}">
        <p14:creationId xmlns:p14="http://schemas.microsoft.com/office/powerpoint/2010/main" val="1279461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p:txBody>
          <a:bodyPr/>
          <a:lstStyle/>
          <a:p>
            <a:r>
              <a:rPr lang="fr-FR" sz="2700" dirty="0"/>
              <a:t>Evaluation and </a:t>
            </a:r>
            <a:r>
              <a:rPr lang="fr-FR" sz="2700" dirty="0" err="1"/>
              <a:t>Results</a:t>
            </a:r>
            <a:endParaRPr lang="fr-FR" sz="2700"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26</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18" name="titre_Understanding EMG Signals"/>
          <p:cNvSpPr txBox="1">
            <a:spLocks/>
          </p:cNvSpPr>
          <p:nvPr/>
        </p:nvSpPr>
        <p:spPr>
          <a:xfrm>
            <a:off x="766371" y="1867178"/>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r>
              <a:rPr lang="en-GB" sz="2800" dirty="0">
                <a:solidFill>
                  <a:srgbClr val="FF9800"/>
                </a:solidFill>
              </a:rPr>
              <a:t>Model Time Complexity</a:t>
            </a:r>
            <a:endParaRPr lang="en" sz="2800" dirty="0">
              <a:solidFill>
                <a:srgbClr val="FF9800"/>
              </a:solidFill>
            </a:endParaRPr>
          </a:p>
        </p:txBody>
      </p:sp>
      <p:sp>
        <p:nvSpPr>
          <p:cNvPr id="21" name="EMG: Electrical signals from muscle contractions."/>
          <p:cNvSpPr txBox="1">
            <a:spLocks/>
          </p:cNvSpPr>
          <p:nvPr/>
        </p:nvSpPr>
        <p:spPr>
          <a:xfrm>
            <a:off x="721187" y="3117891"/>
            <a:ext cx="10324703" cy="2911056"/>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342900" indent="-342900">
              <a:spcAft>
                <a:spcPts val="1400"/>
              </a:spcAft>
              <a:buClr>
                <a:srgbClr val="FF9800"/>
              </a:buClr>
            </a:pPr>
            <a:r>
              <a:rPr lang="en-GB" sz="2300" b="1" dirty="0"/>
              <a:t>Subject per-window timing: </a:t>
            </a:r>
            <a:r>
              <a:rPr lang="en-GB" sz="2300" dirty="0"/>
              <a:t>for each of the 40 subjects, compute train and test time per window by dividing total time by that subject’s number of windows.</a:t>
            </a:r>
          </a:p>
          <a:p>
            <a:pPr marL="342900" indent="-342900">
              <a:spcAft>
                <a:spcPts val="1400"/>
              </a:spcAft>
              <a:buClr>
                <a:srgbClr val="FF9800"/>
              </a:buClr>
            </a:pPr>
            <a:r>
              <a:rPr lang="en-GB" sz="2300" b="1" dirty="0"/>
              <a:t>Average time per-window</a:t>
            </a:r>
            <a:r>
              <a:rPr lang="en-GB" sz="2300" dirty="0"/>
              <a:t>: average those per‑window times across all subjects to yield overall train and test timings.</a:t>
            </a:r>
          </a:p>
          <a:p>
            <a:pPr marL="342900" indent="-342900">
              <a:spcAft>
                <a:spcPts val="1400"/>
              </a:spcAft>
              <a:buClr>
                <a:srgbClr val="FF9800"/>
              </a:buClr>
              <a:buFont typeface="Segoe UI Emoji" panose="020B0502040204020203" pitchFamily="34" charset="0"/>
              <a:buChar char="⏰"/>
            </a:pPr>
            <a:r>
              <a:rPr lang="en-GB" sz="2300" b="1" dirty="0">
                <a:latin typeface="Palace Script MT" panose="030303020206070C0B05" pitchFamily="66" charset="0"/>
              </a:rPr>
              <a:t> </a:t>
            </a:r>
            <a:r>
              <a:rPr lang="en-GB" sz="2300" b="1" dirty="0">
                <a:latin typeface="Playbill" panose="040506030A0602020202" pitchFamily="82" charset="0"/>
              </a:rPr>
              <a:t> </a:t>
            </a:r>
            <a:r>
              <a:rPr lang="en-GB" sz="2300" b="1" dirty="0"/>
              <a:t>Reminder: </a:t>
            </a:r>
            <a:r>
              <a:rPr lang="en-GB" sz="2300" dirty="0"/>
              <a:t>windows are 150 </a:t>
            </a:r>
            <a:r>
              <a:rPr lang="en-GB" sz="2300" dirty="0" err="1"/>
              <a:t>ms</a:t>
            </a:r>
            <a:r>
              <a:rPr lang="en-GB" sz="2300" dirty="0"/>
              <a:t> long with a 100 </a:t>
            </a:r>
            <a:r>
              <a:rPr lang="en-GB" sz="2300" dirty="0" err="1"/>
              <a:t>ms</a:t>
            </a:r>
            <a:r>
              <a:rPr lang="en-GB" sz="2300" dirty="0"/>
              <a:t> stride (as noted earlier).</a:t>
            </a:r>
          </a:p>
          <a:p>
            <a:pPr>
              <a:lnSpc>
                <a:spcPct val="150000"/>
              </a:lnSpc>
              <a:spcAft>
                <a:spcPts val="1400"/>
              </a:spcAft>
              <a:buClr>
                <a:srgbClr val="FF9800"/>
              </a:buClr>
              <a:buNone/>
            </a:pPr>
            <a:endParaRPr lang="fr-FR" dirty="0"/>
          </a:p>
        </p:txBody>
      </p:sp>
    </p:spTree>
    <p:extLst>
      <p:ext uri="{BB962C8B-B14F-4D97-AF65-F5344CB8AC3E}">
        <p14:creationId xmlns:p14="http://schemas.microsoft.com/office/powerpoint/2010/main" val="21462368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p:txBody>
          <a:bodyPr/>
          <a:lstStyle/>
          <a:p>
            <a:r>
              <a:rPr lang="fr-FR" sz="2700" dirty="0"/>
              <a:t>Evaluation and </a:t>
            </a:r>
            <a:r>
              <a:rPr lang="fr-FR" sz="2700" dirty="0" err="1"/>
              <a:t>Results</a:t>
            </a:r>
            <a:endParaRPr lang="fr-FR" sz="2700"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27</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18" name="titre_Understanding EMG Signals"/>
          <p:cNvSpPr txBox="1">
            <a:spLocks/>
          </p:cNvSpPr>
          <p:nvPr/>
        </p:nvSpPr>
        <p:spPr>
          <a:xfrm>
            <a:off x="766371" y="1867178"/>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r>
              <a:rPr lang="en-GB" sz="2800" dirty="0">
                <a:solidFill>
                  <a:srgbClr val="FF9800"/>
                </a:solidFill>
              </a:rPr>
              <a:t>Model Time Complexity</a:t>
            </a:r>
            <a:endParaRPr lang="en" sz="2800" dirty="0">
              <a:solidFill>
                <a:srgbClr val="FF9800"/>
              </a:solidFill>
            </a:endParaRPr>
          </a:p>
        </p:txBody>
      </p:sp>
      <p:sp>
        <p:nvSpPr>
          <p:cNvPr id="17" name="CM"/>
          <p:cNvSpPr txBox="1">
            <a:spLocks/>
          </p:cNvSpPr>
          <p:nvPr/>
        </p:nvSpPr>
        <p:spPr>
          <a:xfrm>
            <a:off x="7758669" y="2769224"/>
            <a:ext cx="4381864" cy="2612724"/>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342900" indent="-342900">
              <a:spcAft>
                <a:spcPts val="1400"/>
              </a:spcAft>
              <a:buClr>
                <a:srgbClr val="FF9800"/>
              </a:buClr>
            </a:pPr>
            <a:r>
              <a:rPr lang="en-GB" dirty="0" smtClean="0"/>
              <a:t>67.63</a:t>
            </a:r>
            <a:r>
              <a:rPr lang="en-GB" dirty="0"/>
              <a:t> min train vs 1.31 min test</a:t>
            </a:r>
          </a:p>
          <a:p>
            <a:pPr marL="342900" indent="-342900">
              <a:spcAft>
                <a:spcPts val="1400"/>
              </a:spcAft>
              <a:buClr>
                <a:srgbClr val="FF9800"/>
              </a:buClr>
            </a:pPr>
            <a:r>
              <a:rPr lang="en-GB" dirty="0"/>
              <a:t>101.45 s train / 1.96 s test per subject</a:t>
            </a:r>
          </a:p>
          <a:p>
            <a:pPr marL="342900" indent="-342900">
              <a:spcAft>
                <a:spcPts val="1400"/>
              </a:spcAft>
              <a:buClr>
                <a:srgbClr val="FF9800"/>
              </a:buClr>
            </a:pPr>
            <a:r>
              <a:rPr lang="en-GB" dirty="0"/>
              <a:t>46.48 </a:t>
            </a:r>
            <a:r>
              <a:rPr lang="en-GB" dirty="0" err="1"/>
              <a:t>ms</a:t>
            </a:r>
            <a:r>
              <a:rPr lang="en-GB" dirty="0"/>
              <a:t> train /  1.86 </a:t>
            </a:r>
            <a:r>
              <a:rPr lang="en-GB" dirty="0" err="1"/>
              <a:t>ms</a:t>
            </a:r>
            <a:r>
              <a:rPr lang="en-GB" dirty="0"/>
              <a:t> test per 150ms window</a:t>
            </a:r>
          </a:p>
          <a:p>
            <a:pPr marL="342900" indent="-342900">
              <a:spcAft>
                <a:spcPts val="1400"/>
              </a:spcAft>
              <a:buClr>
                <a:srgbClr val="FF9800"/>
              </a:buClr>
            </a:pPr>
            <a:r>
              <a:rPr lang="en-GB" dirty="0"/>
              <a:t>Window times vary by subject</a:t>
            </a:r>
            <a:endParaRPr lang="fr-FR" dirty="0"/>
          </a:p>
        </p:txBody>
      </p:sp>
      <p:graphicFrame>
        <p:nvGraphicFramePr>
          <p:cNvPr id="13" name="Table 12"/>
          <p:cNvGraphicFramePr>
            <a:graphicFrameLocks noGrp="1"/>
          </p:cNvGraphicFramePr>
          <p:nvPr>
            <p:extLst>
              <p:ext uri="{D42A27DB-BD31-4B8C-83A1-F6EECF244321}">
                <p14:modId xmlns:p14="http://schemas.microsoft.com/office/powerpoint/2010/main" val="3244316340"/>
              </p:ext>
            </p:extLst>
          </p:nvPr>
        </p:nvGraphicFramePr>
        <p:xfrm>
          <a:off x="157980" y="2942149"/>
          <a:ext cx="7436000" cy="2896676"/>
        </p:xfrm>
        <a:graphic>
          <a:graphicData uri="http://schemas.openxmlformats.org/drawingml/2006/table">
            <a:tbl>
              <a:tblPr firstRow="1" bandRow="1">
                <a:tableStyleId>{5C22544A-7EE6-4342-B048-85BDC9FD1C3A}</a:tableStyleId>
              </a:tblPr>
              <a:tblGrid>
                <a:gridCol w="398795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695450">
                  <a:extLst>
                    <a:ext uri="{9D8B030D-6E8A-4147-A177-3AD203B41FA5}">
                      <a16:colId xmlns:a16="http://schemas.microsoft.com/office/drawing/2014/main" val="20002"/>
                    </a:ext>
                  </a:extLst>
                </a:gridCol>
              </a:tblGrid>
              <a:tr h="479647">
                <a:tc>
                  <a:txBody>
                    <a:bodyPr/>
                    <a:lstStyle/>
                    <a:p>
                      <a:pPr algn="ctr"/>
                      <a:r>
                        <a:rPr lang="en-GB" b="1" dirty="0"/>
                        <a:t>Metric</a:t>
                      </a:r>
                      <a:r>
                        <a:rPr lang="en-GB" dirty="0"/>
                        <a:t> </a:t>
                      </a:r>
                    </a:p>
                  </a:txBody>
                  <a:tcPr>
                    <a:solidFill>
                      <a:srgbClr val="3F5378"/>
                    </a:solidFill>
                  </a:tcPr>
                </a:tc>
                <a:tc>
                  <a:txBody>
                    <a:bodyPr/>
                    <a:lstStyle/>
                    <a:p>
                      <a:pPr algn="ctr"/>
                      <a:r>
                        <a:rPr lang="en-GB" dirty="0"/>
                        <a:t>Training Time</a:t>
                      </a:r>
                    </a:p>
                  </a:txBody>
                  <a:tcPr>
                    <a:solidFill>
                      <a:srgbClr val="3F5378"/>
                    </a:solidFill>
                  </a:tcPr>
                </a:tc>
                <a:tc>
                  <a:txBody>
                    <a:bodyPr/>
                    <a:lstStyle/>
                    <a:p>
                      <a:pPr algn="ctr"/>
                      <a:r>
                        <a:rPr lang="en-GB" dirty="0"/>
                        <a:t>Testing time</a:t>
                      </a:r>
                    </a:p>
                  </a:txBody>
                  <a:tcPr>
                    <a:solidFill>
                      <a:srgbClr val="3F5378"/>
                    </a:solidFill>
                  </a:tcPr>
                </a:tc>
                <a:extLst>
                  <a:ext uri="{0D108BD9-81ED-4DB2-BD59-A6C34878D82A}">
                    <a16:rowId xmlns:a16="http://schemas.microsoft.com/office/drawing/2014/main" val="10000"/>
                  </a:ext>
                </a:extLst>
              </a:tr>
              <a:tr h="479647">
                <a:tc>
                  <a:txBody>
                    <a:bodyPr/>
                    <a:lstStyle/>
                    <a:p>
                      <a:r>
                        <a:rPr lang="en-GB" sz="1800" b="1" dirty="0">
                          <a:solidFill>
                            <a:schemeClr val="bg1"/>
                          </a:solidFill>
                        </a:rPr>
                        <a:t>Total Time Across Subjects (min)</a:t>
                      </a:r>
                      <a:endParaRPr lang="en-GB" b="1" dirty="0">
                        <a:solidFill>
                          <a:schemeClr val="bg1"/>
                        </a:solidFill>
                      </a:endParaRPr>
                    </a:p>
                  </a:txBody>
                  <a:tcPr>
                    <a:solidFill>
                      <a:srgbClr val="3F5378"/>
                    </a:solidFill>
                  </a:tcPr>
                </a:tc>
                <a:tc>
                  <a:txBody>
                    <a:bodyPr/>
                    <a:lstStyle/>
                    <a:p>
                      <a:pPr algn="ctr"/>
                      <a:endParaRPr lang="en-GB" dirty="0"/>
                    </a:p>
                  </a:txBody>
                  <a:tcPr/>
                </a:tc>
                <a:tc>
                  <a:txBody>
                    <a:bodyPr/>
                    <a:lstStyle/>
                    <a:p>
                      <a:pPr algn="ctr"/>
                      <a:endParaRPr lang="en-GB" dirty="0"/>
                    </a:p>
                  </a:txBody>
                  <a:tcPr/>
                </a:tc>
                <a:extLst>
                  <a:ext uri="{0D108BD9-81ED-4DB2-BD59-A6C34878D82A}">
                    <a16:rowId xmlns:a16="http://schemas.microsoft.com/office/drawing/2014/main" val="10001"/>
                  </a:ext>
                </a:extLst>
              </a:tr>
              <a:tr h="479647">
                <a:tc>
                  <a:txBody>
                    <a:bodyPr/>
                    <a:lstStyle/>
                    <a:p>
                      <a:r>
                        <a:rPr lang="en-GB" sz="1700" b="1" dirty="0">
                          <a:solidFill>
                            <a:schemeClr val="bg1"/>
                          </a:solidFill>
                        </a:rPr>
                        <a:t>Average Total Time per Subject (s)</a:t>
                      </a:r>
                    </a:p>
                  </a:txBody>
                  <a:tcPr>
                    <a:solidFill>
                      <a:srgbClr val="3F5378"/>
                    </a:solidFill>
                  </a:tcPr>
                </a:tc>
                <a:tc>
                  <a:txBody>
                    <a:bodyPr/>
                    <a:lstStyle/>
                    <a:p>
                      <a:pPr algn="ctr"/>
                      <a:endParaRPr lang="en-GB" dirty="0"/>
                    </a:p>
                  </a:txBody>
                  <a:tcPr/>
                </a:tc>
                <a:tc>
                  <a:txBody>
                    <a:bodyPr/>
                    <a:lstStyle/>
                    <a:p>
                      <a:pPr algn="ctr"/>
                      <a:endParaRPr lang="en-GB" dirty="0"/>
                    </a:p>
                  </a:txBody>
                  <a:tcPr/>
                </a:tc>
                <a:extLst>
                  <a:ext uri="{0D108BD9-81ED-4DB2-BD59-A6C34878D82A}">
                    <a16:rowId xmlns:a16="http://schemas.microsoft.com/office/drawing/2014/main" val="10002"/>
                  </a:ext>
                </a:extLst>
              </a:tr>
              <a:tr h="479647">
                <a:tc>
                  <a:txBody>
                    <a:bodyPr/>
                    <a:lstStyle/>
                    <a:p>
                      <a:r>
                        <a:rPr lang="en-GB" sz="1800" b="1" dirty="0">
                          <a:solidFill>
                            <a:schemeClr val="bg1"/>
                          </a:solidFill>
                        </a:rPr>
                        <a:t>Average Time per Window (s)</a:t>
                      </a:r>
                      <a:endParaRPr lang="en-GB" sz="1600" b="1" dirty="0">
                        <a:solidFill>
                          <a:schemeClr val="bg1"/>
                        </a:solidFill>
                      </a:endParaRPr>
                    </a:p>
                  </a:txBody>
                  <a:tcPr>
                    <a:solidFill>
                      <a:srgbClr val="3F5378"/>
                    </a:solidFill>
                  </a:tcPr>
                </a:tc>
                <a:tc>
                  <a:txBody>
                    <a:bodyPr/>
                    <a:lstStyle/>
                    <a:p>
                      <a:pPr algn="ctr"/>
                      <a:endParaRPr lang="en-GB" b="1" dirty="0"/>
                    </a:p>
                  </a:txBody>
                  <a:tcPr/>
                </a:tc>
                <a:tc>
                  <a:txBody>
                    <a:bodyPr/>
                    <a:lstStyle/>
                    <a:p>
                      <a:pPr algn="ctr"/>
                      <a:endParaRPr lang="en-GB" b="0" dirty="0"/>
                    </a:p>
                  </a:txBody>
                  <a:tcPr/>
                </a:tc>
                <a:extLst>
                  <a:ext uri="{0D108BD9-81ED-4DB2-BD59-A6C34878D82A}">
                    <a16:rowId xmlns:a16="http://schemas.microsoft.com/office/drawing/2014/main" val="10003"/>
                  </a:ext>
                </a:extLst>
              </a:tr>
              <a:tr h="978088">
                <a:tc>
                  <a:txBody>
                    <a:bodyPr/>
                    <a:lstStyle/>
                    <a:p>
                      <a:r>
                        <a:rPr lang="en-GB" sz="1800" b="1" dirty="0">
                          <a:solidFill>
                            <a:schemeClr val="bg1"/>
                          </a:solidFill>
                        </a:rPr>
                        <a:t>Per-Window Time Range (s) </a:t>
                      </a:r>
                      <a:endParaRPr lang="en-GB" b="1" dirty="0">
                        <a:solidFill>
                          <a:schemeClr val="bg1"/>
                        </a:solidFill>
                      </a:endParaRPr>
                    </a:p>
                  </a:txBody>
                  <a:tcPr>
                    <a:solidFill>
                      <a:srgbClr val="3F5378"/>
                    </a:solidFill>
                  </a:tcPr>
                </a:tc>
                <a:tc>
                  <a:txBody>
                    <a:bodyPr/>
                    <a:lstStyle/>
                    <a:p>
                      <a:pPr algn="ctr"/>
                      <a:endParaRPr lang="en-GB" dirty="0"/>
                    </a:p>
                  </a:txBody>
                  <a:tcPr/>
                </a:tc>
                <a:tc>
                  <a:txBody>
                    <a:bodyPr/>
                    <a:lstStyle/>
                    <a:p>
                      <a:pPr algn="ctr"/>
                      <a:endParaRPr lang="en-GB" dirty="0"/>
                    </a:p>
                  </a:txBody>
                  <a:tcPr/>
                </a:tc>
                <a:extLst>
                  <a:ext uri="{0D108BD9-81ED-4DB2-BD59-A6C34878D82A}">
                    <a16:rowId xmlns:a16="http://schemas.microsoft.com/office/drawing/2014/main" val="10004"/>
                  </a:ext>
                </a:extLst>
              </a:tr>
            </a:tbl>
          </a:graphicData>
        </a:graphic>
      </p:graphicFrame>
      <p:sp>
        <p:nvSpPr>
          <p:cNvPr id="19" name="TextBox 18"/>
          <p:cNvSpPr txBox="1"/>
          <p:nvPr/>
        </p:nvSpPr>
        <p:spPr>
          <a:xfrm>
            <a:off x="4161274" y="3490500"/>
            <a:ext cx="1690759" cy="3472746"/>
          </a:xfrm>
          <a:prstGeom prst="rect">
            <a:avLst/>
          </a:prstGeom>
          <a:noFill/>
        </p:spPr>
        <p:txBody>
          <a:bodyPr wrap="square" rtlCol="0">
            <a:spAutoFit/>
          </a:bodyPr>
          <a:lstStyle/>
          <a:p>
            <a:pPr algn="ctr">
              <a:spcAft>
                <a:spcPts val="1200"/>
              </a:spcAft>
            </a:pPr>
            <a:r>
              <a:rPr lang="en-GB" sz="1870" dirty="0">
                <a:latin typeface="Arial (Body)"/>
              </a:rPr>
              <a:t>67.63</a:t>
            </a:r>
          </a:p>
          <a:p>
            <a:pPr algn="ctr">
              <a:spcAft>
                <a:spcPts val="1600"/>
              </a:spcAft>
            </a:pPr>
            <a:r>
              <a:rPr lang="en-GB" sz="1870" dirty="0">
                <a:latin typeface="Arial (Body)"/>
              </a:rPr>
              <a:t>101.45</a:t>
            </a:r>
          </a:p>
          <a:p>
            <a:pPr algn="ctr">
              <a:spcAft>
                <a:spcPts val="1200"/>
              </a:spcAft>
            </a:pPr>
            <a:r>
              <a:rPr lang="en-GB" sz="2000" dirty="0">
                <a:latin typeface="Arial (Body)"/>
              </a:rPr>
              <a:t>0.046484</a:t>
            </a:r>
            <a:endParaRPr lang="en-GB" sz="1870" dirty="0">
              <a:latin typeface="Arial (Body)"/>
            </a:endParaRPr>
          </a:p>
          <a:p>
            <a:pPr algn="ctr">
              <a:spcAft>
                <a:spcPts val="50"/>
              </a:spcAft>
            </a:pPr>
            <a:r>
              <a:rPr lang="en-GB" sz="1870" dirty="0">
                <a:latin typeface="Arial (Body)"/>
              </a:rPr>
              <a:t>0.033262</a:t>
            </a:r>
          </a:p>
          <a:p>
            <a:pPr algn="ctr"/>
            <a:r>
              <a:rPr lang="en-GB" sz="1870" dirty="0">
                <a:latin typeface="Arial (Body)"/>
              </a:rPr>
              <a:t>–</a:t>
            </a:r>
          </a:p>
          <a:p>
            <a:pPr algn="ctr">
              <a:spcAft>
                <a:spcPts val="50"/>
              </a:spcAft>
            </a:pPr>
            <a:r>
              <a:rPr lang="en-GB" sz="1870" dirty="0">
                <a:latin typeface="Arial (Body)"/>
              </a:rPr>
              <a:t>0.068706</a:t>
            </a:r>
          </a:p>
          <a:p>
            <a:pPr>
              <a:spcAft>
                <a:spcPts val="1600"/>
              </a:spcAft>
            </a:pPr>
            <a:endParaRPr lang="en-GB" dirty="0"/>
          </a:p>
          <a:p>
            <a:pPr>
              <a:spcAft>
                <a:spcPts val="1600"/>
              </a:spcAft>
            </a:pPr>
            <a:endParaRPr lang="en-GB" dirty="0"/>
          </a:p>
          <a:p>
            <a:pPr>
              <a:spcAft>
                <a:spcPts val="1600"/>
              </a:spcAft>
            </a:pPr>
            <a:endParaRPr lang="en-GB" dirty="0"/>
          </a:p>
        </p:txBody>
      </p:sp>
      <p:sp>
        <p:nvSpPr>
          <p:cNvPr id="20" name="TextBox 19"/>
          <p:cNvSpPr txBox="1"/>
          <p:nvPr/>
        </p:nvSpPr>
        <p:spPr>
          <a:xfrm>
            <a:off x="5843210" y="3490500"/>
            <a:ext cx="1690759" cy="3472746"/>
          </a:xfrm>
          <a:prstGeom prst="rect">
            <a:avLst/>
          </a:prstGeom>
          <a:noFill/>
        </p:spPr>
        <p:txBody>
          <a:bodyPr wrap="square" rtlCol="0">
            <a:spAutoFit/>
          </a:bodyPr>
          <a:lstStyle/>
          <a:p>
            <a:pPr algn="ctr">
              <a:spcAft>
                <a:spcPts val="1200"/>
              </a:spcAft>
            </a:pPr>
            <a:r>
              <a:rPr lang="en-GB" sz="1870" dirty="0">
                <a:latin typeface="Arial (Body)"/>
              </a:rPr>
              <a:t>1.31</a:t>
            </a:r>
          </a:p>
          <a:p>
            <a:pPr algn="ctr">
              <a:spcAft>
                <a:spcPts val="1600"/>
              </a:spcAft>
            </a:pPr>
            <a:r>
              <a:rPr lang="en-GB" sz="1870" dirty="0">
                <a:latin typeface="Arial (Body)"/>
              </a:rPr>
              <a:t>1.96</a:t>
            </a:r>
          </a:p>
          <a:p>
            <a:pPr algn="ctr">
              <a:spcAft>
                <a:spcPts val="1200"/>
              </a:spcAft>
            </a:pPr>
            <a:r>
              <a:rPr lang="en-GB" sz="2000" dirty="0">
                <a:latin typeface="Arial (Body)"/>
              </a:rPr>
              <a:t>0.001862</a:t>
            </a:r>
            <a:endParaRPr lang="en-GB" sz="1870" dirty="0">
              <a:latin typeface="Arial (Body)"/>
            </a:endParaRPr>
          </a:p>
          <a:p>
            <a:pPr algn="ctr">
              <a:spcAft>
                <a:spcPts val="50"/>
              </a:spcAft>
            </a:pPr>
            <a:r>
              <a:rPr lang="en-GB" sz="1870" dirty="0">
                <a:latin typeface="Arial (Body)"/>
              </a:rPr>
              <a:t>0.000191</a:t>
            </a:r>
          </a:p>
          <a:p>
            <a:pPr algn="ctr"/>
            <a:r>
              <a:rPr lang="en-GB" sz="1870" dirty="0">
                <a:latin typeface="Arial (Body)"/>
              </a:rPr>
              <a:t>–</a:t>
            </a:r>
          </a:p>
          <a:p>
            <a:pPr algn="ctr">
              <a:spcAft>
                <a:spcPts val="50"/>
              </a:spcAft>
            </a:pPr>
            <a:r>
              <a:rPr lang="en-GB" sz="1870" dirty="0">
                <a:latin typeface="Arial (Body)"/>
              </a:rPr>
              <a:t>0.003369</a:t>
            </a:r>
          </a:p>
          <a:p>
            <a:pPr>
              <a:spcAft>
                <a:spcPts val="1600"/>
              </a:spcAft>
            </a:pPr>
            <a:endParaRPr lang="en-GB" dirty="0"/>
          </a:p>
          <a:p>
            <a:pPr>
              <a:spcAft>
                <a:spcPts val="1600"/>
              </a:spcAft>
            </a:pPr>
            <a:endParaRPr lang="en-GB" dirty="0"/>
          </a:p>
          <a:p>
            <a:pPr>
              <a:spcAft>
                <a:spcPts val="1600"/>
              </a:spcAft>
            </a:pPr>
            <a:endParaRPr lang="en-GB" dirty="0"/>
          </a:p>
        </p:txBody>
      </p:sp>
    </p:spTree>
    <p:extLst>
      <p:ext uri="{BB962C8B-B14F-4D97-AF65-F5344CB8AC3E}">
        <p14:creationId xmlns:p14="http://schemas.microsoft.com/office/powerpoint/2010/main" val="41288990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p:txBody>
          <a:bodyPr/>
          <a:lstStyle/>
          <a:p>
            <a:r>
              <a:rPr lang="fr-FR" sz="2700" dirty="0"/>
              <a:t>Evaluation and </a:t>
            </a:r>
            <a:r>
              <a:rPr lang="fr-FR" sz="2700" dirty="0" err="1"/>
              <a:t>Results</a:t>
            </a:r>
            <a:endParaRPr lang="fr-FR" sz="2700"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28</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18" name="titre_Understanding EMG Signals"/>
          <p:cNvSpPr txBox="1">
            <a:spLocks/>
          </p:cNvSpPr>
          <p:nvPr/>
        </p:nvSpPr>
        <p:spPr>
          <a:xfrm>
            <a:off x="766371" y="1867178"/>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r>
              <a:rPr lang="en-GB" sz="2800" dirty="0">
                <a:solidFill>
                  <a:srgbClr val="FF9800"/>
                </a:solidFill>
              </a:rPr>
              <a:t>Model Time Complexity</a:t>
            </a:r>
            <a:endParaRPr lang="en" sz="2800" dirty="0">
              <a:solidFill>
                <a:srgbClr val="FF98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12795"/>
            <a:ext cx="7593980" cy="2787663"/>
          </a:xfrm>
          <a:prstGeom prst="rect">
            <a:avLst/>
          </a:prstGeom>
        </p:spPr>
      </p:pic>
      <p:sp>
        <p:nvSpPr>
          <p:cNvPr id="24" name="CM"/>
          <p:cNvSpPr txBox="1">
            <a:spLocks/>
          </p:cNvSpPr>
          <p:nvPr/>
        </p:nvSpPr>
        <p:spPr>
          <a:xfrm>
            <a:off x="7926101" y="3112795"/>
            <a:ext cx="4265899" cy="2436256"/>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342900" indent="-342900">
              <a:lnSpc>
                <a:spcPct val="150000"/>
              </a:lnSpc>
              <a:spcAft>
                <a:spcPts val="1400"/>
              </a:spcAft>
              <a:buClr>
                <a:srgbClr val="FF9800"/>
              </a:buClr>
            </a:pPr>
            <a:r>
              <a:rPr lang="en-GB" dirty="0"/>
              <a:t>150 </a:t>
            </a:r>
            <a:r>
              <a:rPr lang="en-GB" dirty="0" err="1"/>
              <a:t>ms</a:t>
            </a:r>
            <a:r>
              <a:rPr lang="en-GB" dirty="0"/>
              <a:t> window vs 1.86 </a:t>
            </a:r>
            <a:r>
              <a:rPr lang="en-GB" dirty="0" err="1"/>
              <a:t>ms</a:t>
            </a:r>
            <a:r>
              <a:rPr lang="en-GB" dirty="0"/>
              <a:t> processing.</a:t>
            </a:r>
          </a:p>
          <a:p>
            <a:pPr marL="342900" indent="-342900">
              <a:lnSpc>
                <a:spcPct val="150000"/>
              </a:lnSpc>
              <a:spcAft>
                <a:spcPts val="1400"/>
              </a:spcAft>
              <a:buClr>
                <a:srgbClr val="FF9800"/>
              </a:buClr>
            </a:pPr>
            <a:r>
              <a:rPr lang="en-GB" dirty="0"/>
              <a:t>100 </a:t>
            </a:r>
            <a:r>
              <a:rPr lang="en-GB" dirty="0" err="1"/>
              <a:t>ms</a:t>
            </a:r>
            <a:r>
              <a:rPr lang="en-GB" dirty="0"/>
              <a:t> stride → ~98 </a:t>
            </a:r>
            <a:r>
              <a:rPr lang="en-GB" dirty="0" err="1"/>
              <a:t>ms</a:t>
            </a:r>
            <a:r>
              <a:rPr lang="en-GB" dirty="0"/>
              <a:t> spare time.</a:t>
            </a:r>
            <a:endParaRPr lang="fr-FR" dirty="0"/>
          </a:p>
        </p:txBody>
      </p:sp>
    </p:spTree>
    <p:extLst>
      <p:ext uri="{BB962C8B-B14F-4D97-AF65-F5344CB8AC3E}">
        <p14:creationId xmlns:p14="http://schemas.microsoft.com/office/powerpoint/2010/main" val="17445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p:txBody>
          <a:bodyPr/>
          <a:lstStyle/>
          <a:p>
            <a:r>
              <a:rPr lang="fr-FR" sz="2700" dirty="0"/>
              <a:t>Evaluation and </a:t>
            </a:r>
            <a:r>
              <a:rPr lang="fr-FR" sz="2700" dirty="0" err="1"/>
              <a:t>Results</a:t>
            </a:r>
            <a:endParaRPr lang="fr-FR" sz="2700"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29</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18" name="titre_Understanding EMG Signals"/>
          <p:cNvSpPr txBox="1">
            <a:spLocks/>
          </p:cNvSpPr>
          <p:nvPr/>
        </p:nvSpPr>
        <p:spPr>
          <a:xfrm>
            <a:off x="766371" y="1893088"/>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r>
              <a:rPr lang="en-GB" sz="2600" dirty="0">
                <a:solidFill>
                  <a:srgbClr val="FF9800"/>
                </a:solidFill>
              </a:rPr>
              <a:t>Model Performance Comparison</a:t>
            </a:r>
          </a:p>
        </p:txBody>
      </p:sp>
      <p:sp>
        <p:nvSpPr>
          <p:cNvPr id="23" name="Text Placeholder 2"/>
          <p:cNvSpPr>
            <a:spLocks noGrp="1"/>
          </p:cNvSpPr>
          <p:nvPr>
            <p:ph type="body" idx="1"/>
          </p:nvPr>
        </p:nvSpPr>
        <p:spPr>
          <a:xfrm>
            <a:off x="623383" y="2271651"/>
            <a:ext cx="10492404" cy="4194000"/>
          </a:xfrm>
        </p:spPr>
        <p:txBody>
          <a:bodyPr/>
          <a:lstStyle/>
          <a:p>
            <a:pPr marL="342900" indent="-342900">
              <a:buClr>
                <a:srgbClr val="FC9702"/>
              </a:buClr>
            </a:pPr>
            <a:r>
              <a:rPr lang="en-GB" sz="2300" dirty="0"/>
              <a:t>The model performance is compared against three other models: CNN-1D, CNN-2D, and CNN-LSTM. </a:t>
            </a:r>
          </a:p>
          <a:p>
            <a:pPr marL="342900" indent="-342900">
              <a:buClr>
                <a:srgbClr val="FC9702"/>
              </a:buClr>
            </a:pPr>
            <a:r>
              <a:rPr lang="en-GB" sz="2300" dirty="0"/>
              <a:t>The models were tested on the same dataset, on all the 40 subjects and the same 15 hand gestures.</a:t>
            </a:r>
          </a:p>
          <a:p>
            <a:pPr marL="342900" indent="-342900">
              <a:buClr>
                <a:srgbClr val="FC9702"/>
              </a:buClr>
            </a:pPr>
            <a:r>
              <a:rPr lang="en-GB" sz="2300" dirty="0"/>
              <a:t>Comparison focus on the test accuracy and Matthews Correlation Coefficient (MCC), and model complexity as indicated by the total and trainable parameters.</a:t>
            </a:r>
          </a:p>
          <a:p>
            <a:pPr marL="342900" indent="-342900">
              <a:buClr>
                <a:srgbClr val="FC9702"/>
              </a:buClr>
            </a:pPr>
            <a:endParaRPr lang="en-GB" sz="2200" dirty="0"/>
          </a:p>
        </p:txBody>
      </p:sp>
    </p:spTree>
    <p:extLst>
      <p:ext uri="{BB962C8B-B14F-4D97-AF65-F5344CB8AC3E}">
        <p14:creationId xmlns:p14="http://schemas.microsoft.com/office/powerpoint/2010/main" val="31965104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p:txBody>
          <a:bodyPr/>
          <a:lstStyle/>
          <a:p>
            <a:r>
              <a:rPr lang="fr-FR" sz="2700" dirty="0"/>
              <a:t>Evaluation and </a:t>
            </a:r>
            <a:r>
              <a:rPr lang="fr-FR" sz="2700" dirty="0" err="1"/>
              <a:t>Results</a:t>
            </a:r>
            <a:endParaRPr lang="fr-FR" sz="2700"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30</a:t>
            </a:fld>
            <a:endParaRPr lang="en-US" sz="1800" dirty="0">
              <a:solidFill>
                <a:srgbClr val="3F5378"/>
              </a:solidFill>
              <a:latin typeface="Roboto Condensed" panose="020B0604020202020204"/>
            </a:endParaRPr>
          </a:p>
        </p:txBody>
      </p:sp>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18" name="titre_Understanding EMG Signals"/>
          <p:cNvSpPr txBox="1">
            <a:spLocks/>
          </p:cNvSpPr>
          <p:nvPr/>
        </p:nvSpPr>
        <p:spPr>
          <a:xfrm>
            <a:off x="766371" y="1833385"/>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r>
              <a:rPr lang="en-GB" sz="2500" dirty="0">
                <a:solidFill>
                  <a:srgbClr val="FF9800"/>
                </a:solidFill>
              </a:rPr>
              <a:t>Model Performance Comparison</a:t>
            </a:r>
          </a:p>
        </p:txBody>
      </p:sp>
      <p:sp>
        <p:nvSpPr>
          <p:cNvPr id="17" name="CM"/>
          <p:cNvSpPr txBox="1">
            <a:spLocks/>
          </p:cNvSpPr>
          <p:nvPr/>
        </p:nvSpPr>
        <p:spPr>
          <a:xfrm>
            <a:off x="7682367" y="2645627"/>
            <a:ext cx="4317911" cy="2612724"/>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342900" indent="-342900">
              <a:spcAft>
                <a:spcPts val="1400"/>
              </a:spcAft>
              <a:buClr>
                <a:srgbClr val="FF9800"/>
              </a:buClr>
            </a:pPr>
            <a:r>
              <a:rPr lang="fr-FR" sz="1800" dirty="0"/>
              <a:t>Highest test </a:t>
            </a:r>
            <a:r>
              <a:rPr lang="fr-FR" sz="1800" dirty="0" err="1"/>
              <a:t>accuracy</a:t>
            </a:r>
            <a:r>
              <a:rPr lang="fr-FR" sz="1800" dirty="0"/>
              <a:t> &amp; MCC </a:t>
            </a:r>
            <a:r>
              <a:rPr lang="fr-FR" sz="1800" dirty="0" err="1"/>
              <a:t>among</a:t>
            </a:r>
            <a:r>
              <a:rPr lang="fr-FR" sz="1800" dirty="0"/>
              <a:t> all </a:t>
            </a:r>
            <a:r>
              <a:rPr lang="fr-FR" sz="1800" dirty="0" err="1"/>
              <a:t>models</a:t>
            </a:r>
            <a:r>
              <a:rPr lang="fr-FR" sz="1800" dirty="0"/>
              <a:t>.</a:t>
            </a:r>
          </a:p>
          <a:p>
            <a:pPr marL="342900" indent="-342900">
              <a:spcAft>
                <a:spcPts val="1400"/>
              </a:spcAft>
              <a:buClr>
                <a:srgbClr val="FF9800"/>
              </a:buClr>
            </a:pPr>
            <a:r>
              <a:rPr lang="fr-FR" sz="1800" dirty="0"/>
              <a:t>consistent (</a:t>
            </a:r>
            <a:r>
              <a:rPr lang="fr-FR" sz="1800" dirty="0" err="1"/>
              <a:t>lowest</a:t>
            </a:r>
            <a:r>
              <a:rPr lang="fr-FR" sz="1800" dirty="0"/>
              <a:t> test‑</a:t>
            </a:r>
            <a:r>
              <a:rPr lang="fr-FR" sz="1800" dirty="0" err="1"/>
              <a:t>accuracy</a:t>
            </a:r>
            <a:r>
              <a:rPr lang="fr-FR" sz="1800" dirty="0"/>
              <a:t> SD).</a:t>
            </a:r>
          </a:p>
          <a:p>
            <a:pPr marL="342900" indent="-342900">
              <a:spcAft>
                <a:spcPts val="1400"/>
              </a:spcAft>
              <a:buClr>
                <a:srgbClr val="FF9800"/>
              </a:buClr>
            </a:pPr>
            <a:r>
              <a:rPr lang="fr-FR" sz="1800" dirty="0" err="1"/>
              <a:t>Tight</a:t>
            </a:r>
            <a:r>
              <a:rPr lang="fr-FR" sz="1800" dirty="0"/>
              <a:t> performance spread </a:t>
            </a:r>
            <a:r>
              <a:rPr lang="fr-FR" sz="1800" dirty="0" err="1"/>
              <a:t>across</a:t>
            </a:r>
            <a:r>
              <a:rPr lang="fr-FR" sz="1800" dirty="0"/>
              <a:t> </a:t>
            </a:r>
            <a:r>
              <a:rPr lang="fr-FR" sz="1800" dirty="0" err="1"/>
              <a:t>subjects</a:t>
            </a:r>
            <a:r>
              <a:rPr lang="fr-FR" sz="1800" dirty="0"/>
              <a:t>.</a:t>
            </a:r>
          </a:p>
          <a:p>
            <a:pPr marL="342900" indent="-342900">
              <a:spcAft>
                <a:spcPts val="1400"/>
              </a:spcAft>
              <a:buClr>
                <a:srgbClr val="FF9800"/>
              </a:buClr>
            </a:pPr>
            <a:r>
              <a:rPr lang="fr-FR" sz="1800" dirty="0"/>
              <a:t>Superior </a:t>
            </a:r>
            <a:r>
              <a:rPr lang="fr-FR" sz="1800" dirty="0" err="1"/>
              <a:t>accuracy</a:t>
            </a:r>
            <a:r>
              <a:rPr lang="fr-FR" sz="1800" dirty="0"/>
              <a:t> </a:t>
            </a:r>
            <a:r>
              <a:rPr lang="fr-FR" sz="1800" dirty="0" err="1"/>
              <a:t>with</a:t>
            </a:r>
            <a:r>
              <a:rPr lang="fr-FR" sz="1800" dirty="0"/>
              <a:t> </a:t>
            </a:r>
            <a:r>
              <a:rPr lang="fr-FR" sz="1800" dirty="0" err="1"/>
              <a:t>only</a:t>
            </a:r>
            <a:r>
              <a:rPr lang="fr-FR" sz="1800" dirty="0"/>
              <a:t> ~128K </a:t>
            </a:r>
            <a:r>
              <a:rPr lang="fr-FR" sz="1800" dirty="0" err="1"/>
              <a:t>parameters</a:t>
            </a:r>
            <a:r>
              <a:rPr lang="fr-FR" sz="1800" dirty="0"/>
              <a:t>.</a:t>
            </a:r>
          </a:p>
          <a:p>
            <a:pPr marL="342900" indent="-342900">
              <a:spcAft>
                <a:spcPts val="1400"/>
              </a:spcAft>
              <a:buClr>
                <a:srgbClr val="FF9800"/>
              </a:buClr>
            </a:pPr>
            <a:r>
              <a:rPr lang="fr-FR" sz="1800" dirty="0" err="1"/>
              <a:t>Demonstrates</a:t>
            </a:r>
            <a:r>
              <a:rPr lang="fr-FR" sz="1800" dirty="0"/>
              <a:t> transformer </a:t>
            </a:r>
            <a:r>
              <a:rPr lang="fr-FR" sz="1800" dirty="0" err="1"/>
              <a:t>efficiency</a:t>
            </a:r>
            <a:r>
              <a:rPr lang="fr-FR" sz="1800" dirty="0"/>
              <a:t> in temporal </a:t>
            </a:r>
            <a:r>
              <a:rPr lang="fr-FR" sz="1800" dirty="0" err="1"/>
              <a:t>learning</a:t>
            </a:r>
            <a:r>
              <a:rPr lang="fr-FR" sz="1800" dirty="0"/>
              <a:t>.</a:t>
            </a:r>
          </a:p>
        </p:txBody>
      </p:sp>
      <p:graphicFrame>
        <p:nvGraphicFramePr>
          <p:cNvPr id="13" name="Table 12"/>
          <p:cNvGraphicFramePr>
            <a:graphicFrameLocks noGrp="1"/>
          </p:cNvGraphicFramePr>
          <p:nvPr>
            <p:extLst>
              <p:ext uri="{D42A27DB-BD31-4B8C-83A1-F6EECF244321}">
                <p14:modId xmlns:p14="http://schemas.microsoft.com/office/powerpoint/2010/main" val="3260372854"/>
              </p:ext>
            </p:extLst>
          </p:nvPr>
        </p:nvGraphicFramePr>
        <p:xfrm>
          <a:off x="67878" y="3001419"/>
          <a:ext cx="7475922" cy="2304008"/>
        </p:xfrm>
        <a:graphic>
          <a:graphicData uri="http://schemas.openxmlformats.org/drawingml/2006/table">
            <a:tbl>
              <a:tblPr firstRow="1" bandRow="1">
                <a:tableStyleId>{5C22544A-7EE6-4342-B048-85BDC9FD1C3A}</a:tableStyleId>
              </a:tblPr>
              <a:tblGrid>
                <a:gridCol w="2413750">
                  <a:extLst>
                    <a:ext uri="{9D8B030D-6E8A-4147-A177-3AD203B41FA5}">
                      <a16:colId xmlns:a16="http://schemas.microsoft.com/office/drawing/2014/main" val="20000"/>
                    </a:ext>
                  </a:extLst>
                </a:gridCol>
                <a:gridCol w="1272011">
                  <a:extLst>
                    <a:ext uri="{9D8B030D-6E8A-4147-A177-3AD203B41FA5}">
                      <a16:colId xmlns:a16="http://schemas.microsoft.com/office/drawing/2014/main" val="20001"/>
                    </a:ext>
                  </a:extLst>
                </a:gridCol>
                <a:gridCol w="1256418">
                  <a:extLst>
                    <a:ext uri="{9D8B030D-6E8A-4147-A177-3AD203B41FA5}">
                      <a16:colId xmlns:a16="http://schemas.microsoft.com/office/drawing/2014/main" val="20002"/>
                    </a:ext>
                  </a:extLst>
                </a:gridCol>
                <a:gridCol w="1257393">
                  <a:extLst>
                    <a:ext uri="{9D8B030D-6E8A-4147-A177-3AD203B41FA5}">
                      <a16:colId xmlns:a16="http://schemas.microsoft.com/office/drawing/2014/main" val="20003"/>
                    </a:ext>
                  </a:extLst>
                </a:gridCol>
                <a:gridCol w="1276350">
                  <a:extLst>
                    <a:ext uri="{9D8B030D-6E8A-4147-A177-3AD203B41FA5}">
                      <a16:colId xmlns:a16="http://schemas.microsoft.com/office/drawing/2014/main" val="20004"/>
                    </a:ext>
                  </a:extLst>
                </a:gridCol>
              </a:tblGrid>
              <a:tr h="622828">
                <a:tc>
                  <a:txBody>
                    <a:bodyPr/>
                    <a:lstStyle/>
                    <a:p>
                      <a:pPr algn="ctr"/>
                      <a:r>
                        <a:rPr lang="en-GB" sz="1600" b="1" dirty="0"/>
                        <a:t>Metric</a:t>
                      </a:r>
                      <a:r>
                        <a:rPr lang="en-GB" sz="1600" dirty="0"/>
                        <a:t> </a:t>
                      </a:r>
                    </a:p>
                  </a:txBody>
                  <a:tcPr>
                    <a:solidFill>
                      <a:srgbClr val="3F5378"/>
                    </a:solidFill>
                  </a:tcPr>
                </a:tc>
                <a:tc>
                  <a:txBody>
                    <a:bodyPr/>
                    <a:lstStyle/>
                    <a:p>
                      <a:pPr algn="ctr"/>
                      <a:r>
                        <a:rPr lang="en-GB" sz="1600" dirty="0"/>
                        <a:t>Proposed Model</a:t>
                      </a:r>
                    </a:p>
                  </a:txBody>
                  <a:tcPr>
                    <a:solidFill>
                      <a:srgbClr val="3F5378"/>
                    </a:solidFill>
                  </a:tcPr>
                </a:tc>
                <a:tc>
                  <a:txBody>
                    <a:bodyPr/>
                    <a:lstStyle/>
                    <a:p>
                      <a:pPr algn="ctr"/>
                      <a:r>
                        <a:rPr lang="en-GB" sz="1600" dirty="0"/>
                        <a:t>CNN-1D</a:t>
                      </a:r>
                    </a:p>
                  </a:txBody>
                  <a:tcPr>
                    <a:solidFill>
                      <a:srgbClr val="3F5378"/>
                    </a:solidFill>
                  </a:tcPr>
                </a:tc>
                <a:tc>
                  <a:txBody>
                    <a:bodyPr/>
                    <a:lstStyle/>
                    <a:p>
                      <a:pPr algn="ctr"/>
                      <a:r>
                        <a:rPr lang="en-GB" sz="1600" dirty="0"/>
                        <a:t>CNN-LSTM</a:t>
                      </a:r>
                    </a:p>
                  </a:txBody>
                  <a:tcPr>
                    <a:solidFill>
                      <a:srgbClr val="3F5378"/>
                    </a:solidFill>
                  </a:tcPr>
                </a:tc>
                <a:tc>
                  <a:txBody>
                    <a:bodyPr/>
                    <a:lstStyle/>
                    <a:p>
                      <a:pPr algn="ctr"/>
                      <a:r>
                        <a:rPr lang="en-GB" sz="1600" dirty="0"/>
                        <a:t>CNN-2D</a:t>
                      </a:r>
                    </a:p>
                  </a:txBody>
                  <a:tcPr>
                    <a:solidFill>
                      <a:srgbClr val="3F5378"/>
                    </a:solidFill>
                  </a:tcPr>
                </a:tc>
                <a:extLst>
                  <a:ext uri="{0D108BD9-81ED-4DB2-BD59-A6C34878D82A}">
                    <a16:rowId xmlns:a16="http://schemas.microsoft.com/office/drawing/2014/main" val="10000"/>
                  </a:ext>
                </a:extLst>
              </a:tr>
              <a:tr h="420295">
                <a:tc>
                  <a:txBody>
                    <a:bodyPr/>
                    <a:lstStyle/>
                    <a:p>
                      <a:r>
                        <a:rPr lang="en-GB" sz="1600" b="1" dirty="0">
                          <a:solidFill>
                            <a:schemeClr val="bg1"/>
                          </a:solidFill>
                        </a:rPr>
                        <a:t>Avg. Test Acc. (%)</a:t>
                      </a:r>
                      <a:endParaRPr lang="en-GB" b="1" dirty="0">
                        <a:solidFill>
                          <a:schemeClr val="bg1"/>
                        </a:solidFill>
                      </a:endParaRPr>
                    </a:p>
                  </a:txBody>
                  <a:tcPr>
                    <a:solidFill>
                      <a:srgbClr val="3F5378"/>
                    </a:solidFill>
                  </a:tcPr>
                </a:tc>
                <a:tc>
                  <a:txBody>
                    <a:bodyPr/>
                    <a:lstStyle/>
                    <a:p>
                      <a:pPr algn="ctr"/>
                      <a:endParaRPr lang="en-GB" sz="1600" b="0" dirty="0"/>
                    </a:p>
                  </a:txBody>
                  <a:tcPr/>
                </a:tc>
                <a:tc>
                  <a:txBody>
                    <a:bodyPr/>
                    <a:lstStyle/>
                    <a:p>
                      <a:pPr algn="ctr"/>
                      <a:endParaRPr lang="en-GB" sz="1600" b="0" dirty="0"/>
                    </a:p>
                  </a:txBody>
                  <a:tcPr/>
                </a:tc>
                <a:tc>
                  <a:txBody>
                    <a:bodyPr/>
                    <a:lstStyle/>
                    <a:p>
                      <a:pPr algn="ctr"/>
                      <a:endParaRPr lang="en-GB" sz="1600" b="0" dirty="0"/>
                    </a:p>
                  </a:txBody>
                  <a:tcPr/>
                </a:tc>
                <a:tc>
                  <a:txBody>
                    <a:bodyPr/>
                    <a:lstStyle/>
                    <a:p>
                      <a:pPr algn="ctr"/>
                      <a:endParaRPr lang="en-GB" sz="1600" b="1" dirty="0"/>
                    </a:p>
                  </a:txBody>
                  <a:tcPr/>
                </a:tc>
                <a:extLst>
                  <a:ext uri="{0D108BD9-81ED-4DB2-BD59-A6C34878D82A}">
                    <a16:rowId xmlns:a16="http://schemas.microsoft.com/office/drawing/2014/main" val="10001"/>
                  </a:ext>
                </a:extLst>
              </a:tr>
              <a:tr h="420295">
                <a:tc>
                  <a:txBody>
                    <a:bodyPr/>
                    <a:lstStyle/>
                    <a:p>
                      <a:r>
                        <a:rPr lang="en-GB" sz="1600" b="1" dirty="0">
                          <a:solidFill>
                            <a:schemeClr val="bg1"/>
                          </a:solidFill>
                        </a:rPr>
                        <a:t>Avg. MCC </a:t>
                      </a:r>
                      <a:endParaRPr lang="en-GB" b="1" dirty="0">
                        <a:solidFill>
                          <a:schemeClr val="bg1"/>
                        </a:solidFill>
                      </a:endParaRPr>
                    </a:p>
                  </a:txBody>
                  <a:tcPr>
                    <a:solidFill>
                      <a:srgbClr val="3F5378"/>
                    </a:solidFill>
                  </a:tcPr>
                </a:tc>
                <a:tc>
                  <a:txBody>
                    <a:bodyPr/>
                    <a:lstStyle/>
                    <a:p>
                      <a:pPr algn="ctr"/>
                      <a:endParaRPr lang="en-GB" sz="1600" b="0" dirty="0"/>
                    </a:p>
                  </a:txBody>
                  <a:tcPr/>
                </a:tc>
                <a:tc>
                  <a:txBody>
                    <a:bodyPr/>
                    <a:lstStyle/>
                    <a:p>
                      <a:pPr algn="ctr"/>
                      <a:endParaRPr lang="en-GB" sz="1600" b="0" dirty="0"/>
                    </a:p>
                  </a:txBody>
                  <a:tcPr/>
                </a:tc>
                <a:tc>
                  <a:txBody>
                    <a:bodyPr/>
                    <a:lstStyle/>
                    <a:p>
                      <a:pPr algn="ctr"/>
                      <a:endParaRPr lang="en-GB" sz="1600" b="0" dirty="0"/>
                    </a:p>
                  </a:txBody>
                  <a:tcPr/>
                </a:tc>
                <a:tc>
                  <a:txBody>
                    <a:bodyPr/>
                    <a:lstStyle/>
                    <a:p>
                      <a:pPr algn="ctr"/>
                      <a:endParaRPr lang="en-GB" sz="1600" b="1" dirty="0"/>
                    </a:p>
                  </a:txBody>
                  <a:tcPr/>
                </a:tc>
                <a:extLst>
                  <a:ext uri="{0D108BD9-81ED-4DB2-BD59-A6C34878D82A}">
                    <a16:rowId xmlns:a16="http://schemas.microsoft.com/office/drawing/2014/main" val="10002"/>
                  </a:ext>
                </a:extLst>
              </a:tr>
              <a:tr h="420295">
                <a:tc>
                  <a:txBody>
                    <a:bodyPr/>
                    <a:lstStyle/>
                    <a:p>
                      <a:r>
                        <a:rPr lang="en-GB" sz="1600" b="1" dirty="0">
                          <a:solidFill>
                            <a:schemeClr val="bg1"/>
                          </a:solidFill>
                        </a:rPr>
                        <a:t>Total Parameters</a:t>
                      </a:r>
                    </a:p>
                  </a:txBody>
                  <a:tcPr>
                    <a:solidFill>
                      <a:srgbClr val="3F5378"/>
                    </a:solidFill>
                  </a:tcPr>
                </a:tc>
                <a:tc>
                  <a:txBody>
                    <a:bodyPr/>
                    <a:lstStyle/>
                    <a:p>
                      <a:pPr algn="ctr"/>
                      <a:endParaRPr lang="en-GB" sz="1600" b="0" dirty="0"/>
                    </a:p>
                  </a:txBody>
                  <a:tcPr/>
                </a:tc>
                <a:tc>
                  <a:txBody>
                    <a:bodyPr/>
                    <a:lstStyle/>
                    <a:p>
                      <a:pPr algn="ctr"/>
                      <a:endParaRPr lang="en-GB" sz="1600" b="1" dirty="0"/>
                    </a:p>
                  </a:txBody>
                  <a:tcPr/>
                </a:tc>
                <a:tc>
                  <a:txBody>
                    <a:bodyPr/>
                    <a:lstStyle/>
                    <a:p>
                      <a:pPr algn="ctr"/>
                      <a:endParaRPr lang="en-GB" sz="1600" b="0" dirty="0"/>
                    </a:p>
                  </a:txBody>
                  <a:tcPr/>
                </a:tc>
                <a:tc>
                  <a:txBody>
                    <a:bodyPr/>
                    <a:lstStyle/>
                    <a:p>
                      <a:pPr algn="ctr"/>
                      <a:endParaRPr lang="en-GB" sz="1600" b="0" dirty="0"/>
                    </a:p>
                  </a:txBody>
                  <a:tcPr/>
                </a:tc>
                <a:extLst>
                  <a:ext uri="{0D108BD9-81ED-4DB2-BD59-A6C34878D82A}">
                    <a16:rowId xmlns:a16="http://schemas.microsoft.com/office/drawing/2014/main" val="10003"/>
                  </a:ext>
                </a:extLst>
              </a:tr>
              <a:tr h="420295">
                <a:tc>
                  <a:txBody>
                    <a:bodyPr/>
                    <a:lstStyle/>
                    <a:p>
                      <a:r>
                        <a:rPr lang="en-GB" sz="1600" b="1" dirty="0">
                          <a:solidFill>
                            <a:schemeClr val="bg1"/>
                          </a:solidFill>
                        </a:rPr>
                        <a:t>Trainable Parameters</a:t>
                      </a:r>
                    </a:p>
                  </a:txBody>
                  <a:tcPr>
                    <a:solidFill>
                      <a:srgbClr val="3F5378"/>
                    </a:solidFill>
                  </a:tcPr>
                </a:tc>
                <a:tc>
                  <a:txBody>
                    <a:bodyPr/>
                    <a:lstStyle/>
                    <a:p>
                      <a:pPr algn="ctr"/>
                      <a:endParaRPr lang="en-GB" sz="1600" b="0" dirty="0"/>
                    </a:p>
                  </a:txBody>
                  <a:tcPr/>
                </a:tc>
                <a:tc>
                  <a:txBody>
                    <a:bodyPr/>
                    <a:lstStyle/>
                    <a:p>
                      <a:pPr algn="ctr"/>
                      <a:endParaRPr lang="en-GB" sz="1600" b="1" dirty="0"/>
                    </a:p>
                  </a:txBody>
                  <a:tcPr/>
                </a:tc>
                <a:tc>
                  <a:txBody>
                    <a:bodyPr/>
                    <a:lstStyle/>
                    <a:p>
                      <a:pPr algn="ctr"/>
                      <a:endParaRPr lang="en-GB" sz="1600" b="0" dirty="0"/>
                    </a:p>
                  </a:txBody>
                  <a:tcPr/>
                </a:tc>
                <a:tc>
                  <a:txBody>
                    <a:bodyPr/>
                    <a:lstStyle/>
                    <a:p>
                      <a:pPr algn="ctr"/>
                      <a:endParaRPr lang="en-GB" b="0" dirty="0"/>
                    </a:p>
                  </a:txBody>
                  <a:tcPr/>
                </a:tc>
                <a:extLst>
                  <a:ext uri="{0D108BD9-81ED-4DB2-BD59-A6C34878D82A}">
                    <a16:rowId xmlns:a16="http://schemas.microsoft.com/office/drawing/2014/main" val="10004"/>
                  </a:ext>
                </a:extLst>
              </a:tr>
            </a:tbl>
          </a:graphicData>
        </a:graphic>
      </p:graphicFrame>
      <p:sp>
        <p:nvSpPr>
          <p:cNvPr id="16" name="TextBox 15"/>
          <p:cNvSpPr txBox="1"/>
          <p:nvPr/>
        </p:nvSpPr>
        <p:spPr>
          <a:xfrm>
            <a:off x="6271497" y="3610666"/>
            <a:ext cx="1277914" cy="2441694"/>
          </a:xfrm>
          <a:prstGeom prst="rect">
            <a:avLst/>
          </a:prstGeom>
          <a:noFill/>
        </p:spPr>
        <p:txBody>
          <a:bodyPr wrap="none" rtlCol="0">
            <a:spAutoFit/>
          </a:bodyPr>
          <a:lstStyle/>
          <a:p>
            <a:pPr algn="ctr">
              <a:spcAft>
                <a:spcPts val="1400"/>
              </a:spcAft>
            </a:pPr>
            <a:r>
              <a:rPr lang="en-GB" sz="1600" dirty="0">
                <a:latin typeface="Arial (Body)"/>
              </a:rPr>
              <a:t>73.12 ±6.48</a:t>
            </a:r>
          </a:p>
          <a:p>
            <a:pPr algn="ctr">
              <a:spcAft>
                <a:spcPts val="1400"/>
              </a:spcAft>
            </a:pPr>
            <a:r>
              <a:rPr lang="en-GB" sz="1600" dirty="0">
                <a:latin typeface="Arial (Body)"/>
              </a:rPr>
              <a:t>0.8009</a:t>
            </a:r>
          </a:p>
          <a:p>
            <a:pPr algn="ctr">
              <a:spcAft>
                <a:spcPts val="1400"/>
              </a:spcAft>
            </a:pPr>
            <a:r>
              <a:rPr lang="en-GB" sz="1600" dirty="0">
                <a:latin typeface="Arial (Body)"/>
              </a:rPr>
              <a:t>342,256</a:t>
            </a:r>
          </a:p>
          <a:p>
            <a:pPr algn="ctr">
              <a:spcAft>
                <a:spcPts val="1400"/>
              </a:spcAft>
            </a:pPr>
            <a:r>
              <a:rPr lang="en-GB" sz="1600" dirty="0">
                <a:latin typeface="Arial (Body)"/>
              </a:rPr>
              <a:t>342,256</a:t>
            </a:r>
          </a:p>
          <a:p>
            <a:endParaRPr lang="en-GB" dirty="0"/>
          </a:p>
          <a:p>
            <a:endParaRPr lang="en-GB" dirty="0"/>
          </a:p>
          <a:p>
            <a:endParaRPr lang="en-GB" dirty="0"/>
          </a:p>
        </p:txBody>
      </p:sp>
      <p:sp>
        <p:nvSpPr>
          <p:cNvPr id="22" name="TextBox 21"/>
          <p:cNvSpPr txBox="1"/>
          <p:nvPr/>
        </p:nvSpPr>
        <p:spPr>
          <a:xfrm>
            <a:off x="5010414" y="3610666"/>
            <a:ext cx="1266693" cy="2441694"/>
          </a:xfrm>
          <a:prstGeom prst="rect">
            <a:avLst/>
          </a:prstGeom>
          <a:noFill/>
        </p:spPr>
        <p:txBody>
          <a:bodyPr wrap="none" rtlCol="0">
            <a:spAutoFit/>
          </a:bodyPr>
          <a:lstStyle/>
          <a:p>
            <a:pPr algn="ctr">
              <a:spcAft>
                <a:spcPts val="1400"/>
              </a:spcAft>
            </a:pPr>
            <a:r>
              <a:rPr lang="en-GB" sz="1600" dirty="0">
                <a:latin typeface="Arial (Body)"/>
              </a:rPr>
              <a:t>73.79 ±6.19</a:t>
            </a:r>
          </a:p>
          <a:p>
            <a:pPr algn="ctr">
              <a:spcAft>
                <a:spcPts val="1400"/>
              </a:spcAft>
            </a:pPr>
            <a:r>
              <a:rPr lang="en-GB" sz="1600" dirty="0">
                <a:latin typeface="Arial (Body)"/>
              </a:rPr>
              <a:t>0.7216</a:t>
            </a:r>
          </a:p>
          <a:p>
            <a:pPr algn="ctr">
              <a:spcAft>
                <a:spcPts val="1400"/>
              </a:spcAft>
            </a:pPr>
            <a:r>
              <a:rPr lang="en-GB" sz="1600" dirty="0">
                <a:latin typeface="Arial (Body)"/>
              </a:rPr>
              <a:t>444,176</a:t>
            </a:r>
          </a:p>
          <a:p>
            <a:pPr algn="ctr">
              <a:spcAft>
                <a:spcPts val="1400"/>
              </a:spcAft>
            </a:pPr>
            <a:r>
              <a:rPr lang="en-GB" sz="1600" dirty="0">
                <a:latin typeface="Arial (Body)"/>
              </a:rPr>
              <a:t>443,664</a:t>
            </a:r>
          </a:p>
          <a:p>
            <a:endParaRPr lang="en-GB" dirty="0"/>
          </a:p>
          <a:p>
            <a:endParaRPr lang="en-GB" dirty="0"/>
          </a:p>
          <a:p>
            <a:endParaRPr lang="en-GB" dirty="0"/>
          </a:p>
        </p:txBody>
      </p:sp>
      <p:sp>
        <p:nvSpPr>
          <p:cNvPr id="25" name="TextBox 24"/>
          <p:cNvSpPr txBox="1"/>
          <p:nvPr/>
        </p:nvSpPr>
        <p:spPr>
          <a:xfrm>
            <a:off x="3763426" y="3610666"/>
            <a:ext cx="1266693" cy="2441694"/>
          </a:xfrm>
          <a:prstGeom prst="rect">
            <a:avLst/>
          </a:prstGeom>
          <a:noFill/>
        </p:spPr>
        <p:txBody>
          <a:bodyPr wrap="none" rtlCol="0">
            <a:spAutoFit/>
          </a:bodyPr>
          <a:lstStyle/>
          <a:p>
            <a:pPr algn="ctr">
              <a:spcAft>
                <a:spcPts val="1400"/>
              </a:spcAft>
            </a:pPr>
            <a:r>
              <a:rPr lang="en-GB" sz="1600" dirty="0">
                <a:latin typeface="Arial (Body)"/>
              </a:rPr>
              <a:t>75.35 ±5.93</a:t>
            </a:r>
          </a:p>
          <a:p>
            <a:pPr algn="ctr">
              <a:spcAft>
                <a:spcPts val="1400"/>
              </a:spcAft>
            </a:pPr>
            <a:r>
              <a:rPr lang="en-GB" sz="1600" dirty="0">
                <a:latin typeface="Arial (Body)"/>
              </a:rPr>
              <a:t>0.7379</a:t>
            </a:r>
          </a:p>
          <a:p>
            <a:pPr algn="ctr">
              <a:spcAft>
                <a:spcPts val="1400"/>
              </a:spcAft>
            </a:pPr>
            <a:r>
              <a:rPr lang="en-GB" sz="1600" b="1" dirty="0">
                <a:latin typeface="Arial (Body)"/>
              </a:rPr>
              <a:t>47,536</a:t>
            </a:r>
          </a:p>
          <a:p>
            <a:pPr algn="ctr">
              <a:spcAft>
                <a:spcPts val="1400"/>
              </a:spcAft>
            </a:pPr>
            <a:r>
              <a:rPr lang="en-GB" sz="1600" b="1" dirty="0">
                <a:latin typeface="Arial (Body)"/>
              </a:rPr>
              <a:t>47,408</a:t>
            </a:r>
          </a:p>
          <a:p>
            <a:endParaRPr lang="en-GB" dirty="0"/>
          </a:p>
          <a:p>
            <a:endParaRPr lang="en-GB" dirty="0"/>
          </a:p>
          <a:p>
            <a:endParaRPr lang="en-GB" dirty="0"/>
          </a:p>
        </p:txBody>
      </p:sp>
      <p:sp>
        <p:nvSpPr>
          <p:cNvPr id="26" name="TextBox 25"/>
          <p:cNvSpPr txBox="1"/>
          <p:nvPr/>
        </p:nvSpPr>
        <p:spPr>
          <a:xfrm>
            <a:off x="2477028" y="3610666"/>
            <a:ext cx="1266693" cy="2441694"/>
          </a:xfrm>
          <a:prstGeom prst="rect">
            <a:avLst/>
          </a:prstGeom>
          <a:noFill/>
        </p:spPr>
        <p:txBody>
          <a:bodyPr wrap="none" rtlCol="0">
            <a:spAutoFit/>
          </a:bodyPr>
          <a:lstStyle/>
          <a:p>
            <a:pPr algn="ctr">
              <a:spcAft>
                <a:spcPts val="1400"/>
              </a:spcAft>
            </a:pPr>
            <a:r>
              <a:rPr lang="en-GB" sz="1600" b="1" dirty="0">
                <a:latin typeface="Arial (Body)"/>
              </a:rPr>
              <a:t>82.98 ±5.34</a:t>
            </a:r>
          </a:p>
          <a:p>
            <a:pPr algn="ctr">
              <a:spcAft>
                <a:spcPts val="1400"/>
              </a:spcAft>
            </a:pPr>
            <a:r>
              <a:rPr lang="en-GB" sz="1600" b="1" dirty="0">
                <a:latin typeface="Arial (Body)"/>
              </a:rPr>
              <a:t>0.8178</a:t>
            </a:r>
          </a:p>
          <a:p>
            <a:pPr algn="ctr">
              <a:spcAft>
                <a:spcPts val="1400"/>
              </a:spcAft>
            </a:pPr>
            <a:r>
              <a:rPr lang="en-GB" sz="1600" dirty="0">
                <a:latin typeface="Arial (Body)"/>
              </a:rPr>
              <a:t>128,536</a:t>
            </a:r>
          </a:p>
          <a:p>
            <a:pPr algn="ctr">
              <a:spcAft>
                <a:spcPts val="1400"/>
              </a:spcAft>
            </a:pPr>
            <a:r>
              <a:rPr lang="en-GB" sz="1600" dirty="0">
                <a:latin typeface="Arial (Body)"/>
              </a:rPr>
              <a:t>128,408</a:t>
            </a:r>
          </a:p>
          <a:p>
            <a:endParaRPr lang="en-GB" dirty="0"/>
          </a:p>
          <a:p>
            <a:endParaRPr lang="en-GB" dirty="0"/>
          </a:p>
          <a:p>
            <a:endParaRPr lang="en-GB" dirty="0"/>
          </a:p>
        </p:txBody>
      </p:sp>
    </p:spTree>
    <p:extLst>
      <p:ext uri="{BB962C8B-B14F-4D97-AF65-F5344CB8AC3E}">
        <p14:creationId xmlns:p14="http://schemas.microsoft.com/office/powerpoint/2010/main" val="42474505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6" grpId="0"/>
      <p:bldP spid="22" grpId="0"/>
      <p:bldP spid="2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_background"/>
          <p:cNvSpPr>
            <a:spLocks noGrp="1"/>
          </p:cNvSpPr>
          <p:nvPr>
            <p:ph type="title"/>
          </p:nvPr>
        </p:nvSpPr>
        <p:spPr/>
        <p:txBody>
          <a:bodyPr/>
          <a:lstStyle/>
          <a:p>
            <a:r>
              <a:rPr lang="fr-FR" sz="2700" dirty="0"/>
              <a:t>Evaluation and </a:t>
            </a:r>
            <a:r>
              <a:rPr lang="fr-FR" sz="2700" dirty="0" err="1"/>
              <a:t>Results</a:t>
            </a:r>
            <a:endParaRPr lang="fr-FR" sz="2700" dirty="0">
              <a:solidFill>
                <a:srgbClr val="FF9800"/>
              </a:solidFill>
            </a:endParaRPr>
          </a:p>
        </p:txBody>
      </p:sp>
      <p:sp>
        <p:nvSpPr>
          <p:cNvPr id="4" name="Espace réservé du numéro de diapositive 3"/>
          <p:cNvSpPr>
            <a:spLocks noGrp="1"/>
          </p:cNvSpPr>
          <p:nvPr>
            <p:ph type="sldNum" idx="12"/>
          </p:nvPr>
        </p:nvSpPr>
        <p:spPr>
          <a:noFill/>
          <a:ln>
            <a:noFill/>
          </a:ln>
        </p:spPr>
        <p:txBody>
          <a:bodyPr lIns="91425" tIns="91425" rIns="91425" bIns="91425" anchor="ctr" anchorCtr="0">
            <a:noAutofit/>
          </a:bodyPr>
          <a:lstStyle/>
          <a:p>
            <a:fld id="{D57F1E4F-1CFF-5643-939E-02111984F565}" type="slidenum">
              <a:rPr lang="en-US" sz="1800" smtClean="0">
                <a:solidFill>
                  <a:srgbClr val="3F5378"/>
                </a:solidFill>
                <a:latin typeface="Roboto Condensed" panose="020B0604020202020204"/>
              </a:rPr>
              <a:pPr/>
              <a:t>31</a:t>
            </a:fld>
            <a:endParaRPr lang="en-US" sz="1800" dirty="0">
              <a:solidFill>
                <a:srgbClr val="3F5378"/>
              </a:solidFill>
              <a:latin typeface="Roboto Condensed" panose="020B0604020202020204"/>
            </a:endParaRPr>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52253"/>
            <a:ext cx="7936291" cy="4195011"/>
          </a:xfrm>
          <a:prstGeom prst="rect">
            <a:avLst/>
          </a:prstGeom>
        </p:spPr>
      </p:pic>
      <p:grpSp>
        <p:nvGrpSpPr>
          <p:cNvPr id="5" name="Shape_background"/>
          <p:cNvGrpSpPr/>
          <p:nvPr/>
        </p:nvGrpSpPr>
        <p:grpSpPr>
          <a:xfrm>
            <a:off x="457349" y="845814"/>
            <a:ext cx="309022" cy="376837"/>
            <a:chOff x="596350" y="929175"/>
            <a:chExt cx="407950" cy="497475"/>
          </a:xfrm>
        </p:grpSpPr>
        <p:sp>
          <p:nvSpPr>
            <p:cNvPr id="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
        <p:nvSpPr>
          <p:cNvPr id="28" name="titre_Understanding EMG Signals"/>
          <p:cNvSpPr txBox="1">
            <a:spLocks/>
          </p:cNvSpPr>
          <p:nvPr/>
        </p:nvSpPr>
        <p:spPr>
          <a:xfrm>
            <a:off x="698443" y="1828943"/>
            <a:ext cx="9244049" cy="579901"/>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ct val="100000"/>
              <a:buFont typeface="Roboto Condensed"/>
              <a:buNone/>
              <a:defRPr sz="2000" b="1" i="0" u="none" strike="noStrike" cap="none">
                <a:solidFill>
                  <a:srgbClr val="FFFFFF"/>
                </a:solidFill>
                <a:latin typeface="Roboto Condensed"/>
                <a:ea typeface="Roboto Condensed"/>
                <a:cs typeface="Roboto Condensed"/>
                <a:sym typeface="Roboto Condensed"/>
              </a:defRPr>
            </a:lvl1pPr>
            <a:lvl2pPr lvl="1">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buClr>
                <a:srgbClr val="FFFFFF"/>
              </a:buClr>
              <a:buSzPct val="100000"/>
              <a:buFont typeface="Roboto Condensed"/>
              <a:buNone/>
              <a:defRPr sz="2000" b="1">
                <a:solidFill>
                  <a:srgbClr val="FFFFFF"/>
                </a:solidFill>
                <a:latin typeface="Roboto Condensed"/>
                <a:ea typeface="Roboto Condensed"/>
                <a:cs typeface="Roboto Condensed"/>
                <a:sym typeface="Roboto Condensed"/>
              </a:defRPr>
            </a:lvl9pPr>
          </a:lstStyle>
          <a:p>
            <a:r>
              <a:rPr lang="en-GB" sz="2300" dirty="0">
                <a:solidFill>
                  <a:srgbClr val="FF9800"/>
                </a:solidFill>
              </a:rPr>
              <a:t>Proposed Model vs. CNN-1D Subject-wise Performance</a:t>
            </a:r>
          </a:p>
        </p:txBody>
      </p:sp>
      <p:sp>
        <p:nvSpPr>
          <p:cNvPr id="29" name="Text Placeholder 2"/>
          <p:cNvSpPr txBox="1">
            <a:spLocks/>
          </p:cNvSpPr>
          <p:nvPr/>
        </p:nvSpPr>
        <p:spPr>
          <a:xfrm>
            <a:off x="7848602" y="1970319"/>
            <a:ext cx="4255709" cy="4194000"/>
          </a:xfrm>
          <a:prstGeom prst="rect">
            <a:avLst/>
          </a:prstGeom>
          <a:noFill/>
          <a:ln>
            <a:noFill/>
          </a:ln>
        </p:spPr>
        <p:txBody>
          <a:bodyPr lIns="91425" tIns="91425" rIns="91425" bIns="91425" anchor="ctr"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R="0" lvl="1"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R="0" lvl="2"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R="0" lvl="3"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R="0" lvl="4"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R="0" lvl="5"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R="0" lvl="6"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R="0" lvl="7"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R="0" lvl="8" algn="l" rtl="0" eaLnBrk="1" hangingPunct="1">
              <a:lnSpc>
                <a:spcPct val="100000"/>
              </a:lnSpc>
              <a:spcBef>
                <a:spcPts val="0"/>
              </a:spcBef>
              <a:spcAft>
                <a:spcPts val="1000"/>
              </a:spcAft>
              <a:buClr>
                <a:srgbClr val="C7D3E6"/>
              </a:buClr>
              <a:buSzPct val="1000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342900" indent="-342900">
              <a:buClr>
                <a:srgbClr val="FC9702"/>
              </a:buClr>
            </a:pPr>
            <a:r>
              <a:rPr lang="en-GB" sz="2000" dirty="0"/>
              <a:t>Proposed model curve always above CNN‑1D, indicating better average performance.</a:t>
            </a:r>
          </a:p>
          <a:p>
            <a:pPr marL="342900" indent="-342900">
              <a:buClr>
                <a:srgbClr val="FC9702"/>
              </a:buClr>
            </a:pPr>
            <a:r>
              <a:rPr lang="en-GB" sz="2200" dirty="0"/>
              <a:t>Both models excel on clean‑signal subjects (1–3, 8–10, 33), but proposed never falls below 72.52 % (robustness)</a:t>
            </a:r>
          </a:p>
        </p:txBody>
      </p:sp>
    </p:spTree>
    <p:extLst>
      <p:ext uri="{BB962C8B-B14F-4D97-AF65-F5344CB8AC3E}">
        <p14:creationId xmlns:p14="http://schemas.microsoft.com/office/powerpoint/2010/main" val="20440069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fade">
                                      <p:cBhvr>
                                        <p:cTn id="7" dur="500"/>
                                        <p:tgtEl>
                                          <p:spTgt spid="2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xEl>
                                              <p:pRg st="1" end="1"/>
                                            </p:txEl>
                                          </p:spTgt>
                                        </p:tgtEl>
                                        <p:attrNameLst>
                                          <p:attrName>style.visibility</p:attrName>
                                        </p:attrNameLst>
                                      </p:cBhvr>
                                      <p:to>
                                        <p:strVal val="visible"/>
                                      </p:to>
                                    </p:set>
                                    <p:animEffect transition="in" filter="fade">
                                      <p:cBhvr>
                                        <p:cTn id="10" dur="500"/>
                                        <p:tgtEl>
                                          <p:spTgt spid="2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Shape 221"/>
          <p:cNvSpPr txBox="1">
            <a:spLocks noGrp="1"/>
          </p:cNvSpPr>
          <p:nvPr>
            <p:ph type="ctrTitle"/>
          </p:nvPr>
        </p:nvSpPr>
        <p:spPr>
          <a:xfrm>
            <a:off x="618033" y="3828197"/>
            <a:ext cx="5459200" cy="1546400"/>
          </a:xfrm>
          <a:prstGeom prst="rect">
            <a:avLst/>
          </a:prstGeom>
        </p:spPr>
        <p:txBody>
          <a:bodyPr lIns="121900" tIns="121900" rIns="121900" bIns="121900" anchor="b" anchorCtr="0">
            <a:noAutofit/>
          </a:bodyPr>
          <a:lstStyle/>
          <a:p>
            <a:pPr marL="342900" indent="-342900">
              <a:buClr>
                <a:srgbClr val="FF9800"/>
              </a:buClr>
            </a:pPr>
            <a:r>
              <a:rPr lang="fr-FR" dirty="0"/>
              <a:t>Conclusion</a:t>
            </a:r>
          </a:p>
        </p:txBody>
      </p:sp>
      <p:sp>
        <p:nvSpPr>
          <p:cNvPr id="223" name="Shape 223"/>
          <p:cNvSpPr txBox="1">
            <a:spLocks noGrp="1"/>
          </p:cNvSpPr>
          <p:nvPr>
            <p:ph type="sldNum" idx="12"/>
          </p:nvPr>
        </p:nvSpPr>
        <p:spPr>
          <a:xfrm>
            <a:off x="10157333" y="6182000"/>
            <a:ext cx="1983200" cy="420800"/>
          </a:xfrm>
          <a:prstGeom prst="rect">
            <a:avLst/>
          </a:prstGeom>
          <a:noFill/>
          <a:ln>
            <a:noFill/>
          </a:ln>
        </p:spPr>
        <p:txBody>
          <a:bodyPr lIns="91425" tIns="91425" rIns="91425" bIns="91425" anchor="ctr" anchorCtr="0">
            <a:noAutofit/>
          </a:bodyPr>
          <a:lstStyle/>
          <a:p>
            <a:fld id="{00000000-1234-1234-1234-123412341234}" type="slidenum">
              <a:rPr lang="en" sz="1800" smtClean="0">
                <a:solidFill>
                  <a:srgbClr val="3F5378"/>
                </a:solidFill>
                <a:latin typeface="Roboto Condensed" panose="020B0604020202020204"/>
              </a:rPr>
              <a:pPr/>
              <a:t>32</a:t>
            </a:fld>
            <a:endParaRPr lang="en" sz="1800" dirty="0">
              <a:solidFill>
                <a:srgbClr val="3F5378"/>
              </a:solidFill>
              <a:latin typeface="Roboto Condensed" panose="020B0604020202020204"/>
            </a:endParaRPr>
          </a:p>
        </p:txBody>
      </p:sp>
      <p:sp>
        <p:nvSpPr>
          <p:cNvPr id="224" name="Shape 224"/>
          <p:cNvSpPr txBox="1"/>
          <p:nvPr/>
        </p:nvSpPr>
        <p:spPr>
          <a:xfrm>
            <a:off x="618033" y="0"/>
            <a:ext cx="2908800" cy="4181600"/>
          </a:xfrm>
          <a:prstGeom prst="rect">
            <a:avLst/>
          </a:prstGeom>
          <a:noFill/>
          <a:ln>
            <a:noFill/>
          </a:ln>
        </p:spPr>
        <p:txBody>
          <a:bodyPr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5</a:t>
            </a:r>
          </a:p>
        </p:txBody>
      </p:sp>
      <p:sp>
        <p:nvSpPr>
          <p:cNvPr id="3" name="Sous-titre 2"/>
          <p:cNvSpPr>
            <a:spLocks noGrp="1"/>
          </p:cNvSpPr>
          <p:nvPr>
            <p:ph type="subTitle" idx="1"/>
          </p:nvPr>
        </p:nvSpPr>
        <p:spPr/>
        <p:txBody>
          <a:bodyPr/>
          <a:lstStyle/>
          <a:p>
            <a:endParaRPr lang="fr-FR" dirty="0"/>
          </a:p>
        </p:txBody>
      </p:sp>
    </p:spTree>
    <p:extLst>
      <p:ext uri="{BB962C8B-B14F-4D97-AF65-F5344CB8AC3E}">
        <p14:creationId xmlns:p14="http://schemas.microsoft.com/office/powerpoint/2010/main" val="17992918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a:t>Conclusion</a:t>
            </a:r>
          </a:p>
        </p:txBody>
      </p:sp>
      <p:sp>
        <p:nvSpPr>
          <p:cNvPr id="3" name="Text Placeholder 2"/>
          <p:cNvSpPr>
            <a:spLocks noGrp="1"/>
          </p:cNvSpPr>
          <p:nvPr>
            <p:ph type="body" idx="1"/>
          </p:nvPr>
        </p:nvSpPr>
        <p:spPr>
          <a:xfrm>
            <a:off x="294130" y="2045150"/>
            <a:ext cx="11976792" cy="4194000"/>
          </a:xfrm>
        </p:spPr>
        <p:txBody>
          <a:bodyPr/>
          <a:lstStyle/>
          <a:p>
            <a:pPr>
              <a:buClr>
                <a:srgbClr val="FC9702"/>
              </a:buClr>
              <a:buNone/>
            </a:pPr>
            <a:r>
              <a:rPr lang="en-GB" sz="2000" b="1" dirty="0">
                <a:latin typeface="Roboto Condensed" panose="020B0604020202020204"/>
              </a:rPr>
              <a:t>Our</a:t>
            </a:r>
            <a:r>
              <a:rPr lang="en-GB" sz="1800" b="1" dirty="0">
                <a:latin typeface="Roboto Condensed" panose="020B0604020202020204"/>
              </a:rPr>
              <a:t> </a:t>
            </a:r>
            <a:r>
              <a:rPr lang="en-GB" sz="2000" b="1" dirty="0">
                <a:latin typeface="Roboto Condensed" panose="020B0604020202020204"/>
                <a:cs typeface="Times New Roman" panose="02020603050405020304" pitchFamily="18" charset="0"/>
              </a:rPr>
              <a:t>Transformer-based Approach For Hand Gesture Recognition Through </a:t>
            </a:r>
            <a:r>
              <a:rPr lang="en-GB" sz="2000" b="1">
                <a:latin typeface="Roboto Condensed" panose="020B0604020202020204"/>
                <a:cs typeface="Times New Roman" panose="02020603050405020304" pitchFamily="18" charset="0"/>
              </a:rPr>
              <a:t>EMG </a:t>
            </a:r>
            <a:r>
              <a:rPr lang="en-GB" sz="2000" b="1" smtClean="0">
                <a:latin typeface="Roboto Condensed" panose="020B0604020202020204"/>
                <a:cs typeface="Times New Roman" panose="02020603050405020304" pitchFamily="18" charset="0"/>
              </a:rPr>
              <a:t>Signals </a:t>
            </a:r>
            <a:r>
              <a:rPr lang="en-GB" sz="2000" b="1" dirty="0">
                <a:latin typeface="Roboto Condensed" panose="020B0604020202020204"/>
                <a:cs typeface="Times New Roman" panose="02020603050405020304" pitchFamily="18" charset="0"/>
              </a:rPr>
              <a:t>achieved:</a:t>
            </a:r>
            <a:endParaRPr lang="en-GB" sz="2000" b="1" dirty="0">
              <a:latin typeface="Roboto Condensed" panose="020B0604020202020204"/>
            </a:endParaRPr>
          </a:p>
          <a:p>
            <a:pPr marL="457200" lvl="4" indent="-457200">
              <a:buClr>
                <a:srgbClr val="FC9702"/>
              </a:buClr>
              <a:buFont typeface="Wingdings" panose="05000000000000000000" pitchFamily="2" charset="2"/>
              <a:buChar char=""/>
            </a:pPr>
            <a:r>
              <a:rPr lang="en-GB" sz="1800" dirty="0"/>
              <a:t>82.98 % test accuracy and 0.8178 MCC with tuned model.</a:t>
            </a:r>
          </a:p>
          <a:p>
            <a:pPr marL="457200" indent="-457200">
              <a:buClr>
                <a:srgbClr val="FC9702"/>
              </a:buClr>
              <a:buFont typeface="Wingdings" panose="05000000000000000000" pitchFamily="2" charset="2"/>
              <a:buChar char=""/>
            </a:pPr>
            <a:r>
              <a:rPr lang="en-GB" sz="1800" dirty="0"/>
              <a:t>Real-time inference: 1.86 </a:t>
            </a:r>
            <a:r>
              <a:rPr lang="en-GB" sz="1800" dirty="0" err="1"/>
              <a:t>ms</a:t>
            </a:r>
            <a:r>
              <a:rPr lang="en-GB" sz="1800" dirty="0"/>
              <a:t> avg. test time per window</a:t>
            </a:r>
            <a:r>
              <a:rPr lang="en-GB" sz="1800" dirty="0" smtClean="0"/>
              <a:t>.</a:t>
            </a:r>
          </a:p>
          <a:p>
            <a:pPr marL="457200" indent="-457200">
              <a:buClr>
                <a:srgbClr val="FC9702"/>
              </a:buClr>
              <a:buFont typeface="Wingdings" panose="05000000000000000000" pitchFamily="2" charset="2"/>
              <a:buChar char=""/>
            </a:pPr>
            <a:r>
              <a:rPr lang="en-GB" sz="1800" dirty="0"/>
              <a:t>Confirms Transformer as a robust solution for EMG-based gesture classification</a:t>
            </a:r>
            <a:r>
              <a:rPr lang="en-GB" sz="1800" dirty="0" smtClean="0"/>
              <a:t>.</a:t>
            </a:r>
            <a:endParaRPr lang="en-GB" sz="1800" dirty="0"/>
          </a:p>
          <a:p>
            <a:pPr>
              <a:buClr>
                <a:srgbClr val="FC9702"/>
              </a:buClr>
              <a:buNone/>
            </a:pPr>
            <a:r>
              <a:rPr lang="en-GB" sz="2000" b="1" dirty="0" smtClean="0"/>
              <a:t>Comparison</a:t>
            </a:r>
            <a:r>
              <a:rPr lang="en-GB" sz="2000" b="1" dirty="0"/>
              <a:t>:</a:t>
            </a:r>
          </a:p>
          <a:p>
            <a:pPr marL="457200" indent="-457200">
              <a:buClr>
                <a:srgbClr val="FC9702"/>
              </a:buClr>
              <a:buFont typeface="Wingdings" panose="05000000000000000000" pitchFamily="2" charset="2"/>
              <a:buChar char=""/>
            </a:pPr>
            <a:r>
              <a:rPr lang="en-GB" sz="1800" dirty="0"/>
              <a:t>Outperformed CNN-1D, CNN-2D, and CNN-LSTM on accuracy and efficiency.</a:t>
            </a:r>
          </a:p>
          <a:p>
            <a:pPr marL="457200" indent="-457200">
              <a:buClr>
                <a:srgbClr val="FC9702"/>
              </a:buClr>
              <a:buFont typeface="Wingdings" panose="05000000000000000000" pitchFamily="2" charset="2"/>
              <a:buChar char=""/>
            </a:pPr>
            <a:r>
              <a:rPr lang="en-GB" sz="1800" dirty="0"/>
              <a:t>Efficient architecture: 128K parameters vs. 342K– 444K in baseline models.</a:t>
            </a:r>
          </a:p>
          <a:p>
            <a:pPr marL="457200" indent="-457200">
              <a:buClr>
                <a:srgbClr val="FC9702"/>
              </a:buClr>
              <a:buFont typeface="Wingdings" panose="05000000000000000000" pitchFamily="2" charset="2"/>
              <a:buChar char=""/>
            </a:pPr>
            <a:r>
              <a:rPr lang="en-GB" sz="1800" dirty="0"/>
              <a:t>Captures temporal &amp; global context better than traditional deep models.</a:t>
            </a:r>
          </a:p>
          <a:p>
            <a:pPr>
              <a:buClr>
                <a:srgbClr val="FC9702"/>
              </a:buClr>
              <a:buNone/>
            </a:pPr>
            <a:r>
              <a:rPr lang="en-GB" sz="2000" b="1" dirty="0"/>
              <a:t>Future Work:</a:t>
            </a:r>
          </a:p>
          <a:p>
            <a:pPr marL="457200" indent="-457200">
              <a:buClr>
                <a:srgbClr val="FC9702"/>
              </a:buClr>
              <a:buFont typeface="Wingdings" panose="05000000000000000000" pitchFamily="2" charset="2"/>
              <a:buChar char=""/>
            </a:pPr>
            <a:r>
              <a:rPr lang="en-GB" sz="1800" dirty="0"/>
              <a:t>Strong base for future improvements: generalization &amp; hybrid models</a:t>
            </a:r>
            <a:r>
              <a:rPr lang="en-GB" sz="1800" dirty="0" smtClean="0"/>
              <a:t>.</a:t>
            </a:r>
            <a:endParaRPr lang="en-GB" sz="1800" dirty="0"/>
          </a:p>
        </p:txBody>
      </p:sp>
      <p:sp>
        <p:nvSpPr>
          <p:cNvPr id="4" name="Slide Number Placeholder 3"/>
          <p:cNvSpPr>
            <a:spLocks noGrp="1"/>
          </p:cNvSpPr>
          <p:nvPr>
            <p:ph type="sldNum" idx="12"/>
          </p:nvPr>
        </p:nvSpPr>
        <p:spPr/>
        <p:txBody>
          <a:bodyPr/>
          <a:lstStyle/>
          <a:p>
            <a:fld id="{D57F1E4F-1CFF-5643-939E-02111984F565}" type="slidenum">
              <a:rPr lang="en-US" sz="1800" smtClean="0">
                <a:solidFill>
                  <a:srgbClr val="3F5378"/>
                </a:solidFill>
              </a:rPr>
              <a:t>33</a:t>
            </a:fld>
            <a:endParaRPr lang="en-US" dirty="0">
              <a:solidFill>
                <a:srgbClr val="3F5378"/>
              </a:solidFill>
            </a:endParaRPr>
          </a:p>
        </p:txBody>
      </p:sp>
      <p:sp>
        <p:nvSpPr>
          <p:cNvPr id="8" name="Rectangle 7"/>
          <p:cNvSpPr/>
          <p:nvPr/>
        </p:nvSpPr>
        <p:spPr>
          <a:xfrm>
            <a:off x="580550" y="898222"/>
            <a:ext cx="381751" cy="369332"/>
          </a:xfrm>
          <a:prstGeom prst="rect">
            <a:avLst/>
          </a:prstGeom>
          <a:noFill/>
          <a:ln w="9525">
            <a:noFill/>
          </a:ln>
        </p:spPr>
        <p:txBody>
          <a:bodyPr wrap="square">
            <a:spAutoFit/>
          </a:bodyPr>
          <a:lstStyle/>
          <a:p>
            <a:r>
              <a:rPr lang="en-GB" sz="1800" dirty="0">
                <a:solidFill>
                  <a:srgbClr val="FF9800"/>
                </a:solidFill>
              </a:rPr>
              <a:t>✔</a:t>
            </a:r>
          </a:p>
        </p:txBody>
      </p:sp>
      <p:grpSp>
        <p:nvGrpSpPr>
          <p:cNvPr id="15" name="Shape_background"/>
          <p:cNvGrpSpPr/>
          <p:nvPr/>
        </p:nvGrpSpPr>
        <p:grpSpPr>
          <a:xfrm>
            <a:off x="457349" y="845814"/>
            <a:ext cx="309022" cy="376837"/>
            <a:chOff x="596350" y="929175"/>
            <a:chExt cx="407950" cy="497475"/>
          </a:xfrm>
        </p:grpSpPr>
        <p:sp>
          <p:nvSpPr>
            <p:cNvPr id="16" name="Shape 572"/>
            <p:cNvSpPr/>
            <p:nvPr/>
          </p:nvSpPr>
          <p:spPr>
            <a:xfrm>
              <a:off x="596350" y="953550"/>
              <a:ext cx="387250" cy="473100"/>
            </a:xfrm>
            <a:custGeom>
              <a:avLst/>
              <a:gdLst/>
              <a:ahLst/>
              <a:cxnLst/>
              <a:rect l="0" t="0" r="0" b="0"/>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7" name="Shape 573"/>
            <p:cNvSpPr/>
            <p:nvPr/>
          </p:nvSpPr>
          <p:spPr>
            <a:xfrm>
              <a:off x="626775" y="929175"/>
              <a:ext cx="377525" cy="462775"/>
            </a:xfrm>
            <a:custGeom>
              <a:avLst/>
              <a:gdLst/>
              <a:ahLst/>
              <a:cxnLst/>
              <a:rect l="0" t="0" r="0" b="0"/>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8" name="Shape 574"/>
            <p:cNvSpPr/>
            <p:nvPr/>
          </p:nvSpPr>
          <p:spPr>
            <a:xfrm>
              <a:off x="688900" y="1256150"/>
              <a:ext cx="133975" cy="25"/>
            </a:xfrm>
            <a:custGeom>
              <a:avLst/>
              <a:gdLst/>
              <a:ahLst/>
              <a:cxnLst/>
              <a:rect l="0" t="0" r="0" b="0"/>
              <a:pathLst>
                <a:path w="5359" h="1" fill="none" extrusionOk="0">
                  <a:moveTo>
                    <a:pt x="5358"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9" name="Shape 575"/>
            <p:cNvSpPr/>
            <p:nvPr/>
          </p:nvSpPr>
          <p:spPr>
            <a:xfrm>
              <a:off x="688900" y="1201350"/>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0" name="Shape 576"/>
            <p:cNvSpPr/>
            <p:nvPr/>
          </p:nvSpPr>
          <p:spPr>
            <a:xfrm>
              <a:off x="688900" y="1145950"/>
              <a:ext cx="255750" cy="25"/>
            </a:xfrm>
            <a:custGeom>
              <a:avLst/>
              <a:gdLst/>
              <a:ahLst/>
              <a:cxnLst/>
              <a:rect l="0" t="0" r="0" b="0"/>
              <a:pathLst>
                <a:path w="10230" h="1" fill="none" extrusionOk="0">
                  <a:moveTo>
                    <a:pt x="10229" y="0"/>
                  </a:moveTo>
                  <a:lnTo>
                    <a:pt x="0" y="0"/>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1" name="Shape 577"/>
            <p:cNvSpPr/>
            <p:nvPr/>
          </p:nvSpPr>
          <p:spPr>
            <a:xfrm>
              <a:off x="688900" y="1090525"/>
              <a:ext cx="255750" cy="25"/>
            </a:xfrm>
            <a:custGeom>
              <a:avLst/>
              <a:gdLst/>
              <a:ahLst/>
              <a:cxnLst/>
              <a:rect l="0" t="0" r="0" b="0"/>
              <a:pathLst>
                <a:path w="10230" h="1" fill="none" extrusionOk="0">
                  <a:moveTo>
                    <a:pt x="10229" y="1"/>
                  </a:moveTo>
                  <a:lnTo>
                    <a:pt x="0" y="1"/>
                  </a:lnTo>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2" name="Shape 578"/>
            <p:cNvSpPr/>
            <p:nvPr/>
          </p:nvSpPr>
          <p:spPr>
            <a:xfrm>
              <a:off x="920250" y="929175"/>
              <a:ext cx="84050" cy="84050"/>
            </a:xfrm>
            <a:custGeom>
              <a:avLst/>
              <a:gdLst/>
              <a:ahLst/>
              <a:cxnLst/>
              <a:rect l="0" t="0" r="0" b="0"/>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Tree>
    <p:extLst>
      <p:ext uri="{BB962C8B-B14F-4D97-AF65-F5344CB8AC3E}">
        <p14:creationId xmlns:p14="http://schemas.microsoft.com/office/powerpoint/2010/main" val="21281327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Shape 502"/>
          <p:cNvSpPr txBox="1">
            <a:spLocks noGrp="1"/>
          </p:cNvSpPr>
          <p:nvPr>
            <p:ph type="sldNum" idx="12"/>
          </p:nvPr>
        </p:nvSpPr>
        <p:spPr>
          <a:xfrm>
            <a:off x="10157333" y="6182000"/>
            <a:ext cx="1983200" cy="420800"/>
          </a:xfrm>
          <a:prstGeom prst="rect">
            <a:avLst/>
          </a:prstGeom>
          <a:noFill/>
          <a:ln>
            <a:noFill/>
          </a:ln>
        </p:spPr>
        <p:txBody>
          <a:bodyPr lIns="91425" tIns="91425" rIns="91425" bIns="91425" anchor="ctr" anchorCtr="0">
            <a:noAutofit/>
          </a:bodyPr>
          <a:lstStyle/>
          <a:p>
            <a:fld id="{00000000-1234-1234-1234-123412341234}" type="slidenum">
              <a:rPr lang="en" sz="1800" smtClean="0">
                <a:solidFill>
                  <a:srgbClr val="3F5378"/>
                </a:solidFill>
                <a:latin typeface="Roboto Condensed" panose="020B0604020202020204"/>
              </a:rPr>
              <a:pPr/>
              <a:t>34</a:t>
            </a:fld>
            <a:endParaRPr lang="en" sz="1800">
              <a:solidFill>
                <a:srgbClr val="3F5378"/>
              </a:solidFill>
              <a:latin typeface="Roboto Condensed" panose="020B0604020202020204"/>
            </a:endParaRPr>
          </a:p>
        </p:txBody>
      </p:sp>
      <p:sp>
        <p:nvSpPr>
          <p:cNvPr id="503" name="Shape 503"/>
          <p:cNvSpPr txBox="1">
            <a:spLocks noGrp="1"/>
          </p:cNvSpPr>
          <p:nvPr>
            <p:ph type="ctrTitle" idx="4294967295"/>
          </p:nvPr>
        </p:nvSpPr>
        <p:spPr>
          <a:xfrm>
            <a:off x="1728336" y="2791456"/>
            <a:ext cx="8791600" cy="2708393"/>
          </a:xfrm>
          <a:prstGeom prst="rect">
            <a:avLst/>
          </a:prstGeom>
        </p:spPr>
        <p:txBody>
          <a:bodyPr lIns="121900" tIns="121900" rIns="121900" bIns="121900" anchor="ctr" anchorCtr="0">
            <a:spAutoFit/>
          </a:bodyPr>
          <a:lstStyle/>
          <a:p>
            <a:pPr algn="ctr"/>
            <a:r>
              <a:rPr lang="fr-FR" sz="8000" dirty="0">
                <a:solidFill>
                  <a:srgbClr val="FF9800"/>
                </a:solidFill>
              </a:rPr>
              <a:t>Thank you for your Attention!</a:t>
            </a:r>
            <a:endParaRPr lang="en" sz="8000" dirty="0">
              <a:solidFill>
                <a:srgbClr val="FF9800"/>
              </a:solidFill>
            </a:endParaRPr>
          </a:p>
        </p:txBody>
      </p:sp>
      <p:grpSp>
        <p:nvGrpSpPr>
          <p:cNvPr id="505" name="Shape 505"/>
          <p:cNvGrpSpPr/>
          <p:nvPr/>
        </p:nvGrpSpPr>
        <p:grpSpPr>
          <a:xfrm>
            <a:off x="5328279" y="1289088"/>
            <a:ext cx="1596885" cy="1502368"/>
            <a:chOff x="5972700" y="2330200"/>
            <a:chExt cx="411625" cy="387275"/>
          </a:xfrm>
        </p:grpSpPr>
        <p:sp>
          <p:nvSpPr>
            <p:cNvPr id="506" name="Shape 506"/>
            <p:cNvSpPr/>
            <p:nvPr/>
          </p:nvSpPr>
          <p:spPr>
            <a:xfrm>
              <a:off x="5972700" y="2476950"/>
              <a:ext cx="98050" cy="219825"/>
            </a:xfrm>
            <a:custGeom>
              <a:avLst/>
              <a:gdLst/>
              <a:ahLst/>
              <a:cxnLst/>
              <a:rect l="0" t="0" r="0" b="0"/>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19050" cap="rnd" cmpd="sng">
              <a:solidFill>
                <a:srgbClr val="3F5378"/>
              </a:solidFill>
              <a:prstDash val="solid"/>
              <a:round/>
              <a:headEnd type="none" w="med" len="med"/>
              <a:tailEnd type="none" w="med" len="med"/>
            </a:ln>
          </p:spPr>
          <p:txBody>
            <a:bodyPr lIns="121900" tIns="121900" rIns="121900" bIns="121900" anchor="ctr" anchorCtr="0">
              <a:noAutofit/>
            </a:bodyPr>
            <a:lstStyle/>
            <a:p>
              <a:endParaRPr sz="1867"/>
            </a:p>
          </p:txBody>
        </p:sp>
        <p:sp>
          <p:nvSpPr>
            <p:cNvPr id="507" name="Shape 507"/>
            <p:cNvSpPr/>
            <p:nvPr/>
          </p:nvSpPr>
          <p:spPr>
            <a:xfrm>
              <a:off x="6078025" y="2330200"/>
              <a:ext cx="306300" cy="387275"/>
            </a:xfrm>
            <a:custGeom>
              <a:avLst/>
              <a:gdLst/>
              <a:ahLst/>
              <a:cxnLst/>
              <a:rect l="0" t="0" r="0" b="0"/>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19050" cap="rnd" cmpd="sng">
              <a:solidFill>
                <a:srgbClr val="3F5378"/>
              </a:solidFill>
              <a:prstDash val="solid"/>
              <a:round/>
              <a:headEnd type="none" w="med" len="med"/>
              <a:tailEnd type="none" w="med" len="med"/>
            </a:ln>
          </p:spPr>
          <p:txBody>
            <a:bodyPr lIns="121900" tIns="121900" rIns="121900" bIns="121900" anchor="ctr" anchorCtr="0">
              <a:noAutofit/>
            </a:bodyPr>
            <a:lstStyle/>
            <a:p>
              <a:endParaRPr sz="1867"/>
            </a:p>
          </p:txBody>
        </p:sp>
      </p:grpSp>
    </p:spTree>
    <p:extLst>
      <p:ext uri="{BB962C8B-B14F-4D97-AF65-F5344CB8AC3E}">
        <p14:creationId xmlns:p14="http://schemas.microsoft.com/office/powerpoint/2010/main" val="4019422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theme/theme1.xml><?xml version="1.0" encoding="utf-8"?>
<a:theme xmlns:a="http://schemas.openxmlformats.org/drawingml/2006/main" name="Salerio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Salerio</Template>
  <TotalTime>7816</TotalTime>
  <Words>4499</Words>
  <Application>Microsoft Office PowerPoint</Application>
  <PresentationFormat>Widescreen</PresentationFormat>
  <Paragraphs>556</Paragraphs>
  <Slides>34</Slides>
  <Notes>29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34</vt:i4>
      </vt:variant>
    </vt:vector>
  </HeadingPairs>
  <TitlesOfParts>
    <vt:vector size="48" baseType="lpstr">
      <vt:lpstr>Arial</vt:lpstr>
      <vt:lpstr>Arial (Body)</vt:lpstr>
      <vt:lpstr>Arvo</vt:lpstr>
      <vt:lpstr>Calibri</vt:lpstr>
      <vt:lpstr>Open Sans</vt:lpstr>
      <vt:lpstr>Palace Script MT</vt:lpstr>
      <vt:lpstr>Playbill</vt:lpstr>
      <vt:lpstr>Roboto Condensed</vt:lpstr>
      <vt:lpstr>Roboto Condensed Light</vt:lpstr>
      <vt:lpstr>Segoe UI Emoji</vt:lpstr>
      <vt:lpstr>Times New Roman</vt:lpstr>
      <vt:lpstr>Times New Roman Bold</vt:lpstr>
      <vt:lpstr>Wingdings</vt:lpstr>
      <vt:lpstr>Salerio template</vt:lpstr>
      <vt:lpstr>Master Thesis Defense in Computer Engineering  Title: Transformer-based Approach For Hand Gesture Recognition Through EMG Signals</vt:lpstr>
      <vt:lpstr>Plan</vt:lpstr>
      <vt:lpstr>PowerPoint Presentation</vt:lpstr>
      <vt:lpstr>Introduction: Hand-Gesture Recognition </vt:lpstr>
      <vt:lpstr>Background: EMG Signals</vt:lpstr>
      <vt:lpstr>Background: EMG Signal Generation   </vt:lpstr>
      <vt:lpstr>Problem Statement and Approach Motivation    </vt:lpstr>
      <vt:lpstr>Problem Statement and Approach Motivation </vt:lpstr>
      <vt:lpstr>Problem Statement and Approach Motivation </vt:lpstr>
      <vt:lpstr>Problem Statement and Approach Motivation </vt:lpstr>
      <vt:lpstr>PowerPoint Presentation</vt:lpstr>
      <vt:lpstr>Methodology</vt:lpstr>
      <vt:lpstr>Methodology: Overview</vt:lpstr>
      <vt:lpstr>Methodology: Dataset Used</vt:lpstr>
      <vt:lpstr>PowerPoint Presentation</vt:lpstr>
      <vt:lpstr>Methodology: Data Pre-processing Steps</vt:lpstr>
      <vt:lpstr>Methodology: Proposed Model</vt:lpstr>
      <vt:lpstr>PowerPoint Presentation</vt:lpstr>
      <vt:lpstr>Evaluation and Results</vt:lpstr>
      <vt:lpstr>Evaluation and Results</vt:lpstr>
      <vt:lpstr>PowerPoint Presentation</vt:lpstr>
      <vt:lpstr>Evaluation and Results</vt:lpstr>
      <vt:lpstr>Evaluation and Results</vt:lpstr>
      <vt:lpstr>PowerPoint Presentation</vt:lpstr>
      <vt:lpstr>PowerPoint Presentation</vt:lpstr>
      <vt:lpstr>Evaluation and Results</vt:lpstr>
      <vt:lpstr>Evaluation and Results</vt:lpstr>
      <vt:lpstr>Evaluation and Results</vt:lpstr>
      <vt:lpstr>Evaluation and Results</vt:lpstr>
      <vt:lpstr>Evaluation and Results</vt:lpstr>
      <vt:lpstr>Evaluation and Results</vt:lpstr>
      <vt:lpstr>Conclusion</vt:lpstr>
      <vt:lpstr>Conclusion</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Hp</dc:creator>
  <cp:lastModifiedBy>ycn</cp:lastModifiedBy>
  <cp:revision>141</cp:revision>
  <dcterms:created xsi:type="dcterms:W3CDTF">2017-05-15T15:38:52Z</dcterms:created>
  <dcterms:modified xsi:type="dcterms:W3CDTF">2025-06-27T14:05:20Z</dcterms:modified>
</cp:coreProperties>
</file>